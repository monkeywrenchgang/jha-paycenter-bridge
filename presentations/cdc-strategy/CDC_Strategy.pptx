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makes the case for log-based CDC as our data acquisition strategy. We cover why CDC, where native SQL Server CDC creates operational friction, how Debezium + Kafka gives us a near-term path, and which enterprise CDC vendor (IBM IIDR or Striim) we move to in Phase 2. The core argument that runs through every slide: log-based CDC reads data the database is already writing to the transaction log. We add zero write load to source systems. That is the answer to virtually every operational pushback — and we address it directly and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agenda overview — four sections. The deck is designed so leadership can get the key message from the summary slide, and the technical team can dig into the operational detail in sections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'why'. Current state is batch ETL — scheduled, polling, and often running full table scans. Problems are latency (data is stale by hours), source load (we're adding read work to production), and gaps in change capture (especially deletes). Log-based CDC addresses all of these. Key point to land: the transaction log is already being written by SQL Server as part of its normal durability mechanism. CDC just reads it. We are not adding work to the source system — we're piggybacking on work that was already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return to when ops or DBA teams push back. Log-based CDC adds approximately zero additional write load. SQL Server already writes every transaction to the log as part of its durability guarantee — CDC reads that log without adding to it. The CDC reader is read-only. No application code changes, no source schema changes. The one operational ask: enable CDC on specific tables, which requires ALTER DATABASE permissions and is a one-time configuration. After that, CDC runs autonomously. For the DBA team: approximately 1-2 hours of setup per database, then it runs unattended.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60 seconds on this diagram — it's the conceptual foundation. The source application and SQL Server behave completely normally. The transaction log is written as part of SQL Server's normal durability guarantee; nothing changes there. The CDC reader's relationship to the log (the 'reads only' arrow) is the critical one: read-only and non-invasive. The log exists whether we use CDC or not. This is the answer to 'what does this do to our production system?' — the answer is: nothing. We're reading something that was already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addresses the 'how do we start?' question directly. The initial snapshot is a one-time, read-only scan of source tables — it does NOT add write load. SQL Server continues serving normal application traffic. For a 100GB table, snapshot might take 20-40 minutes depending on network and disk throughput; a 1TB table could take several hours. Enterprise tools (IIDR, Striim, Qlik) handle this more efficiently and can parallelize. After the snapshot, the ongoing CDC is purely log-reading — zero query load on source tables. The DBA one-time effort is: two SQL commands per database/table, then verify log retention. That is the total operational ask from DBA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framing: native CDC is a real, capable feature. The issues we cover on the next slide are operational and architectural — not fundamental design flaws. It does log-based capture, provides before/after images, uses LSN ordering. These are the right fundamentals. We're not dismissing native CDC as broken; we're being honest about where it creates friction at scale and in heterogeneous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concern. The Agent dependency is the most common source of silent failures — when Agent hiccups, CDC falls behind and nothing alerts you. Schema changes are the most painful day-to-day issue: any schema evolution on a tracked table requires manual capture instance rotation, and teams that don't know this get caught out badly the first time a developer adds a column. The AG failover issue is particularly dangerous in HA environments — CDC doesn't know about AGs natively, so failover requires manual intervention. These are the common failure modes that teams hit in practice, not theoretical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can we make native CDC workable without going straight to a third-party tool? Yes, with investment. Running CDC off a read replica is the highest-value mitigation if you have an Always On AG — keeps CDC load completely off the primary. Azure SQL MI is a significant simplifier if you're already on that platform. Change Tracking is worth knowing as a lighter option for non-critical, current-state-only scenarios. But the honest message: these are mitigations. Schema change handling and AG failover complexity remain fundamentally unsolved. That's why Phase 2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architecture clarification: Debezium's SQL Server connector does NOT read the transaction log directly. It reads from the CDC tables. This means you must enable SQL Server native CDC on every tracked table, and you inherit all of the native CDC operational concerns — Agent dependency, schema change handling, CDC table management. Debezium adds the Kafka abstraction and structured change events on top, which is valuable, but it doesn't eliminate the underlying dependencies. Be honest with the team about this distinction — it matters for planning the operational runbooks.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reasons to reject Debezium — they are things to plan for explicitly. The three HIGH items need plans before go-live: (1) Accept that SQL Agent is a dependency and build monitoring around it; (2) Document the schema change procedure and make it part of the data engineering runbook; (3) Configure CDC cleanup job retention to 7+ days minimum so Debezium can recover from outages without a re-snapshot. The data type limitations should be inventoried against actual source tables before go-live. If tables use geography or hierarchyid, plan type converters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 1 story for leadership: we get a real-time change stream, structured events, and a replayable Kafka foundation with no commercial CDC license. For the ops team: the ask on the SQL Server side is approximately 1-2 hours of DBA time per database to enable CDC, plus configuration of the cleanup retention. The Kafka Connect infrastructure is the real investment in Phase 1, and it carries forward into Phase 2 — so it's not throwaway work. Debezium connectors get replaced in Phase 2; the Kafka topics, consumer pipelines, and monitoring stack remain intact.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Phase 2. The trigger isn't a fixed date — it's a condition: schema changes becoming a recurring pain point, the source estate expanding beyond SQL Server, sub-second latency requirements emerging, or enterprise support SLA requirements exceeding what an open-source stack can provide. Phase 1 investment in Kafka carries forward; only the Debezium connectors are replaced.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the explicit Phase 1 vs Phase 2 comparison. The right question to ask the room: which of the Phase 1 limitations will create the most friction in the first 12-18 months? The answer typically comes down to schema changes (if the source schema is actively evolving) and AG failover (if you're in a high-availability environment with regular maintenance windows). Those two pain points define the urgency of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 IIDR is the mature choice for IBM-centric environments. Key differentiators vs. Debezium: true direct log reading (no SQL Agent, no CDC tables), automated schema evolution, AG-awareness. The main watch-outs: the management tooling shows its age compared to newer SaaS-oriented tools, and pricing negotiation in non-IBM environments can be complex. If the organization already has IBM enterprise agreements, IIDR often becomes cost-neutral or even cost-reducing when folded into existing licensing. Particularly strong when mainframe sources are in scope — no other CDC vendor covers IMS and VSAM as naturally.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Striim's key differentiator is the streaming SQL engine. Where IIDR is primarily a capture-and-land tool, Striim is designed to be a continuous processing layer — you write SQL queries that run against the change stream to filter, join, and enrich data in real time before delivery. This is especially powerful for cloud data warehouse targets where Striim has certified, optimised connectors for Snowflake, BigQuery, and Databricks. If your CDC use case is primarily 'replicate to cloud data warehouse with transformation', Striim is better positioned than IIDR. If your use case includes mainframe sources or deep IBM ecosystem integration, IIDR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Qlik Replicate (formerly Attunity) is one of the most widely deployed CDC platforms in enterprise environments. Its key strength is breadth — it supports more source/target combinations than almost any competitor and has a clean, modern management console that resonates well with operations teams. The schema evolution story is good but slightly less hands-free than IIDR or Striim — some DDL changes still require attention rather than being fully automatic. It doesn't have Striim's streaming SQL engine, so complex in-flight transformation requires a separate layer. A strong choice when the primary requirement is reliable, broad-coverage data ingestion to a cloud data warehouse or data lake without needing the IBM ecosystem or streaming transformation.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Five-column comparison. The pattern is clear: Native CDC + Debezium wins on cost (Phase 1 choice) but carries operational risk at scale. The three enterprise options all solve the core operational problems — direct log reading, AG failover, enterprise support. Differentiators: IIDR wins for IBM/mainframe environments; Striim wins for cloud DW with in-flight streaming transformation; Qlik wins for broadest source/target coverage and intuitive management without needing the IBM ecosystem or streaming SQL complexity. None of the three Phase 2 options is a wrong choice — the decision is driven by environment and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addresses the 'what does your team have to do?' question. The key message: enterprise CDC tools (IIDR, Striim, Qlik) require LESS SQL Server DBA effort than native CDC + Debezium. Native CDC requires ALTER DATABASE per database, sp_cdc_enable_table per table, SQL Agent management, and a manual schema change runbook. Enterprise tools need only read permissions to the transaction log — no CDC tables, no Agent jobs, no ongoing schema change intervention. The estimated setup effort line is particularly impactful: ~2 hours per database for native CDC vs ~30 minutes for enterprise tools. For an estate of 10 databases, that difference is significant. Use this slide proactively when the DBA or ops team objects to the complexity — point out that the Phase 2 tools actually reduce their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administrator: the two SQL commands (VIEW SERVER STATE + VIEW DATABASE STATE) are the only SQL Server-side changes needed. Everything else is configuration in the IIDR Management Console — a GUI-driven wizard. The VM sizing of 4 vCPU/16GB handles most workloads; scale up for very high TPS environments. GCP deployment requires network connectivity back to on-prem SQL Server — VPN or Dedicated Interconnect. IIDR reads the SQL Server transaction log using SQL Server's Change Tracking APIs directly, bypassing CDC tables entirely. For AG environments, IIDR can be pointed at a replica node to reduce primary load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Striim's key differentiator for the SQL Server → GCP use case: native BigQuery Writer connector (no Kafka intermediary required), Streaming SQL for in-flight transformation, and Striim Cloud SaaS option that removes all infrastructure management. The SaaS option is particularly valuable if GCP is the target — Striim Cloud is hosted on GCP, so data doesn't leave the cloud ecosystem. For the SQL Server connection from Striim Cloud, you still need outbound connectivity from Striim's managed environment to your on-prem SQL Server (VPN or public endpoint). The Flow Designer makes pipeline creation accessible to data engineers without deep CDC expertise.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framing: our source is MS SQL Server on-premises; our primary target is GCP (BigQuery, Kafka on GCP). Given that, Striim is the natural Phase 2 recommendation — it has a native BigQuery Writer connector (no Kafka intermediary), Striim Cloud runs on GCP natively, and the Flow Designer makes SQL Server → BigQuery pipeline creation straightforward. IIDR is the right choice if IBM mainframe sources come into scope or if IBM licensing is already in place. Qlik is valid if the requirement is broad source/target coverage without heavy transformation and a simple GUI is valued. Phase 1 remains unchanged: Native CDC + Debezium + Kafka is the no-cost, fast-start option that builds the Kafka foundation. Emphasize: Striim highlighted because it removes the Kafka intermediary for direct-to-BigQuery delivery, which simplifies the Phase 2 architecture significantly.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Phase 1 recipe — what you actually execute. Steps 1 and 2 are SQL Server side, 3–8 are infrastructure and tooling. The amber-highlighted steps (3 and 8) are the ongoing operational risks: SQL Server Agent failure silently stops data capture, and schema changes require a documented manual process. For the GCP side, Confluent Cloud on GCP is the simplest Kafka deployment — it eliminates managing Kafka and Kafka Connect infrastructure. The BigQuery connector handles the final mile. End-to-end, this recipe takes 1–3 days for a competent team to get working for a small table set, with additional time for testing and runbook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Phase 2 recipe — much simpler operationally than the native CDC path. The only SQL Server change is two GRANT statements (step 1). Everything else is configuration in the CDC tool's UI. For Striim: the Striim Cloud SaaS option removes all infrastructure management — you sign up, connect to SQL Server over VPN, configure source and target through the web UI, and start the pipeline. For IIDR: the IIDR Management Console guides you through the setup wizard. The network connectivity step (step 3) is the one piece that requires coordination with network/infrastructure teams — VPN or Cloud Interconnect provisioning. This is typically the longest lead-time item. Plan for 1–2 weeks for VPN setup if not already in place. Steps 1–8 total hands-on time (once network is ready): approximately 4–8 hours for a first pipeline, faster for subsequent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communicates the two-phase commitment clearly. Phase 1 delivers real value immediately with no commercial CDC license. Phase 2 is the destination that removes the operational rough edges. The trigger for Phase 2 is a condition, not a date — schema changes becoming painful, the estate expanding beyond SQL Server, or sub-second latency becoming a requirement. Building Phase 1 on Kafka is intentional: that infrastructure carries forward. The Debezium connectors get replaced; the topics, consumer pipelines, and monitoring stack remain. Phase 1 is a genuine stepping stone, not throwaway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points to leave the room with. The first and most important is the operational impact answer — worth repeating one more time: CDC adds no write load to source systems. The transaction log is already being written. We're reading it. For the technical team: the Phase 1 ask is modest and well-understood. For leadership: the two-phase approach delivers value immediately while building toward an enterprise-grade platform. The Kafka infrastructure investment in Phase 1 carries forward to Phase 2, making it a genuine stepping stone rather than throwaway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85F"/>
        </a:solidFill>
      </p:bgPr>
    </p:bg>
    <p:spTree>
      <p:nvGrpSpPr>
        <p:cNvPr id="1" name=""/>
        <p:cNvGrpSpPr/>
        <p:nvPr/>
      </p:nvGrpSpPr>
      <p:grpSpPr>
        <a:xfrm>
          <a:off x="0" y="0"/>
          <a:ext cx="0" cy="0"/>
          <a:chOff x="0" y="0"/>
          <a:chExt cx="0" cy="0"/>
        </a:xfrm>
      </p:grpSpPr>
      <p:sp>
        <p:nvSpPr>
          <p:cNvPr id="2" name="Shape 0"/>
          <p:cNvSpPr/>
          <p:nvPr/>
        </p:nvSpPr>
        <p:spPr>
          <a:xfrm>
            <a:off x="6217920" y="2377440"/>
            <a:ext cx="2926080" cy="2766060"/>
          </a:xfrm>
          <a:prstGeom prst="rect">
            <a:avLst/>
          </a:prstGeom>
          <a:solidFill>
            <a:srgbClr val="085CE5">
              <a:alpha val="12000"/>
            </a:srgbClr>
          </a:solidFill>
          <a:ln w="12700">
            <a:solidFill>
              <a:srgbClr val="085CE5"/>
            </a:solidFill>
            <a:prstDash val="solid"/>
          </a:ln>
        </p:spPr>
      </p:sp>
      <p:sp>
        <p:nvSpPr>
          <p:cNvPr id="3" name="Shape 1"/>
          <p:cNvSpPr/>
          <p:nvPr/>
        </p:nvSpPr>
        <p:spPr>
          <a:xfrm>
            <a:off x="457200" y="777240"/>
            <a:ext cx="4572000" cy="45720"/>
          </a:xfrm>
          <a:prstGeom prst="rect">
            <a:avLst/>
          </a:prstGeom>
          <a:solidFill>
            <a:srgbClr val="085CE5"/>
          </a:solidFill>
          <a:ln w="12700">
            <a:solidFill>
              <a:srgbClr val="085CE5"/>
            </a:solidFill>
            <a:prstDash val="solid"/>
          </a:ln>
        </p:spPr>
      </p:sp>
      <p:sp>
        <p:nvSpPr>
          <p:cNvPr id="4" name="Text 2"/>
          <p:cNvSpPr/>
          <p:nvPr/>
        </p:nvSpPr>
        <p:spPr>
          <a:xfrm>
            <a:off x="457200" y="914400"/>
            <a:ext cx="8229600" cy="1371600"/>
          </a:xfrm>
          <a:prstGeom prst="rect">
            <a:avLst/>
          </a:prstGeom>
          <a:noFill/>
          <a:ln/>
        </p:spPr>
        <p:txBody>
          <a:bodyPr wrap="square" lIns="0" tIns="0" rIns="0" bIns="0" rtlCol="0" anchor="ctr"/>
          <a:lstStyle/>
          <a:p>
            <a:pPr indent="0" marL="0">
              <a:buNone/>
            </a:pPr>
            <a:r>
              <a:rPr lang="en-US" sz="4400" b="1" dirty="0">
                <a:solidFill>
                  <a:srgbClr val="FFFFFF"/>
                </a:solidFill>
                <a:latin typeface="Aptos Display" pitchFamily="34" charset="0"/>
                <a:ea typeface="Aptos Display" pitchFamily="34" charset="-122"/>
                <a:cs typeface="Aptos Display" pitchFamily="34" charset="-120"/>
              </a:rPr>
              <a:t>The Case for Log-Based CDC</a:t>
            </a:r>
            <a:endParaRPr lang="en-US" sz="4400" dirty="0"/>
          </a:p>
        </p:txBody>
      </p:sp>
      <p:sp>
        <p:nvSpPr>
          <p:cNvPr id="5" name="Text 3"/>
          <p:cNvSpPr/>
          <p:nvPr/>
        </p:nvSpPr>
        <p:spPr>
          <a:xfrm>
            <a:off x="457200" y="2423160"/>
            <a:ext cx="8229600" cy="548640"/>
          </a:xfrm>
          <a:prstGeom prst="rect">
            <a:avLst/>
          </a:prstGeom>
          <a:noFill/>
          <a:ln/>
        </p:spPr>
        <p:txBody>
          <a:bodyPr wrap="square" lIns="0" tIns="0" rIns="0" bIns="0" rtlCol="0" anchor="ctr"/>
          <a:lstStyle/>
          <a:p>
            <a:pPr indent="0" marL="0">
              <a:buNone/>
            </a:pPr>
            <a:r>
              <a:rPr lang="en-US" sz="2000" dirty="0">
                <a:solidFill>
                  <a:srgbClr val="76DCFD"/>
                </a:solidFill>
                <a:latin typeface="Aptos" pitchFamily="34" charset="0"/>
                <a:ea typeface="Aptos" pitchFamily="34" charset="-122"/>
                <a:cs typeface="Aptos" pitchFamily="34" charset="-120"/>
              </a:rPr>
              <a:t>A Phased Strategy for Real-Time Data Acquisition</a:t>
            </a:r>
            <a:endParaRPr lang="en-US" sz="2000" dirty="0"/>
          </a:p>
        </p:txBody>
      </p:sp>
      <p:sp>
        <p:nvSpPr>
          <p:cNvPr id="6" name="Text 4"/>
          <p:cNvSpPr/>
          <p:nvPr/>
        </p:nvSpPr>
        <p:spPr>
          <a:xfrm>
            <a:off x="0" y="464972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7" name="Shape 5"/>
          <p:cNvSpPr/>
          <p:nvPr/>
        </p:nvSpPr>
        <p:spPr>
          <a:xfrm>
            <a:off x="0" y="4869180"/>
            <a:ext cx="9144000" cy="274320"/>
          </a:xfrm>
          <a:prstGeom prst="rect">
            <a:avLst/>
          </a:prstGeom>
          <a:solidFill>
            <a:srgbClr val="03113F"/>
          </a:solidFill>
          <a:ln w="12700">
            <a:solidFill>
              <a:srgbClr val="03113F"/>
            </a:solidFill>
            <a:prstDash val="solid"/>
          </a:ln>
        </p:spPr>
      </p:sp>
      <p:sp>
        <p:nvSpPr>
          <p:cNvPr id="8" name="Text 6"/>
          <p:cNvSpPr/>
          <p:nvPr/>
        </p:nvSpPr>
        <p:spPr>
          <a:xfrm>
            <a:off x="320040" y="4896612"/>
            <a:ext cx="8503920" cy="228600"/>
          </a:xfrm>
          <a:prstGeom prst="rect">
            <a:avLst/>
          </a:prstGeom>
          <a:noFill/>
          <a:ln/>
        </p:spPr>
        <p:txBody>
          <a:bodyPr wrap="square" lIns="0" tIns="0" rIns="0" bIns="0" rtlCol="0" anchor="ctr"/>
          <a:lstStyle/>
          <a:p>
            <a:pPr indent="0" marL="0">
              <a:buNone/>
            </a:pPr>
            <a:r>
              <a:rPr lang="en-US" sz="1000" dirty="0">
                <a:solidFill>
                  <a:srgbClr val="B6BBC0"/>
                </a:solidFill>
                <a:latin typeface="Aptos" pitchFamily="34" charset="0"/>
                <a:ea typeface="Aptos" pitchFamily="34" charset="-122"/>
                <a:cs typeface="Aptos" pitchFamily="34" charset="-120"/>
              </a:rPr>
              <a:t>Addressing Operational Concerns  ·  Near-Term with Debezium  ·  Long-Term with Enterprise CDC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Agenda</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Shape 3"/>
          <p:cNvSpPr/>
          <p:nvPr/>
        </p:nvSpPr>
        <p:spPr>
          <a:xfrm>
            <a:off x="256032" y="1005840"/>
            <a:ext cx="1965960" cy="3337560"/>
          </a:xfrm>
          <a:prstGeom prst="rect">
            <a:avLst/>
          </a:prstGeom>
          <a:solidFill>
            <a:srgbClr val="E7ECF0"/>
          </a:solidFill>
          <a:ln w="12700">
            <a:solidFill>
              <a:srgbClr val="B6BBC0"/>
            </a:solidFill>
            <a:prstDash val="solid"/>
          </a:ln>
          <a:effectLst>
            <a:outerShdw sx="100000" sy="100000" kx="0" ky="0" algn="bl" rotWithShape="0" blurRad="50800" dist="25400" dir="8100000">
              <a:srgbClr val="000000">
                <a:alpha val="13000"/>
              </a:srgbClr>
            </a:outerShdw>
          </a:effectLst>
        </p:spPr>
      </p:sp>
      <p:sp>
        <p:nvSpPr>
          <p:cNvPr id="6" name="Shape 4"/>
          <p:cNvSpPr/>
          <p:nvPr/>
        </p:nvSpPr>
        <p:spPr>
          <a:xfrm>
            <a:off x="256032" y="1005840"/>
            <a:ext cx="1965960" cy="91440"/>
          </a:xfrm>
          <a:prstGeom prst="rect">
            <a:avLst/>
          </a:prstGeom>
          <a:solidFill>
            <a:srgbClr val="085CE5"/>
          </a:solidFill>
          <a:ln w="12700">
            <a:solidFill>
              <a:srgbClr val="085CE5"/>
            </a:solidFill>
            <a:prstDash val="solid"/>
          </a:ln>
        </p:spPr>
      </p:sp>
      <p:sp>
        <p:nvSpPr>
          <p:cNvPr id="7" name="Text 5"/>
          <p:cNvSpPr/>
          <p:nvPr/>
        </p:nvSpPr>
        <p:spPr>
          <a:xfrm>
            <a:off x="384048" y="1188720"/>
            <a:ext cx="1709928" cy="749808"/>
          </a:xfrm>
          <a:prstGeom prst="rect">
            <a:avLst/>
          </a:prstGeom>
          <a:noFill/>
          <a:ln/>
        </p:spPr>
        <p:txBody>
          <a:bodyPr wrap="square" lIns="0" tIns="0" rIns="0" bIns="0" rtlCol="0" anchor="ctr"/>
          <a:lstStyle/>
          <a:p>
            <a:pPr indent="0" marL="0">
              <a:buNone/>
            </a:pPr>
            <a:r>
              <a:rPr lang="en-US" sz="4000" b="1" dirty="0">
                <a:solidFill>
                  <a:srgbClr val="085CE5"/>
                </a:solidFill>
                <a:latin typeface="Aptos Display" pitchFamily="34" charset="0"/>
                <a:ea typeface="Aptos Display" pitchFamily="34" charset="-122"/>
                <a:cs typeface="Aptos Display" pitchFamily="34" charset="-120"/>
              </a:rPr>
              <a:t>01</a:t>
            </a:r>
            <a:endParaRPr lang="en-US" sz="4000" dirty="0"/>
          </a:p>
        </p:txBody>
      </p:sp>
      <p:sp>
        <p:nvSpPr>
          <p:cNvPr id="8" name="Text 6"/>
          <p:cNvSpPr/>
          <p:nvPr/>
        </p:nvSpPr>
        <p:spPr>
          <a:xfrm>
            <a:off x="365760" y="1920240"/>
            <a:ext cx="1746504" cy="502920"/>
          </a:xfrm>
          <a:prstGeom prst="rect">
            <a:avLst/>
          </a:prstGeom>
          <a:noFill/>
          <a:ln/>
        </p:spPr>
        <p:txBody>
          <a:bodyPr wrap="square" lIns="0" tIns="0" rIns="0" bIns="0" rtlCol="0" anchor="ctr"/>
          <a:lstStyle/>
          <a:p>
            <a:pPr indent="0" marL="0">
              <a:buNone/>
            </a:pPr>
            <a:r>
              <a:rPr lang="en-US" sz="1300" b="1" dirty="0">
                <a:solidFill>
                  <a:srgbClr val="06185F"/>
                </a:solidFill>
                <a:latin typeface="Aptos Display" pitchFamily="34" charset="0"/>
                <a:ea typeface="Aptos Display" pitchFamily="34" charset="-122"/>
                <a:cs typeface="Aptos Display" pitchFamily="34" charset="-120"/>
              </a:rPr>
              <a:t>Why CDC?</a:t>
            </a:r>
            <a:endParaRPr lang="en-US" sz="1300" dirty="0"/>
          </a:p>
        </p:txBody>
      </p:sp>
      <p:sp>
        <p:nvSpPr>
          <p:cNvPr id="9" name="Text 7"/>
          <p:cNvSpPr/>
          <p:nvPr/>
        </p:nvSpPr>
        <p:spPr>
          <a:xfrm>
            <a:off x="365760" y="2487168"/>
            <a:ext cx="1746504" cy="1554480"/>
          </a:xfrm>
          <a:prstGeom prst="rect">
            <a:avLst/>
          </a:prstGeom>
          <a:noFill/>
          <a:ln/>
        </p:spPr>
        <p:txBody>
          <a:bodyPr wrap="square" lIns="0" tIns="0" rIns="0" bIns="0" rtlCol="0" anchor="ctr"/>
          <a:lstStyle/>
          <a:p>
            <a:pPr indent="0" marL="0">
              <a:buNone/>
            </a:pPr>
            <a:r>
              <a:rPr lang="en-US" sz="1100" dirty="0">
                <a:solidFill>
                  <a:srgbClr val="575A5D"/>
                </a:solidFill>
                <a:latin typeface="Aptos" pitchFamily="34" charset="0"/>
                <a:ea typeface="Aptos" pitchFamily="34" charset="-122"/>
                <a:cs typeface="Aptos" pitchFamily="34" charset="-120"/>
              </a:rPr>
              <a:t>The business and operational case for change data capture</a:t>
            </a:r>
            <a:endParaRPr lang="en-US" sz="1100" dirty="0"/>
          </a:p>
        </p:txBody>
      </p:sp>
      <p:sp>
        <p:nvSpPr>
          <p:cNvPr id="10" name="Shape 8"/>
          <p:cNvSpPr/>
          <p:nvPr/>
        </p:nvSpPr>
        <p:spPr>
          <a:xfrm>
            <a:off x="2386584" y="1005840"/>
            <a:ext cx="1965960" cy="3337560"/>
          </a:xfrm>
          <a:prstGeom prst="rect">
            <a:avLst/>
          </a:prstGeom>
          <a:solidFill>
            <a:srgbClr val="E7ECF0"/>
          </a:solidFill>
          <a:ln w="12700">
            <a:solidFill>
              <a:srgbClr val="B6BBC0"/>
            </a:solidFill>
            <a:prstDash val="solid"/>
          </a:ln>
          <a:effectLst>
            <a:outerShdw sx="100000" sy="100000" kx="0" ky="0" algn="bl" rotWithShape="0" blurRad="50800" dist="25400" dir="8100000">
              <a:srgbClr val="000000">
                <a:alpha val="13000"/>
              </a:srgbClr>
            </a:outerShdw>
          </a:effectLst>
        </p:spPr>
      </p:sp>
      <p:sp>
        <p:nvSpPr>
          <p:cNvPr id="11" name="Shape 9"/>
          <p:cNvSpPr/>
          <p:nvPr/>
        </p:nvSpPr>
        <p:spPr>
          <a:xfrm>
            <a:off x="2386584" y="1005840"/>
            <a:ext cx="1965960" cy="91440"/>
          </a:xfrm>
          <a:prstGeom prst="rect">
            <a:avLst/>
          </a:prstGeom>
          <a:solidFill>
            <a:srgbClr val="E65100"/>
          </a:solidFill>
          <a:ln w="12700">
            <a:solidFill>
              <a:srgbClr val="E65100"/>
            </a:solidFill>
            <a:prstDash val="solid"/>
          </a:ln>
        </p:spPr>
      </p:sp>
      <p:sp>
        <p:nvSpPr>
          <p:cNvPr id="12" name="Text 10"/>
          <p:cNvSpPr/>
          <p:nvPr/>
        </p:nvSpPr>
        <p:spPr>
          <a:xfrm>
            <a:off x="2514600" y="1188720"/>
            <a:ext cx="1709928" cy="749808"/>
          </a:xfrm>
          <a:prstGeom prst="rect">
            <a:avLst/>
          </a:prstGeom>
          <a:noFill/>
          <a:ln/>
        </p:spPr>
        <p:txBody>
          <a:bodyPr wrap="square" lIns="0" tIns="0" rIns="0" bIns="0" rtlCol="0" anchor="ctr"/>
          <a:lstStyle/>
          <a:p>
            <a:pPr indent="0" marL="0">
              <a:buNone/>
            </a:pPr>
            <a:r>
              <a:rPr lang="en-US" sz="4000" b="1" dirty="0">
                <a:solidFill>
                  <a:srgbClr val="E65100"/>
                </a:solidFill>
                <a:latin typeface="Aptos Display" pitchFamily="34" charset="0"/>
                <a:ea typeface="Aptos Display" pitchFamily="34" charset="-122"/>
                <a:cs typeface="Aptos Display" pitchFamily="34" charset="-120"/>
              </a:rPr>
              <a:t>02</a:t>
            </a:r>
            <a:endParaRPr lang="en-US" sz="4000" dirty="0"/>
          </a:p>
        </p:txBody>
      </p:sp>
      <p:sp>
        <p:nvSpPr>
          <p:cNvPr id="13" name="Text 11"/>
          <p:cNvSpPr/>
          <p:nvPr/>
        </p:nvSpPr>
        <p:spPr>
          <a:xfrm>
            <a:off x="2496312" y="1920240"/>
            <a:ext cx="1746504" cy="502920"/>
          </a:xfrm>
          <a:prstGeom prst="rect">
            <a:avLst/>
          </a:prstGeom>
          <a:noFill/>
          <a:ln/>
        </p:spPr>
        <p:txBody>
          <a:bodyPr wrap="square" lIns="0" tIns="0" rIns="0" bIns="0" rtlCol="0" anchor="ctr"/>
          <a:lstStyle/>
          <a:p>
            <a:pPr indent="0" marL="0">
              <a:buNone/>
            </a:pPr>
            <a:r>
              <a:rPr lang="en-US" sz="1300" b="1" dirty="0">
                <a:solidFill>
                  <a:srgbClr val="06185F"/>
                </a:solidFill>
                <a:latin typeface="Aptos Display" pitchFamily="34" charset="0"/>
                <a:ea typeface="Aptos Display" pitchFamily="34" charset="-122"/>
                <a:cs typeface="Aptos Display" pitchFamily="34" charset="-120"/>
              </a:rPr>
              <a:t>Native SQL Server CDC</a:t>
            </a:r>
            <a:endParaRPr lang="en-US" sz="1300" dirty="0"/>
          </a:p>
        </p:txBody>
      </p:sp>
      <p:sp>
        <p:nvSpPr>
          <p:cNvPr id="14" name="Text 12"/>
          <p:cNvSpPr/>
          <p:nvPr/>
        </p:nvSpPr>
        <p:spPr>
          <a:xfrm>
            <a:off x="2496312" y="2487168"/>
            <a:ext cx="1746504" cy="1554480"/>
          </a:xfrm>
          <a:prstGeom prst="rect">
            <a:avLst/>
          </a:prstGeom>
          <a:noFill/>
          <a:ln/>
        </p:spPr>
        <p:txBody>
          <a:bodyPr wrap="square" lIns="0" tIns="0" rIns="0" bIns="0" rtlCol="0" anchor="ctr"/>
          <a:lstStyle/>
          <a:p>
            <a:pPr indent="0" marL="0">
              <a:buNone/>
            </a:pPr>
            <a:r>
              <a:rPr lang="en-US" sz="1100" dirty="0">
                <a:solidFill>
                  <a:srgbClr val="575A5D"/>
                </a:solidFill>
                <a:latin typeface="Aptos" pitchFamily="34" charset="0"/>
                <a:ea typeface="Aptos" pitchFamily="34" charset="-122"/>
                <a:cs typeface="Aptos" pitchFamily="34" charset="-120"/>
              </a:rPr>
              <a:t>Capabilities, operational concerns, and load reduction options</a:t>
            </a:r>
            <a:endParaRPr lang="en-US" sz="1100" dirty="0"/>
          </a:p>
        </p:txBody>
      </p:sp>
      <p:sp>
        <p:nvSpPr>
          <p:cNvPr id="15" name="Shape 13"/>
          <p:cNvSpPr/>
          <p:nvPr/>
        </p:nvSpPr>
        <p:spPr>
          <a:xfrm>
            <a:off x="4517136" y="1005840"/>
            <a:ext cx="1965960" cy="3337560"/>
          </a:xfrm>
          <a:prstGeom prst="rect">
            <a:avLst/>
          </a:prstGeom>
          <a:solidFill>
            <a:srgbClr val="E7ECF0"/>
          </a:solidFill>
          <a:ln w="12700">
            <a:solidFill>
              <a:srgbClr val="B6BBC0"/>
            </a:solidFill>
            <a:prstDash val="solid"/>
          </a:ln>
          <a:effectLst>
            <a:outerShdw sx="100000" sy="100000" kx="0" ky="0" algn="bl" rotWithShape="0" blurRad="50800" dist="25400" dir="8100000">
              <a:srgbClr val="000000">
                <a:alpha val="13000"/>
              </a:srgbClr>
            </a:outerShdw>
          </a:effectLst>
        </p:spPr>
      </p:sp>
      <p:sp>
        <p:nvSpPr>
          <p:cNvPr id="16" name="Shape 14"/>
          <p:cNvSpPr/>
          <p:nvPr/>
        </p:nvSpPr>
        <p:spPr>
          <a:xfrm>
            <a:off x="4517136" y="1005840"/>
            <a:ext cx="1965960" cy="91440"/>
          </a:xfrm>
          <a:prstGeom prst="rect">
            <a:avLst/>
          </a:prstGeom>
          <a:solidFill>
            <a:srgbClr val="6A1B9A"/>
          </a:solidFill>
          <a:ln w="12700">
            <a:solidFill>
              <a:srgbClr val="6A1B9A"/>
            </a:solidFill>
            <a:prstDash val="solid"/>
          </a:ln>
        </p:spPr>
      </p:sp>
      <p:sp>
        <p:nvSpPr>
          <p:cNvPr id="17" name="Text 15"/>
          <p:cNvSpPr/>
          <p:nvPr/>
        </p:nvSpPr>
        <p:spPr>
          <a:xfrm>
            <a:off x="4645152" y="1188720"/>
            <a:ext cx="1709928" cy="749808"/>
          </a:xfrm>
          <a:prstGeom prst="rect">
            <a:avLst/>
          </a:prstGeom>
          <a:noFill/>
          <a:ln/>
        </p:spPr>
        <p:txBody>
          <a:bodyPr wrap="square" lIns="0" tIns="0" rIns="0" bIns="0" rtlCol="0" anchor="ctr"/>
          <a:lstStyle/>
          <a:p>
            <a:pPr indent="0" marL="0">
              <a:buNone/>
            </a:pPr>
            <a:r>
              <a:rPr lang="en-US" sz="4000" b="1" dirty="0">
                <a:solidFill>
                  <a:srgbClr val="6A1B9A"/>
                </a:solidFill>
                <a:latin typeface="Aptos Display" pitchFamily="34" charset="0"/>
                <a:ea typeface="Aptos Display" pitchFamily="34" charset="-122"/>
                <a:cs typeface="Aptos Display" pitchFamily="34" charset="-120"/>
              </a:rPr>
              <a:t>03</a:t>
            </a:r>
            <a:endParaRPr lang="en-US" sz="4000" dirty="0"/>
          </a:p>
        </p:txBody>
      </p:sp>
      <p:sp>
        <p:nvSpPr>
          <p:cNvPr id="18" name="Text 16"/>
          <p:cNvSpPr/>
          <p:nvPr/>
        </p:nvSpPr>
        <p:spPr>
          <a:xfrm>
            <a:off x="4626864" y="1920240"/>
            <a:ext cx="1746504" cy="502920"/>
          </a:xfrm>
          <a:prstGeom prst="rect">
            <a:avLst/>
          </a:prstGeom>
          <a:noFill/>
          <a:ln/>
        </p:spPr>
        <p:txBody>
          <a:bodyPr wrap="square" lIns="0" tIns="0" rIns="0" bIns="0" rtlCol="0" anchor="ctr"/>
          <a:lstStyle/>
          <a:p>
            <a:pPr indent="0" marL="0">
              <a:buNone/>
            </a:pPr>
            <a:r>
              <a:rPr lang="en-US" sz="1300" b="1" dirty="0">
                <a:solidFill>
                  <a:srgbClr val="06185F"/>
                </a:solidFill>
                <a:latin typeface="Aptos Display" pitchFamily="34" charset="0"/>
                <a:ea typeface="Aptos Display" pitchFamily="34" charset="-122"/>
                <a:cs typeface="Aptos Display" pitchFamily="34" charset="-120"/>
              </a:rPr>
              <a:t>Phase 1 — Native + Debezium</a:t>
            </a:r>
            <a:endParaRPr lang="en-US" sz="1300" dirty="0"/>
          </a:p>
        </p:txBody>
      </p:sp>
      <p:sp>
        <p:nvSpPr>
          <p:cNvPr id="19" name="Text 17"/>
          <p:cNvSpPr/>
          <p:nvPr/>
        </p:nvSpPr>
        <p:spPr>
          <a:xfrm>
            <a:off x="4626864" y="2487168"/>
            <a:ext cx="1746504" cy="1554480"/>
          </a:xfrm>
          <a:prstGeom prst="rect">
            <a:avLst/>
          </a:prstGeom>
          <a:noFill/>
          <a:ln/>
        </p:spPr>
        <p:txBody>
          <a:bodyPr wrap="square" lIns="0" tIns="0" rIns="0" bIns="0" rtlCol="0" anchor="ctr"/>
          <a:lstStyle/>
          <a:p>
            <a:pPr indent="0" marL="0">
              <a:buNone/>
            </a:pPr>
            <a:r>
              <a:rPr lang="en-US" sz="1100" dirty="0">
                <a:solidFill>
                  <a:srgbClr val="575A5D"/>
                </a:solidFill>
                <a:latin typeface="Aptos" pitchFamily="34" charset="0"/>
                <a:ea typeface="Aptos" pitchFamily="34" charset="-122"/>
                <a:cs typeface="Aptos" pitchFamily="34" charset="-120"/>
              </a:rPr>
              <a:t>Near-term architecture and known limitations to plan for</a:t>
            </a:r>
            <a:endParaRPr lang="en-US" sz="1100" dirty="0"/>
          </a:p>
        </p:txBody>
      </p:sp>
      <p:sp>
        <p:nvSpPr>
          <p:cNvPr id="20" name="Shape 18"/>
          <p:cNvSpPr/>
          <p:nvPr/>
        </p:nvSpPr>
        <p:spPr>
          <a:xfrm>
            <a:off x="6647688" y="1005840"/>
            <a:ext cx="1965960" cy="3337560"/>
          </a:xfrm>
          <a:prstGeom prst="rect">
            <a:avLst/>
          </a:prstGeom>
          <a:solidFill>
            <a:srgbClr val="E7ECF0"/>
          </a:solidFill>
          <a:ln w="12700">
            <a:solidFill>
              <a:srgbClr val="B6BBC0"/>
            </a:solidFill>
            <a:prstDash val="solid"/>
          </a:ln>
          <a:effectLst>
            <a:outerShdw sx="100000" sy="100000" kx="0" ky="0" algn="bl" rotWithShape="0" blurRad="50800" dist="25400" dir="8100000">
              <a:srgbClr val="000000">
                <a:alpha val="13000"/>
              </a:srgbClr>
            </a:outerShdw>
          </a:effectLst>
        </p:spPr>
      </p:sp>
      <p:sp>
        <p:nvSpPr>
          <p:cNvPr id="21" name="Shape 19"/>
          <p:cNvSpPr/>
          <p:nvPr/>
        </p:nvSpPr>
        <p:spPr>
          <a:xfrm>
            <a:off x="6647688" y="1005840"/>
            <a:ext cx="1965960" cy="91440"/>
          </a:xfrm>
          <a:prstGeom prst="rect">
            <a:avLst/>
          </a:prstGeom>
          <a:solidFill>
            <a:srgbClr val="2E7D32"/>
          </a:solidFill>
          <a:ln w="12700">
            <a:solidFill>
              <a:srgbClr val="2E7D32"/>
            </a:solidFill>
            <a:prstDash val="solid"/>
          </a:ln>
        </p:spPr>
      </p:sp>
      <p:sp>
        <p:nvSpPr>
          <p:cNvPr id="22" name="Text 20"/>
          <p:cNvSpPr/>
          <p:nvPr/>
        </p:nvSpPr>
        <p:spPr>
          <a:xfrm>
            <a:off x="6775704" y="1188720"/>
            <a:ext cx="1709928" cy="749808"/>
          </a:xfrm>
          <a:prstGeom prst="rect">
            <a:avLst/>
          </a:prstGeom>
          <a:noFill/>
          <a:ln/>
        </p:spPr>
        <p:txBody>
          <a:bodyPr wrap="square" lIns="0" tIns="0" rIns="0" bIns="0" rtlCol="0" anchor="ctr"/>
          <a:lstStyle/>
          <a:p>
            <a:pPr indent="0" marL="0">
              <a:buNone/>
            </a:pPr>
            <a:r>
              <a:rPr lang="en-US" sz="4000" b="1" dirty="0">
                <a:solidFill>
                  <a:srgbClr val="2E7D32"/>
                </a:solidFill>
                <a:latin typeface="Aptos Display" pitchFamily="34" charset="0"/>
                <a:ea typeface="Aptos Display" pitchFamily="34" charset="-122"/>
                <a:cs typeface="Aptos Display" pitchFamily="34" charset="-120"/>
              </a:rPr>
              <a:t>04</a:t>
            </a:r>
            <a:endParaRPr lang="en-US" sz="4000" dirty="0"/>
          </a:p>
        </p:txBody>
      </p:sp>
      <p:sp>
        <p:nvSpPr>
          <p:cNvPr id="23" name="Text 21"/>
          <p:cNvSpPr/>
          <p:nvPr/>
        </p:nvSpPr>
        <p:spPr>
          <a:xfrm>
            <a:off x="6757416" y="1920240"/>
            <a:ext cx="1746504" cy="502920"/>
          </a:xfrm>
          <a:prstGeom prst="rect">
            <a:avLst/>
          </a:prstGeom>
          <a:noFill/>
          <a:ln/>
        </p:spPr>
        <p:txBody>
          <a:bodyPr wrap="square" lIns="0" tIns="0" rIns="0" bIns="0" rtlCol="0" anchor="ctr"/>
          <a:lstStyle/>
          <a:p>
            <a:pPr indent="0" marL="0">
              <a:buNone/>
            </a:pPr>
            <a:r>
              <a:rPr lang="en-US" sz="1300" b="1" dirty="0">
                <a:solidFill>
                  <a:srgbClr val="06185F"/>
                </a:solidFill>
                <a:latin typeface="Aptos Display" pitchFamily="34" charset="0"/>
                <a:ea typeface="Aptos Display" pitchFamily="34" charset="-122"/>
                <a:cs typeface="Aptos Display" pitchFamily="34" charset="-120"/>
              </a:rPr>
              <a:t>Phase 2 — Enterprise CDC</a:t>
            </a:r>
            <a:endParaRPr lang="en-US" sz="1300" dirty="0"/>
          </a:p>
        </p:txBody>
      </p:sp>
      <p:sp>
        <p:nvSpPr>
          <p:cNvPr id="24" name="Text 22"/>
          <p:cNvSpPr/>
          <p:nvPr/>
        </p:nvSpPr>
        <p:spPr>
          <a:xfrm>
            <a:off x="6757416" y="2487168"/>
            <a:ext cx="1746504" cy="1554480"/>
          </a:xfrm>
          <a:prstGeom prst="rect">
            <a:avLst/>
          </a:prstGeom>
          <a:noFill/>
          <a:ln/>
        </p:spPr>
        <p:txBody>
          <a:bodyPr wrap="square" lIns="0" tIns="0" rIns="0" bIns="0" rtlCol="0" anchor="ctr"/>
          <a:lstStyle/>
          <a:p>
            <a:pPr indent="0" marL="0">
              <a:buNone/>
            </a:pPr>
            <a:r>
              <a:rPr lang="en-US" sz="1100" dirty="0">
                <a:solidFill>
                  <a:srgbClr val="575A5D"/>
                </a:solidFill>
                <a:latin typeface="Aptos" pitchFamily="34" charset="0"/>
                <a:ea typeface="Aptos" pitchFamily="34" charset="-122"/>
                <a:cs typeface="Aptos" pitchFamily="34" charset="-120"/>
              </a:rPr>
              <a:t>IBM InfoSphere IIDR, Striim, and vendor comparison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Why Change Data Capture?</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Shape 3"/>
          <p:cNvSpPr/>
          <p:nvPr/>
        </p:nvSpPr>
        <p:spPr>
          <a:xfrm>
            <a:off x="256032" y="914400"/>
            <a:ext cx="4023360" cy="365760"/>
          </a:xfrm>
          <a:prstGeom prst="rect">
            <a:avLst/>
          </a:prstGeom>
          <a:solidFill>
            <a:srgbClr val="FFEBEE"/>
          </a:solidFill>
          <a:ln w="12700">
            <a:solidFill>
              <a:srgbClr val="C62828"/>
            </a:solidFill>
            <a:prstDash val="solid"/>
          </a:ln>
        </p:spPr>
      </p:sp>
      <p:sp>
        <p:nvSpPr>
          <p:cNvPr id="6" name="Text 4"/>
          <p:cNvSpPr/>
          <p:nvPr/>
        </p:nvSpPr>
        <p:spPr>
          <a:xfrm>
            <a:off x="301752" y="914400"/>
            <a:ext cx="3931920" cy="365760"/>
          </a:xfrm>
          <a:prstGeom prst="rect">
            <a:avLst/>
          </a:prstGeom>
          <a:noFill/>
          <a:ln/>
        </p:spPr>
        <p:txBody>
          <a:bodyPr wrap="square" lIns="50800" tIns="50800" rIns="50800" bIns="50800" rtlCol="0" anchor="ctr"/>
          <a:lstStyle/>
          <a:p>
            <a:pPr indent="0" marL="0">
              <a:buNone/>
            </a:pPr>
            <a:r>
              <a:rPr lang="en-US" sz="1300" b="1" dirty="0">
                <a:solidFill>
                  <a:srgbClr val="C62828"/>
                </a:solidFill>
                <a:latin typeface="Aptos Display" pitchFamily="34" charset="0"/>
                <a:ea typeface="Aptos Display" pitchFamily="34" charset="-122"/>
                <a:cs typeface="Aptos Display" pitchFamily="34" charset="-120"/>
              </a:rPr>
              <a:t>Without CDC — Current State</a:t>
            </a:r>
            <a:endParaRPr lang="en-US" sz="1300" dirty="0"/>
          </a:p>
        </p:txBody>
      </p:sp>
      <p:sp>
        <p:nvSpPr>
          <p:cNvPr id="7" name="Shape 5"/>
          <p:cNvSpPr/>
          <p:nvPr/>
        </p:nvSpPr>
        <p:spPr>
          <a:xfrm>
            <a:off x="256032" y="1417320"/>
            <a:ext cx="54864" cy="502920"/>
          </a:xfrm>
          <a:prstGeom prst="rect">
            <a:avLst/>
          </a:prstGeom>
          <a:solidFill>
            <a:srgbClr val="C62828"/>
          </a:solidFill>
          <a:ln w="12700">
            <a:solidFill>
              <a:srgbClr val="C62828"/>
            </a:solidFill>
            <a:prstDash val="solid"/>
          </a:ln>
        </p:spPr>
      </p:sp>
      <p:sp>
        <p:nvSpPr>
          <p:cNvPr id="8" name="Text 6"/>
          <p:cNvSpPr/>
          <p:nvPr/>
        </p:nvSpPr>
        <p:spPr>
          <a:xfrm>
            <a:off x="402336" y="1371600"/>
            <a:ext cx="3749040" cy="256032"/>
          </a:xfrm>
          <a:prstGeom prst="rect">
            <a:avLst/>
          </a:prstGeom>
          <a:noFill/>
          <a:ln/>
        </p:spPr>
        <p:txBody>
          <a:bodyPr wrap="square" lIns="0" tIns="0" rIns="0" bIns="0" rtlCol="0" anchor="ctr"/>
          <a:lstStyle/>
          <a:p>
            <a:pPr indent="0" marL="0">
              <a:buNone/>
            </a:pPr>
            <a:r>
              <a:rPr lang="en-US" sz="1200" b="1" dirty="0">
                <a:solidFill>
                  <a:srgbClr val="06185F"/>
                </a:solidFill>
                <a:latin typeface="Aptos" pitchFamily="34" charset="0"/>
                <a:ea typeface="Aptos" pitchFamily="34" charset="-122"/>
                <a:cs typeface="Aptos" pitchFamily="34" charset="-120"/>
              </a:rPr>
              <a:t>Batch latency</a:t>
            </a:r>
            <a:endParaRPr lang="en-US" sz="1200" dirty="0"/>
          </a:p>
        </p:txBody>
      </p:sp>
      <p:sp>
        <p:nvSpPr>
          <p:cNvPr id="9" name="Text 7"/>
          <p:cNvSpPr/>
          <p:nvPr/>
        </p:nvSpPr>
        <p:spPr>
          <a:xfrm>
            <a:off x="402336" y="1627632"/>
            <a:ext cx="3749040" cy="32004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ETL jobs run on schedule — hours between source changes and availability downstream</a:t>
            </a:r>
            <a:endParaRPr lang="en-US" sz="1050" dirty="0"/>
          </a:p>
        </p:txBody>
      </p:sp>
      <p:sp>
        <p:nvSpPr>
          <p:cNvPr id="10" name="Shape 8"/>
          <p:cNvSpPr/>
          <p:nvPr/>
        </p:nvSpPr>
        <p:spPr>
          <a:xfrm>
            <a:off x="256032" y="2075688"/>
            <a:ext cx="54864" cy="502920"/>
          </a:xfrm>
          <a:prstGeom prst="rect">
            <a:avLst/>
          </a:prstGeom>
          <a:solidFill>
            <a:srgbClr val="C62828"/>
          </a:solidFill>
          <a:ln w="12700">
            <a:solidFill>
              <a:srgbClr val="C62828"/>
            </a:solidFill>
            <a:prstDash val="solid"/>
          </a:ln>
        </p:spPr>
      </p:sp>
      <p:sp>
        <p:nvSpPr>
          <p:cNvPr id="11" name="Text 9"/>
          <p:cNvSpPr/>
          <p:nvPr/>
        </p:nvSpPr>
        <p:spPr>
          <a:xfrm>
            <a:off x="402336" y="2029968"/>
            <a:ext cx="3749040" cy="256032"/>
          </a:xfrm>
          <a:prstGeom prst="rect">
            <a:avLst/>
          </a:prstGeom>
          <a:noFill/>
          <a:ln/>
        </p:spPr>
        <p:txBody>
          <a:bodyPr wrap="square" lIns="0" tIns="0" rIns="0" bIns="0" rtlCol="0" anchor="ctr"/>
          <a:lstStyle/>
          <a:p>
            <a:pPr indent="0" marL="0">
              <a:buNone/>
            </a:pPr>
            <a:r>
              <a:rPr lang="en-US" sz="1200" b="1" dirty="0">
                <a:solidFill>
                  <a:srgbClr val="06185F"/>
                </a:solidFill>
                <a:latin typeface="Aptos" pitchFamily="34" charset="0"/>
                <a:ea typeface="Aptos" pitchFamily="34" charset="-122"/>
                <a:cs typeface="Aptos" pitchFamily="34" charset="-120"/>
              </a:rPr>
              <a:t>Source system load</a:t>
            </a:r>
            <a:endParaRPr lang="en-US" sz="1200" dirty="0"/>
          </a:p>
        </p:txBody>
      </p:sp>
      <p:sp>
        <p:nvSpPr>
          <p:cNvPr id="12" name="Text 10"/>
          <p:cNvSpPr/>
          <p:nvPr/>
        </p:nvSpPr>
        <p:spPr>
          <a:xfrm>
            <a:off x="402336" y="2286000"/>
            <a:ext cx="3749040" cy="32004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Full table scans or timestamp polling add read pressure to production databases on every run</a:t>
            </a:r>
            <a:endParaRPr lang="en-US" sz="1050" dirty="0"/>
          </a:p>
        </p:txBody>
      </p:sp>
      <p:sp>
        <p:nvSpPr>
          <p:cNvPr id="13" name="Shape 11"/>
          <p:cNvSpPr/>
          <p:nvPr/>
        </p:nvSpPr>
        <p:spPr>
          <a:xfrm>
            <a:off x="256032" y="2734056"/>
            <a:ext cx="54864" cy="502920"/>
          </a:xfrm>
          <a:prstGeom prst="rect">
            <a:avLst/>
          </a:prstGeom>
          <a:solidFill>
            <a:srgbClr val="C62828"/>
          </a:solidFill>
          <a:ln w="12700">
            <a:solidFill>
              <a:srgbClr val="C62828"/>
            </a:solidFill>
            <a:prstDash val="solid"/>
          </a:ln>
        </p:spPr>
      </p:sp>
      <p:sp>
        <p:nvSpPr>
          <p:cNvPr id="14" name="Text 12"/>
          <p:cNvSpPr/>
          <p:nvPr/>
        </p:nvSpPr>
        <p:spPr>
          <a:xfrm>
            <a:off x="402336" y="2688336"/>
            <a:ext cx="3749040" cy="256032"/>
          </a:xfrm>
          <a:prstGeom prst="rect">
            <a:avLst/>
          </a:prstGeom>
          <a:noFill/>
          <a:ln/>
        </p:spPr>
        <p:txBody>
          <a:bodyPr wrap="square" lIns="0" tIns="0" rIns="0" bIns="0" rtlCol="0" anchor="ctr"/>
          <a:lstStyle/>
          <a:p>
            <a:pPr indent="0" marL="0">
              <a:buNone/>
            </a:pPr>
            <a:r>
              <a:rPr lang="en-US" sz="1200" b="1" dirty="0">
                <a:solidFill>
                  <a:srgbClr val="06185F"/>
                </a:solidFill>
                <a:latin typeface="Aptos" pitchFamily="34" charset="0"/>
                <a:ea typeface="Aptos" pitchFamily="34" charset="-122"/>
                <a:cs typeface="Aptos" pitchFamily="34" charset="-120"/>
              </a:rPr>
              <a:t>Missed deletes &amp; updates</a:t>
            </a:r>
            <a:endParaRPr lang="en-US" sz="1200" dirty="0"/>
          </a:p>
        </p:txBody>
      </p:sp>
      <p:sp>
        <p:nvSpPr>
          <p:cNvPr id="15" name="Text 13"/>
          <p:cNvSpPr/>
          <p:nvPr/>
        </p:nvSpPr>
        <p:spPr>
          <a:xfrm>
            <a:off x="402336" y="2944368"/>
            <a:ext cx="3749040" cy="32004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Deleted rows and rapid sequential updates are invisible to batch polling</a:t>
            </a:r>
            <a:endParaRPr lang="en-US" sz="1050" dirty="0"/>
          </a:p>
        </p:txBody>
      </p:sp>
      <p:sp>
        <p:nvSpPr>
          <p:cNvPr id="16" name="Shape 14"/>
          <p:cNvSpPr/>
          <p:nvPr/>
        </p:nvSpPr>
        <p:spPr>
          <a:xfrm>
            <a:off x="256032" y="3392424"/>
            <a:ext cx="54864" cy="502920"/>
          </a:xfrm>
          <a:prstGeom prst="rect">
            <a:avLst/>
          </a:prstGeom>
          <a:solidFill>
            <a:srgbClr val="C62828"/>
          </a:solidFill>
          <a:ln w="12700">
            <a:solidFill>
              <a:srgbClr val="C62828"/>
            </a:solidFill>
            <a:prstDash val="solid"/>
          </a:ln>
        </p:spPr>
      </p:sp>
      <p:sp>
        <p:nvSpPr>
          <p:cNvPr id="17" name="Text 15"/>
          <p:cNvSpPr/>
          <p:nvPr/>
        </p:nvSpPr>
        <p:spPr>
          <a:xfrm>
            <a:off x="402336" y="3346704"/>
            <a:ext cx="3749040" cy="256032"/>
          </a:xfrm>
          <a:prstGeom prst="rect">
            <a:avLst/>
          </a:prstGeom>
          <a:noFill/>
          <a:ln/>
        </p:spPr>
        <p:txBody>
          <a:bodyPr wrap="square" lIns="0" tIns="0" rIns="0" bIns="0" rtlCol="0" anchor="ctr"/>
          <a:lstStyle/>
          <a:p>
            <a:pPr indent="0" marL="0">
              <a:buNone/>
            </a:pPr>
            <a:r>
              <a:rPr lang="en-US" sz="1200" b="1" dirty="0">
                <a:solidFill>
                  <a:srgbClr val="06185F"/>
                </a:solidFill>
                <a:latin typeface="Aptos" pitchFamily="34" charset="0"/>
                <a:ea typeface="Aptos" pitchFamily="34" charset="-122"/>
                <a:cs typeface="Aptos" pitchFamily="34" charset="-120"/>
              </a:rPr>
              <a:t>Fragile all-or-nothing runs</a:t>
            </a:r>
            <a:endParaRPr lang="en-US" sz="1200" dirty="0"/>
          </a:p>
        </p:txBody>
      </p:sp>
      <p:sp>
        <p:nvSpPr>
          <p:cNvPr id="18" name="Text 16"/>
          <p:cNvSpPr/>
          <p:nvPr/>
        </p:nvSpPr>
        <p:spPr>
          <a:xfrm>
            <a:off x="402336" y="3602736"/>
            <a:ext cx="3749040" cy="32004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A failed batch means all changes since the last successful run must be reprocessed</a:t>
            </a:r>
            <a:endParaRPr lang="en-US" sz="1050" dirty="0"/>
          </a:p>
        </p:txBody>
      </p:sp>
      <p:sp>
        <p:nvSpPr>
          <p:cNvPr id="19" name="Shape 17"/>
          <p:cNvSpPr/>
          <p:nvPr/>
        </p:nvSpPr>
        <p:spPr>
          <a:xfrm>
            <a:off x="4864608" y="914400"/>
            <a:ext cx="4023360" cy="365760"/>
          </a:xfrm>
          <a:prstGeom prst="rect">
            <a:avLst/>
          </a:prstGeom>
          <a:solidFill>
            <a:srgbClr val="E8F5E9"/>
          </a:solidFill>
          <a:ln w="12700">
            <a:solidFill>
              <a:srgbClr val="2E7D32"/>
            </a:solidFill>
            <a:prstDash val="solid"/>
          </a:ln>
        </p:spPr>
      </p:sp>
      <p:sp>
        <p:nvSpPr>
          <p:cNvPr id="20" name="Text 18"/>
          <p:cNvSpPr/>
          <p:nvPr/>
        </p:nvSpPr>
        <p:spPr>
          <a:xfrm>
            <a:off x="4910328" y="914400"/>
            <a:ext cx="3931920" cy="365760"/>
          </a:xfrm>
          <a:prstGeom prst="rect">
            <a:avLst/>
          </a:prstGeom>
          <a:noFill/>
          <a:ln/>
        </p:spPr>
        <p:txBody>
          <a:bodyPr wrap="square" lIns="50800" tIns="50800" rIns="50800" bIns="50800" rtlCol="0" anchor="ctr"/>
          <a:lstStyle/>
          <a:p>
            <a:pPr indent="0" marL="0">
              <a:buNone/>
            </a:pPr>
            <a:r>
              <a:rPr lang="en-US" sz="1300" b="1" dirty="0">
                <a:solidFill>
                  <a:srgbClr val="2E7D32"/>
                </a:solidFill>
                <a:latin typeface="Aptos Display" pitchFamily="34" charset="0"/>
                <a:ea typeface="Aptos Display" pitchFamily="34" charset="-122"/>
                <a:cs typeface="Aptos Display" pitchFamily="34" charset="-120"/>
              </a:rPr>
              <a:t>With Log-Based CDC</a:t>
            </a:r>
            <a:endParaRPr lang="en-US" sz="1300" dirty="0"/>
          </a:p>
        </p:txBody>
      </p:sp>
      <p:sp>
        <p:nvSpPr>
          <p:cNvPr id="21" name="Shape 19"/>
          <p:cNvSpPr/>
          <p:nvPr/>
        </p:nvSpPr>
        <p:spPr>
          <a:xfrm>
            <a:off x="4864608" y="1417320"/>
            <a:ext cx="54864" cy="502920"/>
          </a:xfrm>
          <a:prstGeom prst="rect">
            <a:avLst/>
          </a:prstGeom>
          <a:solidFill>
            <a:srgbClr val="2E7D32"/>
          </a:solidFill>
          <a:ln w="12700">
            <a:solidFill>
              <a:srgbClr val="2E7D32"/>
            </a:solidFill>
            <a:prstDash val="solid"/>
          </a:ln>
        </p:spPr>
      </p:sp>
      <p:sp>
        <p:nvSpPr>
          <p:cNvPr id="22" name="Text 20"/>
          <p:cNvSpPr/>
          <p:nvPr/>
        </p:nvSpPr>
        <p:spPr>
          <a:xfrm>
            <a:off x="5010912" y="1371600"/>
            <a:ext cx="3749040" cy="256032"/>
          </a:xfrm>
          <a:prstGeom prst="rect">
            <a:avLst/>
          </a:prstGeom>
          <a:noFill/>
          <a:ln/>
        </p:spPr>
        <p:txBody>
          <a:bodyPr wrap="square" lIns="0" tIns="0" rIns="0" bIns="0" rtlCol="0" anchor="ctr"/>
          <a:lstStyle/>
          <a:p>
            <a:pPr indent="0" marL="0">
              <a:buNone/>
            </a:pPr>
            <a:r>
              <a:rPr lang="en-US" sz="1200" b="1" dirty="0">
                <a:solidFill>
                  <a:srgbClr val="06185F"/>
                </a:solidFill>
                <a:latin typeface="Aptos" pitchFamily="34" charset="0"/>
                <a:ea typeface="Aptos" pitchFamily="34" charset="-122"/>
                <a:cs typeface="Aptos" pitchFamily="34" charset="-120"/>
              </a:rPr>
              <a:t>Real-time propagation</a:t>
            </a:r>
            <a:endParaRPr lang="en-US" sz="1200" dirty="0"/>
          </a:p>
        </p:txBody>
      </p:sp>
      <p:sp>
        <p:nvSpPr>
          <p:cNvPr id="23" name="Text 21"/>
          <p:cNvSpPr/>
          <p:nvPr/>
        </p:nvSpPr>
        <p:spPr>
          <a:xfrm>
            <a:off x="5010912" y="1627632"/>
            <a:ext cx="3749040" cy="32004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Changes flow from source to target in seconds — driven by the transaction log, not a schedule</a:t>
            </a:r>
            <a:endParaRPr lang="en-US" sz="1050" dirty="0"/>
          </a:p>
        </p:txBody>
      </p:sp>
      <p:sp>
        <p:nvSpPr>
          <p:cNvPr id="24" name="Shape 22"/>
          <p:cNvSpPr/>
          <p:nvPr/>
        </p:nvSpPr>
        <p:spPr>
          <a:xfrm>
            <a:off x="4864608" y="2075688"/>
            <a:ext cx="54864" cy="502920"/>
          </a:xfrm>
          <a:prstGeom prst="rect">
            <a:avLst/>
          </a:prstGeom>
          <a:solidFill>
            <a:srgbClr val="2E7D32"/>
          </a:solidFill>
          <a:ln w="12700">
            <a:solidFill>
              <a:srgbClr val="2E7D32"/>
            </a:solidFill>
            <a:prstDash val="solid"/>
          </a:ln>
        </p:spPr>
      </p:sp>
      <p:sp>
        <p:nvSpPr>
          <p:cNvPr id="25" name="Text 23"/>
          <p:cNvSpPr/>
          <p:nvPr/>
        </p:nvSpPr>
        <p:spPr>
          <a:xfrm>
            <a:off x="5010912" y="2029968"/>
            <a:ext cx="3749040" cy="256032"/>
          </a:xfrm>
          <a:prstGeom prst="rect">
            <a:avLst/>
          </a:prstGeom>
          <a:noFill/>
          <a:ln/>
        </p:spPr>
        <p:txBody>
          <a:bodyPr wrap="square" lIns="0" tIns="0" rIns="0" bIns="0" rtlCol="0" anchor="ctr"/>
          <a:lstStyle/>
          <a:p>
            <a:pPr indent="0" marL="0">
              <a:buNone/>
            </a:pPr>
            <a:r>
              <a:rPr lang="en-US" sz="1200" b="1" dirty="0">
                <a:solidFill>
                  <a:srgbClr val="06185F"/>
                </a:solidFill>
                <a:latin typeface="Aptos" pitchFamily="34" charset="0"/>
                <a:ea typeface="Aptos" pitchFamily="34" charset="-122"/>
                <a:cs typeface="Aptos" pitchFamily="34" charset="-120"/>
              </a:rPr>
              <a:t>Negligible source impact</a:t>
            </a:r>
            <a:endParaRPr lang="en-US" sz="1200" dirty="0"/>
          </a:p>
        </p:txBody>
      </p:sp>
      <p:sp>
        <p:nvSpPr>
          <p:cNvPr id="26" name="Text 24"/>
          <p:cNvSpPr/>
          <p:nvPr/>
        </p:nvSpPr>
        <p:spPr>
          <a:xfrm>
            <a:off x="5010912" y="2286000"/>
            <a:ext cx="3749040" cy="32004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CDC reads the transaction log, which is written regardless — no additional load on source tables or application code</a:t>
            </a:r>
            <a:endParaRPr lang="en-US" sz="1050" dirty="0"/>
          </a:p>
        </p:txBody>
      </p:sp>
      <p:sp>
        <p:nvSpPr>
          <p:cNvPr id="27" name="Shape 25"/>
          <p:cNvSpPr/>
          <p:nvPr/>
        </p:nvSpPr>
        <p:spPr>
          <a:xfrm>
            <a:off x="4864608" y="2734056"/>
            <a:ext cx="54864" cy="502920"/>
          </a:xfrm>
          <a:prstGeom prst="rect">
            <a:avLst/>
          </a:prstGeom>
          <a:solidFill>
            <a:srgbClr val="2E7D32"/>
          </a:solidFill>
          <a:ln w="12700">
            <a:solidFill>
              <a:srgbClr val="2E7D32"/>
            </a:solidFill>
            <a:prstDash val="solid"/>
          </a:ln>
        </p:spPr>
      </p:sp>
      <p:sp>
        <p:nvSpPr>
          <p:cNvPr id="28" name="Text 26"/>
          <p:cNvSpPr/>
          <p:nvPr/>
        </p:nvSpPr>
        <p:spPr>
          <a:xfrm>
            <a:off x="5010912" y="2688336"/>
            <a:ext cx="3749040" cy="256032"/>
          </a:xfrm>
          <a:prstGeom prst="rect">
            <a:avLst/>
          </a:prstGeom>
          <a:noFill/>
          <a:ln/>
        </p:spPr>
        <p:txBody>
          <a:bodyPr wrap="square" lIns="0" tIns="0" rIns="0" bIns="0" rtlCol="0" anchor="ctr"/>
          <a:lstStyle/>
          <a:p>
            <a:pPr indent="0" marL="0">
              <a:buNone/>
            </a:pPr>
            <a:r>
              <a:rPr lang="en-US" sz="1200" b="1" dirty="0">
                <a:solidFill>
                  <a:srgbClr val="06185F"/>
                </a:solidFill>
                <a:latin typeface="Aptos" pitchFamily="34" charset="0"/>
                <a:ea typeface="Aptos" pitchFamily="34" charset="-122"/>
                <a:cs typeface="Aptos" pitchFamily="34" charset="-120"/>
              </a:rPr>
              <a:t>Complete change history</a:t>
            </a:r>
            <a:endParaRPr lang="en-US" sz="1200" dirty="0"/>
          </a:p>
        </p:txBody>
      </p:sp>
      <p:sp>
        <p:nvSpPr>
          <p:cNvPr id="29" name="Text 27"/>
          <p:cNvSpPr/>
          <p:nvPr/>
        </p:nvSpPr>
        <p:spPr>
          <a:xfrm>
            <a:off x="5010912" y="2944368"/>
            <a:ext cx="3749040" cy="32004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Every INSERT, UPDATE, and DELETE captured in order, with before and after row images</a:t>
            </a:r>
            <a:endParaRPr lang="en-US" sz="1050" dirty="0"/>
          </a:p>
        </p:txBody>
      </p:sp>
      <p:sp>
        <p:nvSpPr>
          <p:cNvPr id="30" name="Shape 28"/>
          <p:cNvSpPr/>
          <p:nvPr/>
        </p:nvSpPr>
        <p:spPr>
          <a:xfrm>
            <a:off x="4864608" y="3392424"/>
            <a:ext cx="54864" cy="502920"/>
          </a:xfrm>
          <a:prstGeom prst="rect">
            <a:avLst/>
          </a:prstGeom>
          <a:solidFill>
            <a:srgbClr val="2E7D32"/>
          </a:solidFill>
          <a:ln w="12700">
            <a:solidFill>
              <a:srgbClr val="2E7D32"/>
            </a:solidFill>
            <a:prstDash val="solid"/>
          </a:ln>
        </p:spPr>
      </p:sp>
      <p:sp>
        <p:nvSpPr>
          <p:cNvPr id="31" name="Text 29"/>
          <p:cNvSpPr/>
          <p:nvPr/>
        </p:nvSpPr>
        <p:spPr>
          <a:xfrm>
            <a:off x="5010912" y="3346704"/>
            <a:ext cx="3749040" cy="256032"/>
          </a:xfrm>
          <a:prstGeom prst="rect">
            <a:avLst/>
          </a:prstGeom>
          <a:noFill/>
          <a:ln/>
        </p:spPr>
        <p:txBody>
          <a:bodyPr wrap="square" lIns="0" tIns="0" rIns="0" bIns="0" rtlCol="0" anchor="ctr"/>
          <a:lstStyle/>
          <a:p>
            <a:pPr indent="0" marL="0">
              <a:buNone/>
            </a:pPr>
            <a:r>
              <a:rPr lang="en-US" sz="1200" b="1" dirty="0">
                <a:solidFill>
                  <a:srgbClr val="06185F"/>
                </a:solidFill>
                <a:latin typeface="Aptos" pitchFamily="34" charset="0"/>
                <a:ea typeface="Aptos" pitchFamily="34" charset="-122"/>
                <a:cs typeface="Aptos" pitchFamily="34" charset="-120"/>
              </a:rPr>
              <a:t>Resilient by design</a:t>
            </a:r>
            <a:endParaRPr lang="en-US" sz="1200" dirty="0"/>
          </a:p>
        </p:txBody>
      </p:sp>
      <p:sp>
        <p:nvSpPr>
          <p:cNvPr id="32" name="Text 30"/>
          <p:cNvSpPr/>
          <p:nvPr/>
        </p:nvSpPr>
        <p:spPr>
          <a:xfrm>
            <a:off x="5010912" y="3602736"/>
            <a:ext cx="3749040" cy="32004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Log position tracking means recovery from failure resumes exactly where processing stopped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185F"/>
        </a:solidFill>
      </p:bgPr>
    </p:bg>
    <p:spTree>
      <p:nvGrpSpPr>
        <p:cNvPr id="1" name=""/>
        <p:cNvGrpSpPr/>
        <p:nvPr/>
      </p:nvGrpSpPr>
      <p:grpSpPr>
        <a:xfrm>
          <a:off x="0" y="0"/>
          <a:ext cx="0" cy="0"/>
          <a:chOff x="0" y="0"/>
          <a:chExt cx="0" cy="0"/>
        </a:xfrm>
      </p:grpSpPr>
      <p:sp>
        <p:nvSpPr>
          <p:cNvPr id="2" name="Shape 0"/>
          <p:cNvSpPr/>
          <p:nvPr/>
        </p:nvSpPr>
        <p:spPr>
          <a:xfrm>
            <a:off x="457200" y="146304"/>
            <a:ext cx="3657600" cy="45720"/>
          </a:xfrm>
          <a:prstGeom prst="rect">
            <a:avLst/>
          </a:prstGeom>
          <a:solidFill>
            <a:srgbClr val="085CE5"/>
          </a:solidFill>
          <a:ln w="12700">
            <a:solidFill>
              <a:srgbClr val="085CE5"/>
            </a:solidFill>
            <a:prstDash val="solid"/>
          </a:ln>
        </p:spPr>
      </p:sp>
      <p:sp>
        <p:nvSpPr>
          <p:cNvPr id="3" name="Text 1"/>
          <p:cNvSpPr/>
          <p:nvPr/>
        </p:nvSpPr>
        <p:spPr>
          <a:xfrm>
            <a:off x="457200" y="246888"/>
            <a:ext cx="8229600" cy="548640"/>
          </a:xfrm>
          <a:prstGeom prst="rect">
            <a:avLst/>
          </a:prstGeom>
          <a:noFill/>
          <a:ln/>
        </p:spPr>
        <p:txBody>
          <a:bodyPr wrap="square" lIns="0" tIns="0" rIns="0" bIns="0" rtlCol="0" anchor="ctr"/>
          <a:lstStyle/>
          <a:p>
            <a:pPr indent="0" marL="0">
              <a:buNone/>
            </a:pPr>
            <a:r>
              <a:rPr lang="en-US" sz="2700" b="1" dirty="0">
                <a:solidFill>
                  <a:srgbClr val="FFFFFF"/>
                </a:solidFill>
                <a:latin typeface="Aptos Display" pitchFamily="34" charset="0"/>
                <a:ea typeface="Aptos Display" pitchFamily="34" charset="-122"/>
                <a:cs typeface="Aptos Display" pitchFamily="34" charset="-120"/>
              </a:rPr>
              <a:t>Log-Based CDC on SQL Server</a:t>
            </a:r>
            <a:endParaRPr lang="en-US" sz="2700" dirty="0"/>
          </a:p>
        </p:txBody>
      </p:sp>
      <p:sp>
        <p:nvSpPr>
          <p:cNvPr id="4" name="Text 2"/>
          <p:cNvSpPr/>
          <p:nvPr/>
        </p:nvSpPr>
        <p:spPr>
          <a:xfrm>
            <a:off x="457200" y="804672"/>
            <a:ext cx="8229600" cy="384048"/>
          </a:xfrm>
          <a:prstGeom prst="rect">
            <a:avLst/>
          </a:prstGeom>
          <a:noFill/>
          <a:ln/>
        </p:spPr>
        <p:txBody>
          <a:bodyPr wrap="square" lIns="0" tIns="0" rIns="0" bIns="0" rtlCol="0" anchor="ctr"/>
          <a:lstStyle/>
          <a:p>
            <a:pPr indent="0" marL="0">
              <a:buNone/>
            </a:pPr>
            <a:r>
              <a:rPr lang="en-US" sz="1300" dirty="0">
                <a:solidFill>
                  <a:srgbClr val="76DCFD"/>
                </a:solidFill>
                <a:latin typeface="Aptos" pitchFamily="34" charset="0"/>
                <a:ea typeface="Aptos" pitchFamily="34" charset="-122"/>
                <a:cs typeface="Aptos" pitchFamily="34" charset="-120"/>
              </a:rPr>
              <a:t>No additional load on production — SQL Server writes its transaction log regardless. CDC only reads what’s already there.</a:t>
            </a:r>
            <a:endParaRPr lang="en-US" sz="1300" dirty="0"/>
          </a:p>
        </p:txBody>
      </p:sp>
      <p:sp>
        <p:nvSpPr>
          <p:cNvPr id="5" name="Text 3"/>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6" name="Shape 4"/>
          <p:cNvSpPr/>
          <p:nvPr/>
        </p:nvSpPr>
        <p:spPr>
          <a:xfrm>
            <a:off x="320040" y="1325880"/>
            <a:ext cx="1920240" cy="3017520"/>
          </a:xfrm>
          <a:prstGeom prst="rect">
            <a:avLst/>
          </a:prstGeom>
          <a:solidFill>
            <a:srgbClr val="06185F"/>
          </a:solidFill>
          <a:ln w="12700">
            <a:solidFill>
              <a:srgbClr val="06185F"/>
            </a:solidFill>
            <a:prstDash val="solid"/>
          </a:ln>
          <a:effectLst>
            <a:outerShdw sx="100000" sy="100000" kx="0" ky="0" algn="bl" rotWithShape="0" blurRad="50800" dist="25400" dir="8100000">
              <a:srgbClr val="000000">
                <a:alpha val="13000"/>
              </a:srgbClr>
            </a:outerShdw>
          </a:effectLst>
        </p:spPr>
      </p:sp>
      <p:sp>
        <p:nvSpPr>
          <p:cNvPr id="7" name="Shape 5"/>
          <p:cNvSpPr/>
          <p:nvPr/>
        </p:nvSpPr>
        <p:spPr>
          <a:xfrm>
            <a:off x="320040" y="4270248"/>
            <a:ext cx="1920240" cy="73152"/>
          </a:xfrm>
          <a:prstGeom prst="rect">
            <a:avLst/>
          </a:prstGeom>
          <a:solidFill>
            <a:srgbClr val="085CE5"/>
          </a:solidFill>
          <a:ln w="12700">
            <a:solidFill>
              <a:srgbClr val="085CE5"/>
            </a:solidFill>
            <a:prstDash val="solid"/>
          </a:ln>
        </p:spPr>
      </p:sp>
      <p:sp>
        <p:nvSpPr>
          <p:cNvPr id="8" name="Text 6"/>
          <p:cNvSpPr/>
          <p:nvPr/>
        </p:nvSpPr>
        <p:spPr>
          <a:xfrm>
            <a:off x="393192" y="1508760"/>
            <a:ext cx="1773936" cy="1005840"/>
          </a:xfrm>
          <a:prstGeom prst="rect">
            <a:avLst/>
          </a:prstGeom>
          <a:noFill/>
          <a:ln/>
        </p:spPr>
        <p:txBody>
          <a:bodyPr wrap="square" lIns="0" tIns="0" rIns="0" bIns="0" rtlCol="0" anchor="ctr"/>
          <a:lstStyle/>
          <a:p>
            <a:pPr algn="ctr" indent="0" marL="0">
              <a:buNone/>
            </a:pPr>
            <a:r>
              <a:rPr lang="en-US" sz="4400" b="1" dirty="0">
                <a:solidFill>
                  <a:srgbClr val="085CE5"/>
                </a:solidFill>
                <a:latin typeface="Aptos Display" pitchFamily="34" charset="0"/>
                <a:ea typeface="Aptos Display" pitchFamily="34" charset="-122"/>
                <a:cs typeface="Aptos Display" pitchFamily="34" charset="-120"/>
              </a:rPr>
              <a:t>~0%</a:t>
            </a:r>
            <a:endParaRPr lang="en-US" sz="4400" dirty="0"/>
          </a:p>
        </p:txBody>
      </p:sp>
      <p:sp>
        <p:nvSpPr>
          <p:cNvPr id="9" name="Text 7"/>
          <p:cNvSpPr/>
          <p:nvPr/>
        </p:nvSpPr>
        <p:spPr>
          <a:xfrm>
            <a:off x="393192" y="2587752"/>
            <a:ext cx="1773936"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ptos Display" pitchFamily="34" charset="0"/>
                <a:ea typeface="Aptos Display" pitchFamily="34" charset="-122"/>
                <a:cs typeface="Aptos Display" pitchFamily="34" charset="-120"/>
              </a:rPr>
              <a:t>Additional load on production SQL Server</a:t>
            </a:r>
            <a:endParaRPr lang="en-US" sz="1200" dirty="0"/>
          </a:p>
        </p:txBody>
      </p:sp>
      <p:sp>
        <p:nvSpPr>
          <p:cNvPr id="10" name="Text 8"/>
          <p:cNvSpPr/>
          <p:nvPr/>
        </p:nvSpPr>
        <p:spPr>
          <a:xfrm>
            <a:off x="393192" y="3282696"/>
            <a:ext cx="1773936" cy="640080"/>
          </a:xfrm>
          <a:prstGeom prst="rect">
            <a:avLst/>
          </a:prstGeom>
          <a:noFill/>
          <a:ln/>
        </p:spPr>
        <p:txBody>
          <a:bodyPr wrap="square" lIns="0" tIns="0" rIns="0" bIns="0" rtlCol="0" anchor="ctr"/>
          <a:lstStyle/>
          <a:p>
            <a:pPr algn="ctr" indent="0" marL="0">
              <a:buNone/>
            </a:pPr>
            <a:r>
              <a:rPr lang="en-US" sz="1000" dirty="0">
                <a:solidFill>
                  <a:srgbClr val="B6BBC0"/>
                </a:solidFill>
                <a:latin typeface="Aptos" pitchFamily="34" charset="0"/>
                <a:ea typeface="Aptos" pitchFamily="34" charset="-122"/>
                <a:cs typeface="Aptos" pitchFamily="34" charset="-120"/>
              </a:rPr>
              <a:t>SQL Server writes the log regardless — CDC only reads it</a:t>
            </a:r>
            <a:endParaRPr lang="en-US" sz="1000" dirty="0"/>
          </a:p>
        </p:txBody>
      </p:sp>
      <p:sp>
        <p:nvSpPr>
          <p:cNvPr id="11" name="Shape 9"/>
          <p:cNvSpPr/>
          <p:nvPr/>
        </p:nvSpPr>
        <p:spPr>
          <a:xfrm>
            <a:off x="2441448" y="1325880"/>
            <a:ext cx="1920240" cy="3017520"/>
          </a:xfrm>
          <a:prstGeom prst="rect">
            <a:avLst/>
          </a:prstGeom>
          <a:solidFill>
            <a:srgbClr val="06185F"/>
          </a:solidFill>
          <a:ln w="12700">
            <a:solidFill>
              <a:srgbClr val="06185F"/>
            </a:solidFill>
            <a:prstDash val="solid"/>
          </a:ln>
          <a:effectLst>
            <a:outerShdw sx="100000" sy="100000" kx="0" ky="0" algn="bl" rotWithShape="0" blurRad="50800" dist="25400" dir="8100000">
              <a:srgbClr val="000000">
                <a:alpha val="13000"/>
              </a:srgbClr>
            </a:outerShdw>
          </a:effectLst>
        </p:spPr>
      </p:sp>
      <p:sp>
        <p:nvSpPr>
          <p:cNvPr id="12" name="Shape 10"/>
          <p:cNvSpPr/>
          <p:nvPr/>
        </p:nvSpPr>
        <p:spPr>
          <a:xfrm>
            <a:off x="2441448" y="4270248"/>
            <a:ext cx="1920240" cy="73152"/>
          </a:xfrm>
          <a:prstGeom prst="rect">
            <a:avLst/>
          </a:prstGeom>
          <a:solidFill>
            <a:srgbClr val="2E7D32"/>
          </a:solidFill>
          <a:ln w="12700">
            <a:solidFill>
              <a:srgbClr val="2E7D32"/>
            </a:solidFill>
            <a:prstDash val="solid"/>
          </a:ln>
        </p:spPr>
      </p:sp>
      <p:sp>
        <p:nvSpPr>
          <p:cNvPr id="13" name="Text 11"/>
          <p:cNvSpPr/>
          <p:nvPr/>
        </p:nvSpPr>
        <p:spPr>
          <a:xfrm>
            <a:off x="2514600" y="1508760"/>
            <a:ext cx="1773936" cy="1005840"/>
          </a:xfrm>
          <a:prstGeom prst="rect">
            <a:avLst/>
          </a:prstGeom>
          <a:noFill/>
          <a:ln/>
        </p:spPr>
        <p:txBody>
          <a:bodyPr wrap="square" lIns="0" tIns="0" rIns="0" bIns="0" rtlCol="0" anchor="ctr"/>
          <a:lstStyle/>
          <a:p>
            <a:pPr algn="ctr" indent="0" marL="0">
              <a:buNone/>
            </a:pPr>
            <a:r>
              <a:rPr lang="en-US" sz="4400" b="1" dirty="0">
                <a:solidFill>
                  <a:srgbClr val="2E7D32"/>
                </a:solidFill>
                <a:latin typeface="Aptos Display" pitchFamily="34" charset="0"/>
                <a:ea typeface="Aptos Display" pitchFamily="34" charset="-122"/>
                <a:cs typeface="Aptos Display" pitchFamily="34" charset="-120"/>
              </a:rPr>
              <a:t>Read</a:t>
            </a:r>
            <a:endParaRPr lang="en-US" sz="4400" dirty="0"/>
          </a:p>
          <a:p>
            <a:pPr algn="ctr" indent="0" marL="0">
              <a:buNone/>
            </a:pPr>
            <a:r>
              <a:rPr lang="en-US" sz="4400" b="1" dirty="0">
                <a:solidFill>
                  <a:srgbClr val="2E7D32"/>
                </a:solidFill>
                <a:latin typeface="Aptos Display" pitchFamily="34" charset="0"/>
                <a:ea typeface="Aptos Display" pitchFamily="34" charset="-122"/>
                <a:cs typeface="Aptos Display" pitchFamily="34" charset="-120"/>
              </a:rPr>
              <a:t>Only</a:t>
            </a:r>
            <a:endParaRPr lang="en-US" sz="4400" dirty="0"/>
          </a:p>
        </p:txBody>
      </p:sp>
      <p:sp>
        <p:nvSpPr>
          <p:cNvPr id="14" name="Text 12"/>
          <p:cNvSpPr/>
          <p:nvPr/>
        </p:nvSpPr>
        <p:spPr>
          <a:xfrm>
            <a:off x="2514600" y="2587752"/>
            <a:ext cx="1773936"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ptos Display" pitchFamily="34" charset="0"/>
                <a:ea typeface="Aptos Display" pitchFamily="34" charset="-122"/>
                <a:cs typeface="Aptos Display" pitchFamily="34" charset="-120"/>
              </a:rPr>
              <a:t>CDC's access model to source</a:t>
            </a:r>
            <a:endParaRPr lang="en-US" sz="1200" dirty="0"/>
          </a:p>
        </p:txBody>
      </p:sp>
      <p:sp>
        <p:nvSpPr>
          <p:cNvPr id="15" name="Text 13"/>
          <p:cNvSpPr/>
          <p:nvPr/>
        </p:nvSpPr>
        <p:spPr>
          <a:xfrm>
            <a:off x="2514600" y="3282696"/>
            <a:ext cx="1773936" cy="640080"/>
          </a:xfrm>
          <a:prstGeom prst="rect">
            <a:avLst/>
          </a:prstGeom>
          <a:noFill/>
          <a:ln/>
        </p:spPr>
        <p:txBody>
          <a:bodyPr wrap="square" lIns="0" tIns="0" rIns="0" bIns="0" rtlCol="0" anchor="ctr"/>
          <a:lstStyle/>
          <a:p>
            <a:pPr algn="ctr" indent="0" marL="0">
              <a:buNone/>
            </a:pPr>
            <a:r>
              <a:rPr lang="en-US" sz="1000" dirty="0">
                <a:solidFill>
                  <a:srgbClr val="B6BBC0"/>
                </a:solidFill>
                <a:latin typeface="Aptos" pitchFamily="34" charset="0"/>
                <a:ea typeface="Aptos" pitchFamily="34" charset="-122"/>
                <a:cs typeface="Aptos" pitchFamily="34" charset="-120"/>
              </a:rPr>
              <a:t>No writes to SQL Server application tables</a:t>
            </a:r>
            <a:endParaRPr lang="en-US" sz="1000" dirty="0"/>
          </a:p>
        </p:txBody>
      </p:sp>
      <p:sp>
        <p:nvSpPr>
          <p:cNvPr id="16" name="Shape 14"/>
          <p:cNvSpPr/>
          <p:nvPr/>
        </p:nvSpPr>
        <p:spPr>
          <a:xfrm>
            <a:off x="4562856" y="1325880"/>
            <a:ext cx="1920240" cy="3017520"/>
          </a:xfrm>
          <a:prstGeom prst="rect">
            <a:avLst/>
          </a:prstGeom>
          <a:solidFill>
            <a:srgbClr val="06185F"/>
          </a:solidFill>
          <a:ln w="12700">
            <a:solidFill>
              <a:srgbClr val="06185F"/>
            </a:solidFill>
            <a:prstDash val="solid"/>
          </a:ln>
          <a:effectLst>
            <a:outerShdw sx="100000" sy="100000" kx="0" ky="0" algn="bl" rotWithShape="0" blurRad="50800" dist="25400" dir="8100000">
              <a:srgbClr val="000000">
                <a:alpha val="13000"/>
              </a:srgbClr>
            </a:outerShdw>
          </a:effectLst>
        </p:spPr>
      </p:sp>
      <p:sp>
        <p:nvSpPr>
          <p:cNvPr id="17" name="Shape 15"/>
          <p:cNvSpPr/>
          <p:nvPr/>
        </p:nvSpPr>
        <p:spPr>
          <a:xfrm>
            <a:off x="4562856" y="4270248"/>
            <a:ext cx="1920240" cy="73152"/>
          </a:xfrm>
          <a:prstGeom prst="rect">
            <a:avLst/>
          </a:prstGeom>
          <a:solidFill>
            <a:srgbClr val="6A1B9A"/>
          </a:solidFill>
          <a:ln w="12700">
            <a:solidFill>
              <a:srgbClr val="6A1B9A"/>
            </a:solidFill>
            <a:prstDash val="solid"/>
          </a:ln>
        </p:spPr>
      </p:sp>
      <p:sp>
        <p:nvSpPr>
          <p:cNvPr id="18" name="Text 16"/>
          <p:cNvSpPr/>
          <p:nvPr/>
        </p:nvSpPr>
        <p:spPr>
          <a:xfrm>
            <a:off x="4636008" y="1508760"/>
            <a:ext cx="1773936" cy="1005840"/>
          </a:xfrm>
          <a:prstGeom prst="rect">
            <a:avLst/>
          </a:prstGeom>
          <a:noFill/>
          <a:ln/>
        </p:spPr>
        <p:txBody>
          <a:bodyPr wrap="square" lIns="0" tIns="0" rIns="0" bIns="0" rtlCol="0" anchor="ctr"/>
          <a:lstStyle/>
          <a:p>
            <a:pPr algn="ctr" indent="0" marL="0">
              <a:buNone/>
            </a:pPr>
            <a:r>
              <a:rPr lang="en-US" sz="4400" b="1" dirty="0">
                <a:solidFill>
                  <a:srgbClr val="6A1B9A"/>
                </a:solidFill>
                <a:latin typeface="Aptos Display" pitchFamily="34" charset="0"/>
                <a:ea typeface="Aptos Display" pitchFamily="34" charset="-122"/>
                <a:cs typeface="Aptos Display" pitchFamily="34" charset="-120"/>
              </a:rPr>
              <a:t>Zero</a:t>
            </a:r>
            <a:endParaRPr lang="en-US" sz="4400" dirty="0"/>
          </a:p>
        </p:txBody>
      </p:sp>
      <p:sp>
        <p:nvSpPr>
          <p:cNvPr id="19" name="Text 17"/>
          <p:cNvSpPr/>
          <p:nvPr/>
        </p:nvSpPr>
        <p:spPr>
          <a:xfrm>
            <a:off x="4636008" y="2587752"/>
            <a:ext cx="1773936"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ptos Display" pitchFamily="34" charset="0"/>
                <a:ea typeface="Aptos Display" pitchFamily="34" charset="-122"/>
                <a:cs typeface="Aptos Display" pitchFamily="34" charset="-120"/>
              </a:rPr>
              <a:t>Application code changes required</a:t>
            </a:r>
            <a:endParaRPr lang="en-US" sz="1200" dirty="0"/>
          </a:p>
        </p:txBody>
      </p:sp>
      <p:sp>
        <p:nvSpPr>
          <p:cNvPr id="20" name="Text 18"/>
          <p:cNvSpPr/>
          <p:nvPr/>
        </p:nvSpPr>
        <p:spPr>
          <a:xfrm>
            <a:off x="4636008" y="3282696"/>
            <a:ext cx="1773936" cy="640080"/>
          </a:xfrm>
          <a:prstGeom prst="rect">
            <a:avLst/>
          </a:prstGeom>
          <a:noFill/>
          <a:ln/>
        </p:spPr>
        <p:txBody>
          <a:bodyPr wrap="square" lIns="0" tIns="0" rIns="0" bIns="0" rtlCol="0" anchor="ctr"/>
          <a:lstStyle/>
          <a:p>
            <a:pPr algn="ctr" indent="0" marL="0">
              <a:buNone/>
            </a:pPr>
            <a:r>
              <a:rPr lang="en-US" sz="1000" dirty="0">
                <a:solidFill>
                  <a:srgbClr val="B6BBC0"/>
                </a:solidFill>
                <a:latin typeface="Aptos" pitchFamily="34" charset="0"/>
                <a:ea typeface="Aptos" pitchFamily="34" charset="-122"/>
                <a:cs typeface="Aptos" pitchFamily="34" charset="-120"/>
              </a:rPr>
              <a:t>Transparent to source applications and connections</a:t>
            </a:r>
            <a:endParaRPr lang="en-US" sz="1000" dirty="0"/>
          </a:p>
        </p:txBody>
      </p:sp>
      <p:sp>
        <p:nvSpPr>
          <p:cNvPr id="21" name="Shape 19"/>
          <p:cNvSpPr/>
          <p:nvPr/>
        </p:nvSpPr>
        <p:spPr>
          <a:xfrm>
            <a:off x="6684264" y="1325880"/>
            <a:ext cx="1920240" cy="3017520"/>
          </a:xfrm>
          <a:prstGeom prst="rect">
            <a:avLst/>
          </a:prstGeom>
          <a:solidFill>
            <a:srgbClr val="06185F"/>
          </a:solidFill>
          <a:ln w="12700">
            <a:solidFill>
              <a:srgbClr val="06185F"/>
            </a:solidFill>
            <a:prstDash val="solid"/>
          </a:ln>
          <a:effectLst>
            <a:outerShdw sx="100000" sy="100000" kx="0" ky="0" algn="bl" rotWithShape="0" blurRad="50800" dist="25400" dir="8100000">
              <a:srgbClr val="000000">
                <a:alpha val="13000"/>
              </a:srgbClr>
            </a:outerShdw>
          </a:effectLst>
        </p:spPr>
      </p:sp>
      <p:sp>
        <p:nvSpPr>
          <p:cNvPr id="22" name="Shape 20"/>
          <p:cNvSpPr/>
          <p:nvPr/>
        </p:nvSpPr>
        <p:spPr>
          <a:xfrm>
            <a:off x="6684264" y="4270248"/>
            <a:ext cx="1920240" cy="73152"/>
          </a:xfrm>
          <a:prstGeom prst="rect">
            <a:avLst/>
          </a:prstGeom>
          <a:solidFill>
            <a:srgbClr val="E65100"/>
          </a:solidFill>
          <a:ln w="12700">
            <a:solidFill>
              <a:srgbClr val="E65100"/>
            </a:solidFill>
            <a:prstDash val="solid"/>
          </a:ln>
        </p:spPr>
      </p:sp>
      <p:sp>
        <p:nvSpPr>
          <p:cNvPr id="23" name="Text 21"/>
          <p:cNvSpPr/>
          <p:nvPr/>
        </p:nvSpPr>
        <p:spPr>
          <a:xfrm>
            <a:off x="6757416" y="1508760"/>
            <a:ext cx="1773936" cy="1005840"/>
          </a:xfrm>
          <a:prstGeom prst="rect">
            <a:avLst/>
          </a:prstGeom>
          <a:noFill/>
          <a:ln/>
        </p:spPr>
        <p:txBody>
          <a:bodyPr wrap="square" lIns="0" tIns="0" rIns="0" bIns="0" rtlCol="0" anchor="ctr"/>
          <a:lstStyle/>
          <a:p>
            <a:pPr algn="ctr" indent="0" marL="0">
              <a:buNone/>
            </a:pPr>
            <a:r>
              <a:rPr lang="en-US" sz="4400" b="1" dirty="0">
                <a:solidFill>
                  <a:srgbClr val="E65100"/>
                </a:solidFill>
                <a:latin typeface="Aptos Display" pitchFamily="34" charset="0"/>
                <a:ea typeface="Aptos Display" pitchFamily="34" charset="-122"/>
                <a:cs typeface="Aptos Display" pitchFamily="34" charset="-120"/>
              </a:rPr>
              <a:t>None</a:t>
            </a:r>
            <a:endParaRPr lang="en-US" sz="4400" dirty="0"/>
          </a:p>
        </p:txBody>
      </p:sp>
      <p:sp>
        <p:nvSpPr>
          <p:cNvPr id="24" name="Text 22"/>
          <p:cNvSpPr/>
          <p:nvPr/>
        </p:nvSpPr>
        <p:spPr>
          <a:xfrm>
            <a:off x="6757416" y="2587752"/>
            <a:ext cx="1773936"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ptos Display" pitchFamily="34" charset="0"/>
                <a:ea typeface="Aptos Display" pitchFamily="34" charset="-122"/>
                <a:cs typeface="Aptos Display" pitchFamily="34" charset="-120"/>
              </a:rPr>
              <a:t>Source schema changes needed</a:t>
            </a:r>
            <a:endParaRPr lang="en-US" sz="1200" dirty="0"/>
          </a:p>
        </p:txBody>
      </p:sp>
      <p:sp>
        <p:nvSpPr>
          <p:cNvPr id="25" name="Text 23"/>
          <p:cNvSpPr/>
          <p:nvPr/>
        </p:nvSpPr>
        <p:spPr>
          <a:xfrm>
            <a:off x="6757416" y="3282696"/>
            <a:ext cx="1773936" cy="640080"/>
          </a:xfrm>
          <a:prstGeom prst="rect">
            <a:avLst/>
          </a:prstGeom>
          <a:noFill/>
          <a:ln/>
        </p:spPr>
        <p:txBody>
          <a:bodyPr wrap="square" lIns="0" tIns="0" rIns="0" bIns="0" rtlCol="0" anchor="ctr"/>
          <a:lstStyle/>
          <a:p>
            <a:pPr algn="ctr" indent="0" marL="0">
              <a:buNone/>
            </a:pPr>
            <a:r>
              <a:rPr lang="en-US" sz="1000" dirty="0">
                <a:solidFill>
                  <a:srgbClr val="B6BBC0"/>
                </a:solidFill>
                <a:latin typeface="Aptos" pitchFamily="34" charset="0"/>
                <a:ea typeface="Aptos" pitchFamily="34" charset="-122"/>
                <a:cs typeface="Aptos" pitchFamily="34" charset="-120"/>
              </a:rPr>
              <a:t>CDC operates on existing SQL Server table structures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How Log-Based CDC Works</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Shape 3"/>
          <p:cNvSpPr/>
          <p:nvPr/>
        </p:nvSpPr>
        <p:spPr>
          <a:xfrm>
            <a:off x="137160" y="1737360"/>
            <a:ext cx="1417320" cy="822960"/>
          </a:xfrm>
          <a:prstGeom prst="rect">
            <a:avLst/>
          </a:prstGeom>
          <a:solidFill>
            <a:srgbClr val="37474F"/>
          </a:solidFill>
          <a:ln w="12700">
            <a:solidFill>
              <a:srgbClr val="37474F"/>
            </a:solidFill>
            <a:prstDash val="solid"/>
          </a:ln>
          <a:effectLst>
            <a:outerShdw sx="100000" sy="100000" kx="0" ky="0" algn="bl" rotWithShape="0" blurRad="50800" dist="25400" dir="8100000">
              <a:srgbClr val="000000">
                <a:alpha val="13000"/>
              </a:srgbClr>
            </a:outerShdw>
          </a:effectLst>
        </p:spPr>
      </p:sp>
      <p:sp>
        <p:nvSpPr>
          <p:cNvPr id="6" name="Text 4"/>
          <p:cNvSpPr/>
          <p:nvPr/>
        </p:nvSpPr>
        <p:spPr>
          <a:xfrm>
            <a:off x="137160" y="1801368"/>
            <a:ext cx="141732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Display" pitchFamily="34" charset="0"/>
                <a:ea typeface="Aptos Display" pitchFamily="34" charset="-122"/>
                <a:cs typeface="Aptos Display" pitchFamily="34" charset="-120"/>
              </a:rPr>
              <a:t>Source</a:t>
            </a:r>
            <a:endParaRPr lang="en-US" sz="1100" dirty="0"/>
          </a:p>
          <a:p>
            <a:pPr algn="ctr" indent="0" marL="0">
              <a:buNone/>
            </a:pPr>
            <a:r>
              <a:rPr lang="en-US" sz="1100" b="1" dirty="0">
                <a:solidFill>
                  <a:srgbClr val="FFFFFF"/>
                </a:solidFill>
                <a:latin typeface="Aptos Display" pitchFamily="34" charset="0"/>
                <a:ea typeface="Aptos Display" pitchFamily="34" charset="-122"/>
                <a:cs typeface="Aptos Display" pitchFamily="34" charset="-120"/>
              </a:rPr>
              <a:t>Application</a:t>
            </a:r>
            <a:endParaRPr lang="en-US" sz="1100" dirty="0"/>
          </a:p>
        </p:txBody>
      </p:sp>
      <p:sp>
        <p:nvSpPr>
          <p:cNvPr id="7" name="Shape 5"/>
          <p:cNvSpPr/>
          <p:nvPr/>
        </p:nvSpPr>
        <p:spPr>
          <a:xfrm>
            <a:off x="1874520" y="1737360"/>
            <a:ext cx="1463040" cy="822960"/>
          </a:xfrm>
          <a:prstGeom prst="rect">
            <a:avLst/>
          </a:prstGeom>
          <a:solidFill>
            <a:srgbClr val="06185F"/>
          </a:solidFill>
          <a:ln w="12700">
            <a:solidFill>
              <a:srgbClr val="06185F"/>
            </a:solidFill>
            <a:prstDash val="solid"/>
          </a:ln>
          <a:effectLst>
            <a:outerShdw sx="100000" sy="100000" kx="0" ky="0" algn="bl" rotWithShape="0" blurRad="50800" dist="25400" dir="8100000">
              <a:srgbClr val="000000">
                <a:alpha val="13000"/>
              </a:srgbClr>
            </a:outerShdw>
          </a:effectLst>
        </p:spPr>
      </p:sp>
      <p:sp>
        <p:nvSpPr>
          <p:cNvPr id="8" name="Text 6"/>
          <p:cNvSpPr/>
          <p:nvPr/>
        </p:nvSpPr>
        <p:spPr>
          <a:xfrm>
            <a:off x="1874520" y="1801368"/>
            <a:ext cx="146304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Display" pitchFamily="34" charset="0"/>
                <a:ea typeface="Aptos Display" pitchFamily="34" charset="-122"/>
                <a:cs typeface="Aptos Display" pitchFamily="34" charset="-120"/>
              </a:rPr>
              <a:t>SQL Server</a:t>
            </a:r>
            <a:endParaRPr lang="en-US" sz="1100" dirty="0"/>
          </a:p>
        </p:txBody>
      </p:sp>
      <p:sp>
        <p:nvSpPr>
          <p:cNvPr id="9" name="Text 7"/>
          <p:cNvSpPr/>
          <p:nvPr/>
        </p:nvSpPr>
        <p:spPr>
          <a:xfrm>
            <a:off x="1874520" y="2267712"/>
            <a:ext cx="1463040" cy="256032"/>
          </a:xfrm>
          <a:prstGeom prst="rect">
            <a:avLst/>
          </a:prstGeom>
          <a:noFill/>
          <a:ln/>
        </p:spPr>
        <p:txBody>
          <a:bodyPr wrap="square" lIns="0" tIns="0" rIns="0" bIns="0" rtlCol="0" anchor="ctr"/>
          <a:lstStyle/>
          <a:p>
            <a:pPr algn="ctr" indent="0" marL="0">
              <a:buNone/>
            </a:pPr>
            <a:r>
              <a:rPr lang="en-US" sz="850" dirty="0">
                <a:solidFill>
                  <a:srgbClr val="E7ECF0"/>
                </a:solidFill>
                <a:latin typeface="Aptos" pitchFamily="34" charset="0"/>
                <a:ea typeface="Aptos" pitchFamily="34" charset="-122"/>
                <a:cs typeface="Aptos" pitchFamily="34" charset="-120"/>
              </a:rPr>
              <a:t>Database engine</a:t>
            </a:r>
            <a:endParaRPr lang="en-US" sz="850" dirty="0"/>
          </a:p>
        </p:txBody>
      </p:sp>
      <p:sp>
        <p:nvSpPr>
          <p:cNvPr id="10" name="Shape 8"/>
          <p:cNvSpPr/>
          <p:nvPr/>
        </p:nvSpPr>
        <p:spPr>
          <a:xfrm>
            <a:off x="3657600" y="1737360"/>
            <a:ext cx="1645920" cy="822960"/>
          </a:xfrm>
          <a:prstGeom prst="rect">
            <a:avLst/>
          </a:prstGeom>
          <a:solidFill>
            <a:srgbClr val="06185F"/>
          </a:solidFill>
          <a:ln w="12700">
            <a:solidFill>
              <a:srgbClr val="06185F"/>
            </a:solidFill>
            <a:prstDash val="solid"/>
          </a:ln>
          <a:effectLst>
            <a:outerShdw sx="100000" sy="100000" kx="0" ky="0" algn="bl" rotWithShape="0" blurRad="50800" dist="25400" dir="8100000">
              <a:srgbClr val="000000">
                <a:alpha val="13000"/>
              </a:srgbClr>
            </a:outerShdw>
          </a:effectLst>
        </p:spPr>
      </p:sp>
      <p:sp>
        <p:nvSpPr>
          <p:cNvPr id="11" name="Text 9"/>
          <p:cNvSpPr/>
          <p:nvPr/>
        </p:nvSpPr>
        <p:spPr>
          <a:xfrm>
            <a:off x="3657600" y="1801368"/>
            <a:ext cx="164592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Display" pitchFamily="34" charset="0"/>
                <a:ea typeface="Aptos Display" pitchFamily="34" charset="-122"/>
                <a:cs typeface="Aptos Display" pitchFamily="34" charset="-120"/>
              </a:rPr>
              <a:t>Transaction</a:t>
            </a:r>
            <a:endParaRPr lang="en-US" sz="1100" dirty="0"/>
          </a:p>
          <a:p>
            <a:pPr algn="ctr" indent="0" marL="0">
              <a:buNone/>
            </a:pPr>
            <a:r>
              <a:rPr lang="en-US" sz="1100" b="1" dirty="0">
                <a:solidFill>
                  <a:srgbClr val="FFFFFF"/>
                </a:solidFill>
                <a:latin typeface="Aptos Display" pitchFamily="34" charset="0"/>
                <a:ea typeface="Aptos Display" pitchFamily="34" charset="-122"/>
                <a:cs typeface="Aptos Display" pitchFamily="34" charset="-120"/>
              </a:rPr>
              <a:t>Log</a:t>
            </a:r>
            <a:endParaRPr lang="en-US" sz="1100" dirty="0"/>
          </a:p>
        </p:txBody>
      </p:sp>
      <p:sp>
        <p:nvSpPr>
          <p:cNvPr id="12" name="Text 10"/>
          <p:cNvSpPr/>
          <p:nvPr/>
        </p:nvSpPr>
        <p:spPr>
          <a:xfrm>
            <a:off x="3657600" y="2267712"/>
            <a:ext cx="1645920" cy="256032"/>
          </a:xfrm>
          <a:prstGeom prst="rect">
            <a:avLst/>
          </a:prstGeom>
          <a:noFill/>
          <a:ln/>
        </p:spPr>
        <p:txBody>
          <a:bodyPr wrap="square" lIns="0" tIns="0" rIns="0" bIns="0" rtlCol="0" anchor="ctr"/>
          <a:lstStyle/>
          <a:p>
            <a:pPr algn="ctr" indent="0" marL="0">
              <a:buNone/>
            </a:pPr>
            <a:r>
              <a:rPr lang="en-US" sz="850" dirty="0">
                <a:solidFill>
                  <a:srgbClr val="E7ECF0"/>
                </a:solidFill>
                <a:latin typeface="Aptos" pitchFamily="34" charset="0"/>
                <a:ea typeface="Aptos" pitchFamily="34" charset="-122"/>
                <a:cs typeface="Aptos" pitchFamily="34" charset="-120"/>
              </a:rPr>
              <a:t>Written regardless of CDC</a:t>
            </a:r>
            <a:endParaRPr lang="en-US" sz="850" dirty="0"/>
          </a:p>
        </p:txBody>
      </p:sp>
      <p:sp>
        <p:nvSpPr>
          <p:cNvPr id="13" name="Shape 11"/>
          <p:cNvSpPr/>
          <p:nvPr/>
        </p:nvSpPr>
        <p:spPr>
          <a:xfrm>
            <a:off x="5623560" y="1737360"/>
            <a:ext cx="1600200" cy="822960"/>
          </a:xfrm>
          <a:prstGeom prst="rect">
            <a:avLst/>
          </a:prstGeom>
          <a:solidFill>
            <a:srgbClr val="085CE5"/>
          </a:solidFill>
          <a:ln w="12700">
            <a:solidFill>
              <a:srgbClr val="085CE5"/>
            </a:solidFill>
            <a:prstDash val="solid"/>
          </a:ln>
          <a:effectLst>
            <a:outerShdw sx="100000" sy="100000" kx="0" ky="0" algn="bl" rotWithShape="0" blurRad="50800" dist="25400" dir="8100000">
              <a:srgbClr val="000000">
                <a:alpha val="13000"/>
              </a:srgbClr>
            </a:outerShdw>
          </a:effectLst>
        </p:spPr>
      </p:sp>
      <p:sp>
        <p:nvSpPr>
          <p:cNvPr id="14" name="Text 12"/>
          <p:cNvSpPr/>
          <p:nvPr/>
        </p:nvSpPr>
        <p:spPr>
          <a:xfrm>
            <a:off x="5623560" y="1801368"/>
            <a:ext cx="160020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Display" pitchFamily="34" charset="0"/>
                <a:ea typeface="Aptos Display" pitchFamily="34" charset="-122"/>
                <a:cs typeface="Aptos Display" pitchFamily="34" charset="-120"/>
              </a:rPr>
              <a:t>CDC Reader</a:t>
            </a:r>
            <a:endParaRPr lang="en-US" sz="1100" dirty="0"/>
          </a:p>
        </p:txBody>
      </p:sp>
      <p:sp>
        <p:nvSpPr>
          <p:cNvPr id="15" name="Text 13"/>
          <p:cNvSpPr/>
          <p:nvPr/>
        </p:nvSpPr>
        <p:spPr>
          <a:xfrm>
            <a:off x="5623560" y="2267712"/>
            <a:ext cx="1600200" cy="256032"/>
          </a:xfrm>
          <a:prstGeom prst="rect">
            <a:avLst/>
          </a:prstGeom>
          <a:noFill/>
          <a:ln/>
        </p:spPr>
        <p:txBody>
          <a:bodyPr wrap="square" lIns="0" tIns="0" rIns="0" bIns="0" rtlCol="0" anchor="ctr"/>
          <a:lstStyle/>
          <a:p>
            <a:pPr algn="ctr" indent="0" marL="0">
              <a:buNone/>
            </a:pPr>
            <a:r>
              <a:rPr lang="en-US" sz="850" dirty="0">
                <a:solidFill>
                  <a:srgbClr val="E7ECF0"/>
                </a:solidFill>
                <a:latin typeface="Aptos" pitchFamily="34" charset="0"/>
                <a:ea typeface="Aptos" pitchFamily="34" charset="-122"/>
                <a:cs typeface="Aptos" pitchFamily="34" charset="-120"/>
              </a:rPr>
              <a:t>Reads log non-invasively</a:t>
            </a:r>
            <a:endParaRPr lang="en-US" sz="850" dirty="0"/>
          </a:p>
        </p:txBody>
      </p:sp>
      <p:sp>
        <p:nvSpPr>
          <p:cNvPr id="16" name="Shape 14"/>
          <p:cNvSpPr/>
          <p:nvPr/>
        </p:nvSpPr>
        <p:spPr>
          <a:xfrm>
            <a:off x="7543800" y="1737360"/>
            <a:ext cx="1371600" cy="822960"/>
          </a:xfrm>
          <a:prstGeom prst="rect">
            <a:avLst/>
          </a:prstGeom>
          <a:solidFill>
            <a:srgbClr val="2E7D32"/>
          </a:solidFill>
          <a:ln w="12700">
            <a:solidFill>
              <a:srgbClr val="2E7D32"/>
            </a:solidFill>
            <a:prstDash val="solid"/>
          </a:ln>
          <a:effectLst>
            <a:outerShdw sx="100000" sy="100000" kx="0" ky="0" algn="bl" rotWithShape="0" blurRad="50800" dist="25400" dir="8100000">
              <a:srgbClr val="000000">
                <a:alpha val="13000"/>
              </a:srgbClr>
            </a:outerShdw>
          </a:effectLst>
        </p:spPr>
      </p:sp>
      <p:sp>
        <p:nvSpPr>
          <p:cNvPr id="17" name="Text 15"/>
          <p:cNvSpPr/>
          <p:nvPr/>
        </p:nvSpPr>
        <p:spPr>
          <a:xfrm>
            <a:off x="7543800" y="1801368"/>
            <a:ext cx="137160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Display" pitchFamily="34" charset="0"/>
                <a:ea typeface="Aptos Display" pitchFamily="34" charset="-122"/>
                <a:cs typeface="Aptos Display" pitchFamily="34" charset="-120"/>
              </a:rPr>
              <a:t>Targets</a:t>
            </a:r>
            <a:endParaRPr lang="en-US" sz="1100" dirty="0"/>
          </a:p>
        </p:txBody>
      </p:sp>
      <p:sp>
        <p:nvSpPr>
          <p:cNvPr id="18" name="Text 16"/>
          <p:cNvSpPr/>
          <p:nvPr/>
        </p:nvSpPr>
        <p:spPr>
          <a:xfrm>
            <a:off x="7543800" y="2267712"/>
            <a:ext cx="1371600" cy="256032"/>
          </a:xfrm>
          <a:prstGeom prst="rect">
            <a:avLst/>
          </a:prstGeom>
          <a:noFill/>
          <a:ln/>
        </p:spPr>
        <p:txBody>
          <a:bodyPr wrap="square" lIns="0" tIns="0" rIns="0" bIns="0" rtlCol="0" anchor="ctr"/>
          <a:lstStyle/>
          <a:p>
            <a:pPr algn="ctr" indent="0" marL="0">
              <a:buNone/>
            </a:pPr>
            <a:r>
              <a:rPr lang="en-US" sz="850" dirty="0">
                <a:solidFill>
                  <a:srgbClr val="E7ECF0"/>
                </a:solidFill>
                <a:latin typeface="Aptos" pitchFamily="34" charset="0"/>
                <a:ea typeface="Aptos" pitchFamily="34" charset="-122"/>
                <a:cs typeface="Aptos" pitchFamily="34" charset="-120"/>
              </a:rPr>
              <a:t>DW / Kafka / Apps</a:t>
            </a:r>
            <a:endParaRPr lang="en-US" sz="850" dirty="0"/>
          </a:p>
        </p:txBody>
      </p:sp>
      <p:sp>
        <p:nvSpPr>
          <p:cNvPr id="19" name="Shape 17"/>
          <p:cNvSpPr/>
          <p:nvPr/>
        </p:nvSpPr>
        <p:spPr>
          <a:xfrm>
            <a:off x="1554480" y="2148840"/>
            <a:ext cx="320040" cy="0"/>
          </a:xfrm>
          <a:prstGeom prst="line">
            <a:avLst/>
          </a:prstGeom>
          <a:noFill/>
          <a:ln w="25400">
            <a:solidFill>
              <a:srgbClr val="B6BBC0"/>
            </a:solidFill>
            <a:prstDash val="solid"/>
            <a:tailEnd type="arrow"/>
          </a:ln>
        </p:spPr>
      </p:sp>
      <p:sp>
        <p:nvSpPr>
          <p:cNvPr id="20" name="Shape 18"/>
          <p:cNvSpPr/>
          <p:nvPr/>
        </p:nvSpPr>
        <p:spPr>
          <a:xfrm>
            <a:off x="3337560" y="2148840"/>
            <a:ext cx="320040" cy="0"/>
          </a:xfrm>
          <a:prstGeom prst="line">
            <a:avLst/>
          </a:prstGeom>
          <a:noFill/>
          <a:ln w="25400">
            <a:solidFill>
              <a:srgbClr val="B6BBC0"/>
            </a:solidFill>
            <a:prstDash val="solid"/>
            <a:tailEnd type="arrow"/>
          </a:ln>
        </p:spPr>
      </p:sp>
      <p:sp>
        <p:nvSpPr>
          <p:cNvPr id="21" name="Shape 19"/>
          <p:cNvSpPr/>
          <p:nvPr/>
        </p:nvSpPr>
        <p:spPr>
          <a:xfrm>
            <a:off x="5303520" y="2148840"/>
            <a:ext cx="320040" cy="0"/>
          </a:xfrm>
          <a:prstGeom prst="line">
            <a:avLst/>
          </a:prstGeom>
          <a:noFill/>
          <a:ln w="25400">
            <a:solidFill>
              <a:srgbClr val="B6BBC0"/>
            </a:solidFill>
            <a:prstDash val="solid"/>
            <a:tailEnd type="arrow"/>
          </a:ln>
        </p:spPr>
      </p:sp>
      <p:sp>
        <p:nvSpPr>
          <p:cNvPr id="22" name="Shape 20"/>
          <p:cNvSpPr/>
          <p:nvPr/>
        </p:nvSpPr>
        <p:spPr>
          <a:xfrm>
            <a:off x="7223760" y="2148840"/>
            <a:ext cx="320040" cy="0"/>
          </a:xfrm>
          <a:prstGeom prst="line">
            <a:avLst/>
          </a:prstGeom>
          <a:noFill/>
          <a:ln w="25400">
            <a:solidFill>
              <a:srgbClr val="B6BBC0"/>
            </a:solidFill>
            <a:prstDash val="solid"/>
            <a:tailEnd type="arrow"/>
          </a:ln>
        </p:spPr>
      </p:sp>
      <p:sp>
        <p:nvSpPr>
          <p:cNvPr id="23" name="Text 21"/>
          <p:cNvSpPr/>
          <p:nvPr/>
        </p:nvSpPr>
        <p:spPr>
          <a:xfrm>
            <a:off x="1444752" y="1261872"/>
            <a:ext cx="548640" cy="457200"/>
          </a:xfrm>
          <a:prstGeom prst="rect">
            <a:avLst/>
          </a:prstGeom>
          <a:noFill/>
          <a:ln/>
        </p:spPr>
        <p:txBody>
          <a:bodyPr wrap="square" lIns="0" tIns="0" rIns="0" bIns="0" rtlCol="0" anchor="ctr"/>
          <a:lstStyle/>
          <a:p>
            <a:pPr algn="ctr" indent="0" marL="0">
              <a:buNone/>
            </a:pPr>
            <a:r>
              <a:rPr lang="en-US" sz="800" i="1" dirty="0">
                <a:solidFill>
                  <a:srgbClr val="B6BBC0"/>
                </a:solidFill>
                <a:latin typeface="Aptos" pitchFamily="34" charset="0"/>
                <a:ea typeface="Aptos" pitchFamily="34" charset="-122"/>
                <a:cs typeface="Aptos" pitchFamily="34" charset="-120"/>
              </a:rPr>
              <a:t>writes</a:t>
            </a:r>
            <a:endParaRPr lang="en-US" sz="800" dirty="0"/>
          </a:p>
          <a:p>
            <a:pPr algn="ctr" indent="0" marL="0">
              <a:buNone/>
            </a:pPr>
            <a:r>
              <a:rPr lang="en-US" sz="800" i="1" dirty="0">
                <a:solidFill>
                  <a:srgbClr val="B6BBC0"/>
                </a:solidFill>
                <a:latin typeface="Aptos" pitchFamily="34" charset="0"/>
                <a:ea typeface="Aptos" pitchFamily="34" charset="-122"/>
                <a:cs typeface="Aptos" pitchFamily="34" charset="-120"/>
              </a:rPr>
              <a:t>transactions</a:t>
            </a:r>
            <a:endParaRPr lang="en-US" sz="800" dirty="0"/>
          </a:p>
        </p:txBody>
      </p:sp>
      <p:sp>
        <p:nvSpPr>
          <p:cNvPr id="24" name="Text 22"/>
          <p:cNvSpPr/>
          <p:nvPr/>
        </p:nvSpPr>
        <p:spPr>
          <a:xfrm>
            <a:off x="3246120" y="1261872"/>
            <a:ext cx="548640" cy="457200"/>
          </a:xfrm>
          <a:prstGeom prst="rect">
            <a:avLst/>
          </a:prstGeom>
          <a:noFill/>
          <a:ln/>
        </p:spPr>
        <p:txBody>
          <a:bodyPr wrap="square" lIns="0" tIns="0" rIns="0" bIns="0" rtlCol="0" anchor="ctr"/>
          <a:lstStyle/>
          <a:p>
            <a:pPr algn="ctr" indent="0" marL="0">
              <a:buNone/>
            </a:pPr>
            <a:r>
              <a:rPr lang="en-US" sz="800" i="1" dirty="0">
                <a:solidFill>
                  <a:srgbClr val="B6BBC0"/>
                </a:solidFill>
                <a:latin typeface="Aptos" pitchFamily="34" charset="0"/>
                <a:ea typeface="Aptos" pitchFamily="34" charset="-122"/>
                <a:cs typeface="Aptos" pitchFamily="34" charset="-120"/>
              </a:rPr>
              <a:t>already exists</a:t>
            </a:r>
            <a:endParaRPr lang="en-US" sz="800" dirty="0"/>
          </a:p>
          <a:p>
            <a:pPr algn="ctr" indent="0" marL="0">
              <a:buNone/>
            </a:pPr>
            <a:r>
              <a:rPr lang="en-US" sz="800" i="1" dirty="0">
                <a:solidFill>
                  <a:srgbClr val="B6BBC0"/>
                </a:solidFill>
                <a:latin typeface="Aptos" pitchFamily="34" charset="0"/>
                <a:ea typeface="Aptos" pitchFamily="34" charset="-122"/>
                <a:cs typeface="Aptos" pitchFamily="34" charset="-120"/>
              </a:rPr>
              <a:t>in normal ops</a:t>
            </a:r>
            <a:endParaRPr lang="en-US" sz="800" dirty="0"/>
          </a:p>
        </p:txBody>
      </p:sp>
      <p:sp>
        <p:nvSpPr>
          <p:cNvPr id="25" name="Text 23"/>
          <p:cNvSpPr/>
          <p:nvPr/>
        </p:nvSpPr>
        <p:spPr>
          <a:xfrm>
            <a:off x="5193792" y="1261872"/>
            <a:ext cx="548640" cy="457200"/>
          </a:xfrm>
          <a:prstGeom prst="rect">
            <a:avLst/>
          </a:prstGeom>
          <a:noFill/>
          <a:ln/>
        </p:spPr>
        <p:txBody>
          <a:bodyPr wrap="square" lIns="0" tIns="0" rIns="0" bIns="0" rtlCol="0" anchor="ctr"/>
          <a:lstStyle/>
          <a:p>
            <a:pPr algn="ctr" indent="0" marL="0">
              <a:buNone/>
            </a:pPr>
            <a:r>
              <a:rPr lang="en-US" sz="850" b="1" i="1" dirty="0">
                <a:solidFill>
                  <a:srgbClr val="085CE5"/>
                </a:solidFill>
                <a:latin typeface="Aptos" pitchFamily="34" charset="0"/>
                <a:ea typeface="Aptos" pitchFamily="34" charset="-122"/>
                <a:cs typeface="Aptos" pitchFamily="34" charset="-120"/>
              </a:rPr>
              <a:t>reads only</a:t>
            </a:r>
            <a:endParaRPr lang="en-US" sz="850" dirty="0"/>
          </a:p>
          <a:p>
            <a:pPr algn="ctr" indent="0" marL="0">
              <a:buNone/>
            </a:pPr>
            <a:r>
              <a:rPr lang="en-US" sz="850" b="1" i="1" dirty="0">
                <a:solidFill>
                  <a:srgbClr val="085CE5"/>
                </a:solidFill>
                <a:latin typeface="Aptos" pitchFamily="34" charset="0"/>
                <a:ea typeface="Aptos" pitchFamily="34" charset="-122"/>
                <a:cs typeface="Aptos" pitchFamily="34" charset="-120"/>
              </a:rPr>
              <a:t>(non-invasive)</a:t>
            </a:r>
            <a:endParaRPr lang="en-US" sz="850" dirty="0"/>
          </a:p>
        </p:txBody>
      </p:sp>
      <p:sp>
        <p:nvSpPr>
          <p:cNvPr id="26" name="Shape 24"/>
          <p:cNvSpPr/>
          <p:nvPr/>
        </p:nvSpPr>
        <p:spPr>
          <a:xfrm>
            <a:off x="1645920" y="2880360"/>
            <a:ext cx="5669280" cy="1024128"/>
          </a:xfrm>
          <a:prstGeom prst="rect">
            <a:avLst/>
          </a:prstGeom>
          <a:solidFill>
            <a:srgbClr val="085CE5">
              <a:alpha val="8000"/>
            </a:srgbClr>
          </a:solidFill>
          <a:ln w="19050">
            <a:solidFill>
              <a:srgbClr val="085CE5"/>
            </a:solidFill>
            <a:prstDash val="solid"/>
          </a:ln>
        </p:spPr>
      </p:sp>
      <p:sp>
        <p:nvSpPr>
          <p:cNvPr id="27" name="Text 25"/>
          <p:cNvSpPr/>
          <p:nvPr/>
        </p:nvSpPr>
        <p:spPr>
          <a:xfrm>
            <a:off x="1783080" y="2926080"/>
            <a:ext cx="5394960" cy="914400"/>
          </a:xfrm>
          <a:prstGeom prst="rect">
            <a:avLst/>
          </a:prstGeom>
          <a:noFill/>
          <a:ln/>
        </p:spPr>
        <p:txBody>
          <a:bodyPr wrap="square" lIns="0" tIns="0" rIns="0" bIns="0" rtlCol="0" anchor="ctr"/>
          <a:lstStyle/>
          <a:p>
            <a:pPr indent="0" marL="0">
              <a:buNone/>
            </a:pPr>
            <a:r>
              <a:rPr lang="en-US" sz="1200" i="1" dirty="0">
                <a:solidFill>
                  <a:srgbClr val="06185F"/>
                </a:solidFill>
                <a:latin typeface="Aptos" pitchFamily="34" charset="0"/>
                <a:ea typeface="Aptos" pitchFamily="34" charset="-122"/>
                <a:cs typeface="Aptos" pitchFamily="34" charset="-120"/>
              </a:rPr>
              <a:t>The transaction log is written by SQL Server regardless of whether CDC is enabled.</a:t>
            </a:r>
            <a:endParaRPr lang="en-US" sz="1200" dirty="0"/>
          </a:p>
          <a:p>
            <a:pPr indent="0" marL="0">
              <a:buNone/>
            </a:pPr>
            <a:r>
              <a:rPr lang="en-US" sz="1200" i="1" dirty="0">
                <a:solidFill>
                  <a:srgbClr val="06185F"/>
                </a:solidFill>
                <a:latin typeface="Aptos" pitchFamily="34" charset="0"/>
                <a:ea typeface="Aptos" pitchFamily="34" charset="-122"/>
                <a:cs typeface="Aptos" pitchFamily="34" charset="-120"/>
              </a:rPr>
              <a:t>CDC simply reads it — adding no additional write overhead to the source database.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Getting Started: Initial Load &amp; Setup</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Text 3"/>
          <p:cNvSpPr/>
          <p:nvPr/>
        </p:nvSpPr>
        <p:spPr>
          <a:xfrm>
            <a:off x="256032" y="841248"/>
            <a:ext cx="8631936" cy="329184"/>
          </a:xfrm>
          <a:prstGeom prst="rect">
            <a:avLst/>
          </a:prstGeom>
          <a:noFill/>
          <a:ln/>
        </p:spPr>
        <p:txBody>
          <a:bodyPr wrap="square" lIns="0" tIns="0" rIns="0" bIns="0" rtlCol="0" anchor="ctr"/>
          <a:lstStyle/>
          <a:p>
            <a:pPr indent="0" marL="0">
              <a:buNone/>
            </a:pPr>
            <a:r>
              <a:rPr lang="en-US" sz="1100" i="1" dirty="0">
                <a:solidFill>
                  <a:srgbClr val="575A5D"/>
                </a:solidFill>
                <a:latin typeface="Aptos" pitchFamily="34" charset="0"/>
                <a:ea typeface="Aptos" pitchFamily="34" charset="-122"/>
                <a:cs typeface="Aptos" pitchFamily="34" charset="-120"/>
              </a:rPr>
              <a:t>Log-based CDC has two phases: a one-time full snapshot, then continuous incremental log reading. Production is unaffected throughout.</a:t>
            </a:r>
            <a:endParaRPr lang="en-US" sz="1100" dirty="0"/>
          </a:p>
        </p:txBody>
      </p:sp>
      <p:sp>
        <p:nvSpPr>
          <p:cNvPr id="6" name="Shape 4"/>
          <p:cNvSpPr/>
          <p:nvPr/>
        </p:nvSpPr>
        <p:spPr>
          <a:xfrm>
            <a:off x="256032" y="1261872"/>
            <a:ext cx="4096512" cy="292608"/>
          </a:xfrm>
          <a:prstGeom prst="rect">
            <a:avLst/>
          </a:prstGeom>
          <a:solidFill>
            <a:srgbClr val="085CE5"/>
          </a:solidFill>
          <a:ln w="12700">
            <a:solidFill>
              <a:srgbClr val="085CE5"/>
            </a:solidFill>
            <a:prstDash val="solid"/>
          </a:ln>
        </p:spPr>
      </p:sp>
      <p:sp>
        <p:nvSpPr>
          <p:cNvPr id="7" name="Text 5"/>
          <p:cNvSpPr/>
          <p:nvPr/>
        </p:nvSpPr>
        <p:spPr>
          <a:xfrm>
            <a:off x="256032" y="1261872"/>
            <a:ext cx="409651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ptos Display" pitchFamily="34" charset="0"/>
                <a:ea typeface="Aptos Display" pitchFamily="34" charset="-122"/>
                <a:cs typeface="Aptos Display" pitchFamily="34" charset="-120"/>
              </a:rPr>
              <a:t>PHASE A — One-Time Setup (DBA, ~1–2 hrs)</a:t>
            </a:r>
            <a:endParaRPr lang="en-US" sz="1100" dirty="0"/>
          </a:p>
        </p:txBody>
      </p:sp>
      <p:sp>
        <p:nvSpPr>
          <p:cNvPr id="8" name="Shape 6"/>
          <p:cNvSpPr/>
          <p:nvPr/>
        </p:nvSpPr>
        <p:spPr>
          <a:xfrm>
            <a:off x="4773168" y="1261872"/>
            <a:ext cx="4114800" cy="292608"/>
          </a:xfrm>
          <a:prstGeom prst="rect">
            <a:avLst/>
          </a:prstGeom>
          <a:solidFill>
            <a:srgbClr val="2E7D32"/>
          </a:solidFill>
          <a:ln w="12700">
            <a:solidFill>
              <a:srgbClr val="2E7D32"/>
            </a:solidFill>
            <a:prstDash val="solid"/>
          </a:ln>
        </p:spPr>
      </p:sp>
      <p:sp>
        <p:nvSpPr>
          <p:cNvPr id="9" name="Text 7"/>
          <p:cNvSpPr/>
          <p:nvPr/>
        </p:nvSpPr>
        <p:spPr>
          <a:xfrm>
            <a:off x="4773168" y="1261872"/>
            <a:ext cx="4114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ptos Display" pitchFamily="34" charset="0"/>
                <a:ea typeface="Aptos Display" pitchFamily="34" charset="-122"/>
                <a:cs typeface="Aptos Display" pitchFamily="34" charset="-120"/>
              </a:rPr>
              <a:t>PHASE B — Ongoing (Fully Automated)</a:t>
            </a:r>
            <a:endParaRPr lang="en-US" sz="1100" dirty="0"/>
          </a:p>
        </p:txBody>
      </p:sp>
      <p:sp>
        <p:nvSpPr>
          <p:cNvPr id="10" name="Shape 8"/>
          <p:cNvSpPr/>
          <p:nvPr/>
        </p:nvSpPr>
        <p:spPr>
          <a:xfrm>
            <a:off x="256032" y="1664208"/>
            <a:ext cx="329184" cy="566928"/>
          </a:xfrm>
          <a:prstGeom prst="rect">
            <a:avLst/>
          </a:prstGeom>
          <a:solidFill>
            <a:srgbClr val="085CE5"/>
          </a:solidFill>
          <a:ln w="12700">
            <a:solidFill>
              <a:srgbClr val="085CE5"/>
            </a:solidFill>
            <a:prstDash val="solid"/>
          </a:ln>
        </p:spPr>
      </p:sp>
      <p:sp>
        <p:nvSpPr>
          <p:cNvPr id="11" name="Text 9"/>
          <p:cNvSpPr/>
          <p:nvPr/>
        </p:nvSpPr>
        <p:spPr>
          <a:xfrm>
            <a:off x="256032" y="1664208"/>
            <a:ext cx="329184"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1</a:t>
            </a:r>
            <a:endParaRPr lang="en-US" sz="1500" dirty="0"/>
          </a:p>
        </p:txBody>
      </p:sp>
      <p:sp>
        <p:nvSpPr>
          <p:cNvPr id="12" name="Shape 10"/>
          <p:cNvSpPr/>
          <p:nvPr/>
        </p:nvSpPr>
        <p:spPr>
          <a:xfrm>
            <a:off x="603504" y="1664208"/>
            <a:ext cx="3822192" cy="566928"/>
          </a:xfrm>
          <a:prstGeom prst="rect">
            <a:avLst/>
          </a:prstGeom>
          <a:solidFill>
            <a:srgbClr val="E7ECF0"/>
          </a:solidFill>
          <a:ln w="12700">
            <a:solidFill>
              <a:srgbClr val="B6BBC0"/>
            </a:solidFill>
            <a:prstDash val="solid"/>
          </a:ln>
        </p:spPr>
      </p:sp>
      <p:sp>
        <p:nvSpPr>
          <p:cNvPr id="13" name="Text 11"/>
          <p:cNvSpPr/>
          <p:nvPr/>
        </p:nvSpPr>
        <p:spPr>
          <a:xfrm>
            <a:off x="676656" y="1700784"/>
            <a:ext cx="3730752" cy="201168"/>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Enable CDC on the database</a:t>
            </a:r>
            <a:endParaRPr lang="en-US" sz="1100" dirty="0"/>
          </a:p>
        </p:txBody>
      </p:sp>
      <p:sp>
        <p:nvSpPr>
          <p:cNvPr id="14" name="Text 12"/>
          <p:cNvSpPr/>
          <p:nvPr/>
        </p:nvSpPr>
        <p:spPr>
          <a:xfrm>
            <a:off x="676656" y="1911096"/>
            <a:ext cx="3730752" cy="274320"/>
          </a:xfrm>
          <a:prstGeom prst="rect">
            <a:avLst/>
          </a:prstGeom>
          <a:noFill/>
          <a:ln/>
        </p:spPr>
        <p:txBody>
          <a:bodyPr wrap="square" lIns="0" tIns="0" rIns="0" bIns="0" rtlCol="0" anchor="ctr"/>
          <a:lstStyle/>
          <a:p>
            <a:pPr indent="0" marL="0">
              <a:buNone/>
            </a:pPr>
            <a:r>
              <a:rPr lang="en-US" sz="950" dirty="0">
                <a:solidFill>
                  <a:srgbClr val="575A5D"/>
                </a:solidFill>
                <a:latin typeface="Aptos" pitchFamily="34" charset="0"/>
                <a:ea typeface="Aptos" pitchFamily="34" charset="-122"/>
                <a:cs typeface="Aptos" pitchFamily="34" charset="-120"/>
              </a:rPr>
              <a:t>One SQL command: sys.sp_cdc_enable_db — requires sysadmin or db_owner. No restart needed.</a:t>
            </a:r>
            <a:endParaRPr lang="en-US" sz="950" dirty="0"/>
          </a:p>
        </p:txBody>
      </p:sp>
      <p:sp>
        <p:nvSpPr>
          <p:cNvPr id="15" name="Shape 13"/>
          <p:cNvSpPr/>
          <p:nvPr/>
        </p:nvSpPr>
        <p:spPr>
          <a:xfrm>
            <a:off x="256032" y="2340864"/>
            <a:ext cx="329184" cy="566928"/>
          </a:xfrm>
          <a:prstGeom prst="rect">
            <a:avLst/>
          </a:prstGeom>
          <a:solidFill>
            <a:srgbClr val="085CE5"/>
          </a:solidFill>
          <a:ln w="12700">
            <a:solidFill>
              <a:srgbClr val="085CE5"/>
            </a:solidFill>
            <a:prstDash val="solid"/>
          </a:ln>
        </p:spPr>
      </p:sp>
      <p:sp>
        <p:nvSpPr>
          <p:cNvPr id="16" name="Text 14"/>
          <p:cNvSpPr/>
          <p:nvPr/>
        </p:nvSpPr>
        <p:spPr>
          <a:xfrm>
            <a:off x="256032" y="2340864"/>
            <a:ext cx="329184"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2</a:t>
            </a:r>
            <a:endParaRPr lang="en-US" sz="1500" dirty="0"/>
          </a:p>
        </p:txBody>
      </p:sp>
      <p:sp>
        <p:nvSpPr>
          <p:cNvPr id="17" name="Shape 15"/>
          <p:cNvSpPr/>
          <p:nvPr/>
        </p:nvSpPr>
        <p:spPr>
          <a:xfrm>
            <a:off x="603504" y="2340864"/>
            <a:ext cx="3822192" cy="566928"/>
          </a:xfrm>
          <a:prstGeom prst="rect">
            <a:avLst/>
          </a:prstGeom>
          <a:solidFill>
            <a:srgbClr val="E7ECF0"/>
          </a:solidFill>
          <a:ln w="12700">
            <a:solidFill>
              <a:srgbClr val="B6BBC0"/>
            </a:solidFill>
            <a:prstDash val="solid"/>
          </a:ln>
        </p:spPr>
      </p:sp>
      <p:sp>
        <p:nvSpPr>
          <p:cNvPr id="18" name="Text 16"/>
          <p:cNvSpPr/>
          <p:nvPr/>
        </p:nvSpPr>
        <p:spPr>
          <a:xfrm>
            <a:off x="676656" y="2377440"/>
            <a:ext cx="3730752" cy="201168"/>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Enable CDC per table</a:t>
            </a:r>
            <a:endParaRPr lang="en-US" sz="1100" dirty="0"/>
          </a:p>
        </p:txBody>
      </p:sp>
      <p:sp>
        <p:nvSpPr>
          <p:cNvPr id="19" name="Text 17"/>
          <p:cNvSpPr/>
          <p:nvPr/>
        </p:nvSpPr>
        <p:spPr>
          <a:xfrm>
            <a:off x="676656" y="2587752"/>
            <a:ext cx="3730752" cy="274320"/>
          </a:xfrm>
          <a:prstGeom prst="rect">
            <a:avLst/>
          </a:prstGeom>
          <a:noFill/>
          <a:ln/>
        </p:spPr>
        <p:txBody>
          <a:bodyPr wrap="square" lIns="0" tIns="0" rIns="0" bIns="0" rtlCol="0" anchor="ctr"/>
          <a:lstStyle/>
          <a:p>
            <a:pPr indent="0" marL="0">
              <a:buNone/>
            </a:pPr>
            <a:r>
              <a:rPr lang="en-US" sz="950" dirty="0">
                <a:solidFill>
                  <a:srgbClr val="575A5D"/>
                </a:solidFill>
                <a:latin typeface="Aptos" pitchFamily="34" charset="0"/>
                <a:ea typeface="Aptos" pitchFamily="34" charset="-122"/>
                <a:cs typeface="Aptos" pitchFamily="34" charset="-120"/>
              </a:rPr>
              <a:t>sys.sp_cdc_enable_table for each source table. Sets up internal change tracking and log scan position (LSN).</a:t>
            </a:r>
            <a:endParaRPr lang="en-US" sz="950" dirty="0"/>
          </a:p>
        </p:txBody>
      </p:sp>
      <p:sp>
        <p:nvSpPr>
          <p:cNvPr id="20" name="Shape 18"/>
          <p:cNvSpPr/>
          <p:nvPr/>
        </p:nvSpPr>
        <p:spPr>
          <a:xfrm>
            <a:off x="256032" y="3017520"/>
            <a:ext cx="329184" cy="566928"/>
          </a:xfrm>
          <a:prstGeom prst="rect">
            <a:avLst/>
          </a:prstGeom>
          <a:solidFill>
            <a:srgbClr val="085CE5"/>
          </a:solidFill>
          <a:ln w="12700">
            <a:solidFill>
              <a:srgbClr val="085CE5"/>
            </a:solidFill>
            <a:prstDash val="solid"/>
          </a:ln>
        </p:spPr>
      </p:sp>
      <p:sp>
        <p:nvSpPr>
          <p:cNvPr id="21" name="Text 19"/>
          <p:cNvSpPr/>
          <p:nvPr/>
        </p:nvSpPr>
        <p:spPr>
          <a:xfrm>
            <a:off x="256032" y="3017520"/>
            <a:ext cx="329184"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3</a:t>
            </a:r>
            <a:endParaRPr lang="en-US" sz="1500" dirty="0"/>
          </a:p>
        </p:txBody>
      </p:sp>
      <p:sp>
        <p:nvSpPr>
          <p:cNvPr id="22" name="Shape 20"/>
          <p:cNvSpPr/>
          <p:nvPr/>
        </p:nvSpPr>
        <p:spPr>
          <a:xfrm>
            <a:off x="603504" y="3017520"/>
            <a:ext cx="3822192" cy="566928"/>
          </a:xfrm>
          <a:prstGeom prst="rect">
            <a:avLst/>
          </a:prstGeom>
          <a:solidFill>
            <a:srgbClr val="E7ECF0"/>
          </a:solidFill>
          <a:ln w="12700">
            <a:solidFill>
              <a:srgbClr val="B6BBC0"/>
            </a:solidFill>
            <a:prstDash val="solid"/>
          </a:ln>
        </p:spPr>
      </p:sp>
      <p:sp>
        <p:nvSpPr>
          <p:cNvPr id="23" name="Text 21"/>
          <p:cNvSpPr/>
          <p:nvPr/>
        </p:nvSpPr>
        <p:spPr>
          <a:xfrm>
            <a:off x="676656" y="3054096"/>
            <a:ext cx="3730752" cy="201168"/>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Verify log retention</a:t>
            </a:r>
            <a:endParaRPr lang="en-US" sz="1100" dirty="0"/>
          </a:p>
        </p:txBody>
      </p:sp>
      <p:sp>
        <p:nvSpPr>
          <p:cNvPr id="24" name="Text 22"/>
          <p:cNvSpPr/>
          <p:nvPr/>
        </p:nvSpPr>
        <p:spPr>
          <a:xfrm>
            <a:off x="676656" y="3264408"/>
            <a:ext cx="3730752" cy="274320"/>
          </a:xfrm>
          <a:prstGeom prst="rect">
            <a:avLst/>
          </a:prstGeom>
          <a:noFill/>
          <a:ln/>
        </p:spPr>
        <p:txBody>
          <a:bodyPr wrap="square" lIns="0" tIns="0" rIns="0" bIns="0" rtlCol="0" anchor="ctr"/>
          <a:lstStyle/>
          <a:p>
            <a:pPr indent="0" marL="0">
              <a:buNone/>
            </a:pPr>
            <a:r>
              <a:rPr lang="en-US" sz="950" dirty="0">
                <a:solidFill>
                  <a:srgbClr val="575A5D"/>
                </a:solidFill>
                <a:latin typeface="Aptos" pitchFamily="34" charset="0"/>
                <a:ea typeface="Aptos" pitchFamily="34" charset="-122"/>
                <a:cs typeface="Aptos" pitchFamily="34" charset="-120"/>
              </a:rPr>
              <a:t>Ensure SQL Server transaction log retention covers at least the CDC polling interval (typically 3–5 min).</a:t>
            </a:r>
            <a:endParaRPr lang="en-US" sz="950" dirty="0"/>
          </a:p>
        </p:txBody>
      </p:sp>
      <p:sp>
        <p:nvSpPr>
          <p:cNvPr id="25" name="Shape 23"/>
          <p:cNvSpPr/>
          <p:nvPr/>
        </p:nvSpPr>
        <p:spPr>
          <a:xfrm>
            <a:off x="256032" y="3694176"/>
            <a:ext cx="329184" cy="566928"/>
          </a:xfrm>
          <a:prstGeom prst="rect">
            <a:avLst/>
          </a:prstGeom>
          <a:solidFill>
            <a:srgbClr val="085CE5"/>
          </a:solidFill>
          <a:ln w="12700">
            <a:solidFill>
              <a:srgbClr val="085CE5"/>
            </a:solidFill>
            <a:prstDash val="solid"/>
          </a:ln>
        </p:spPr>
      </p:sp>
      <p:sp>
        <p:nvSpPr>
          <p:cNvPr id="26" name="Text 24"/>
          <p:cNvSpPr/>
          <p:nvPr/>
        </p:nvSpPr>
        <p:spPr>
          <a:xfrm>
            <a:off x="256032" y="3694176"/>
            <a:ext cx="329184"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4</a:t>
            </a:r>
            <a:endParaRPr lang="en-US" sz="1500" dirty="0"/>
          </a:p>
        </p:txBody>
      </p:sp>
      <p:sp>
        <p:nvSpPr>
          <p:cNvPr id="27" name="Shape 25"/>
          <p:cNvSpPr/>
          <p:nvPr/>
        </p:nvSpPr>
        <p:spPr>
          <a:xfrm>
            <a:off x="603504" y="3694176"/>
            <a:ext cx="3822192" cy="566928"/>
          </a:xfrm>
          <a:prstGeom prst="rect">
            <a:avLst/>
          </a:prstGeom>
          <a:solidFill>
            <a:srgbClr val="E7ECF0"/>
          </a:solidFill>
          <a:ln w="12700">
            <a:solidFill>
              <a:srgbClr val="B6BBC0"/>
            </a:solidFill>
            <a:prstDash val="solid"/>
          </a:ln>
        </p:spPr>
      </p:sp>
      <p:sp>
        <p:nvSpPr>
          <p:cNvPr id="28" name="Text 26"/>
          <p:cNvSpPr/>
          <p:nvPr/>
        </p:nvSpPr>
        <p:spPr>
          <a:xfrm>
            <a:off x="676656" y="3730752"/>
            <a:ext cx="3730752" cy="201168"/>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Configure the CDC connector</a:t>
            </a:r>
            <a:endParaRPr lang="en-US" sz="1100" dirty="0"/>
          </a:p>
        </p:txBody>
      </p:sp>
      <p:sp>
        <p:nvSpPr>
          <p:cNvPr id="29" name="Text 27"/>
          <p:cNvSpPr/>
          <p:nvPr/>
        </p:nvSpPr>
        <p:spPr>
          <a:xfrm>
            <a:off x="676656" y="3941064"/>
            <a:ext cx="3730752" cy="274320"/>
          </a:xfrm>
          <a:prstGeom prst="rect">
            <a:avLst/>
          </a:prstGeom>
          <a:noFill/>
          <a:ln/>
        </p:spPr>
        <p:txBody>
          <a:bodyPr wrap="square" lIns="0" tIns="0" rIns="0" bIns="0" rtlCol="0" anchor="ctr"/>
          <a:lstStyle/>
          <a:p>
            <a:pPr indent="0" marL="0">
              <a:buNone/>
            </a:pPr>
            <a:r>
              <a:rPr lang="en-US" sz="950" dirty="0">
                <a:solidFill>
                  <a:srgbClr val="575A5D"/>
                </a:solidFill>
                <a:latin typeface="Aptos" pitchFamily="34" charset="0"/>
                <a:ea typeface="Aptos" pitchFamily="34" charset="-122"/>
                <a:cs typeface="Aptos" pitchFamily="34" charset="-120"/>
              </a:rPr>
              <a:t>Provide source DB credentials, table list, snapshot mode. For Debezium: a Kafka Connect JSON config. Enterprise tools: GUI wizard.</a:t>
            </a:r>
            <a:endParaRPr lang="en-US" sz="950" dirty="0"/>
          </a:p>
        </p:txBody>
      </p:sp>
      <p:sp>
        <p:nvSpPr>
          <p:cNvPr id="30" name="Shape 28"/>
          <p:cNvSpPr/>
          <p:nvPr/>
        </p:nvSpPr>
        <p:spPr>
          <a:xfrm>
            <a:off x="4773168" y="1664208"/>
            <a:ext cx="3822192" cy="566928"/>
          </a:xfrm>
          <a:prstGeom prst="rect">
            <a:avLst/>
          </a:prstGeom>
          <a:solidFill>
            <a:srgbClr val="E7ECF0"/>
          </a:solidFill>
          <a:ln w="12700">
            <a:solidFill>
              <a:srgbClr val="B6BBC0"/>
            </a:solidFill>
            <a:prstDash val="solid"/>
          </a:ln>
        </p:spPr>
      </p:sp>
      <p:sp>
        <p:nvSpPr>
          <p:cNvPr id="31" name="Shape 29"/>
          <p:cNvSpPr/>
          <p:nvPr/>
        </p:nvSpPr>
        <p:spPr>
          <a:xfrm>
            <a:off x="4773168" y="1664208"/>
            <a:ext cx="54864" cy="566928"/>
          </a:xfrm>
          <a:prstGeom prst="rect">
            <a:avLst/>
          </a:prstGeom>
          <a:solidFill>
            <a:srgbClr val="2E7D32"/>
          </a:solidFill>
          <a:ln w="12700">
            <a:solidFill>
              <a:srgbClr val="2E7D32"/>
            </a:solidFill>
            <a:prstDash val="solid"/>
          </a:ln>
        </p:spPr>
      </p:sp>
      <p:sp>
        <p:nvSpPr>
          <p:cNvPr id="32" name="Text 30"/>
          <p:cNvSpPr/>
          <p:nvPr/>
        </p:nvSpPr>
        <p:spPr>
          <a:xfrm>
            <a:off x="4882896" y="1700784"/>
            <a:ext cx="3657600" cy="201168"/>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Initial snapshot (full load)</a:t>
            </a:r>
            <a:endParaRPr lang="en-US" sz="1100" dirty="0"/>
          </a:p>
        </p:txBody>
      </p:sp>
      <p:sp>
        <p:nvSpPr>
          <p:cNvPr id="33" name="Text 31"/>
          <p:cNvSpPr/>
          <p:nvPr/>
        </p:nvSpPr>
        <p:spPr>
          <a:xfrm>
            <a:off x="4882896" y="1911096"/>
            <a:ext cx="3657600" cy="274320"/>
          </a:xfrm>
          <a:prstGeom prst="rect">
            <a:avLst/>
          </a:prstGeom>
          <a:noFill/>
          <a:ln/>
        </p:spPr>
        <p:txBody>
          <a:bodyPr wrap="square" lIns="0" tIns="0" rIns="0" bIns="0" rtlCol="0" anchor="ctr"/>
          <a:lstStyle/>
          <a:p>
            <a:pPr indent="0" marL="0">
              <a:buNone/>
            </a:pPr>
            <a:r>
              <a:rPr lang="en-US" sz="950" dirty="0">
                <a:solidFill>
                  <a:srgbClr val="575A5D"/>
                </a:solidFill>
                <a:latin typeface="Aptos" pitchFamily="34" charset="0"/>
                <a:ea typeface="Aptos" pitchFamily="34" charset="-122"/>
                <a:cs typeface="Aptos" pitchFamily="34" charset="-120"/>
              </a:rPr>
              <a:t>CDC tool reads all existing rows from each source table — one time. This IS a full read, but production write load is unaffected.</a:t>
            </a:r>
            <a:endParaRPr lang="en-US" sz="950" dirty="0"/>
          </a:p>
        </p:txBody>
      </p:sp>
      <p:sp>
        <p:nvSpPr>
          <p:cNvPr id="34" name="Shape 32"/>
          <p:cNvSpPr/>
          <p:nvPr/>
        </p:nvSpPr>
        <p:spPr>
          <a:xfrm>
            <a:off x="4773168" y="2340864"/>
            <a:ext cx="3822192" cy="566928"/>
          </a:xfrm>
          <a:prstGeom prst="rect">
            <a:avLst/>
          </a:prstGeom>
          <a:solidFill>
            <a:srgbClr val="E7ECF0"/>
          </a:solidFill>
          <a:ln w="12700">
            <a:solidFill>
              <a:srgbClr val="B6BBC0"/>
            </a:solidFill>
            <a:prstDash val="solid"/>
          </a:ln>
        </p:spPr>
      </p:sp>
      <p:sp>
        <p:nvSpPr>
          <p:cNvPr id="35" name="Shape 33"/>
          <p:cNvSpPr/>
          <p:nvPr/>
        </p:nvSpPr>
        <p:spPr>
          <a:xfrm>
            <a:off x="4773168" y="2340864"/>
            <a:ext cx="54864" cy="566928"/>
          </a:xfrm>
          <a:prstGeom prst="rect">
            <a:avLst/>
          </a:prstGeom>
          <a:solidFill>
            <a:srgbClr val="085CE5"/>
          </a:solidFill>
          <a:ln w="12700">
            <a:solidFill>
              <a:srgbClr val="085CE5"/>
            </a:solidFill>
            <a:prstDash val="solid"/>
          </a:ln>
        </p:spPr>
      </p:sp>
      <p:sp>
        <p:nvSpPr>
          <p:cNvPr id="36" name="Text 34"/>
          <p:cNvSpPr/>
          <p:nvPr/>
        </p:nvSpPr>
        <p:spPr>
          <a:xfrm>
            <a:off x="4882896" y="2377440"/>
            <a:ext cx="3657600" cy="201168"/>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LSN bookmark set</a:t>
            </a:r>
            <a:endParaRPr lang="en-US" sz="1100" dirty="0"/>
          </a:p>
        </p:txBody>
      </p:sp>
      <p:sp>
        <p:nvSpPr>
          <p:cNvPr id="37" name="Text 35"/>
          <p:cNvSpPr/>
          <p:nvPr/>
        </p:nvSpPr>
        <p:spPr>
          <a:xfrm>
            <a:off x="4882896" y="2587752"/>
            <a:ext cx="3657600" cy="274320"/>
          </a:xfrm>
          <a:prstGeom prst="rect">
            <a:avLst/>
          </a:prstGeom>
          <a:noFill/>
          <a:ln/>
        </p:spPr>
        <p:txBody>
          <a:bodyPr wrap="square" lIns="0" tIns="0" rIns="0" bIns="0" rtlCol="0" anchor="ctr"/>
          <a:lstStyle/>
          <a:p>
            <a:pPr indent="0" marL="0">
              <a:buNone/>
            </a:pPr>
            <a:r>
              <a:rPr lang="en-US" sz="950" dirty="0">
                <a:solidFill>
                  <a:srgbClr val="575A5D"/>
                </a:solidFill>
                <a:latin typeface="Aptos" pitchFamily="34" charset="0"/>
                <a:ea typeface="Aptos" pitchFamily="34" charset="-122"/>
                <a:cs typeface="Aptos" pitchFamily="34" charset="-120"/>
              </a:rPr>
              <a:t>The tool records the Log Sequence Number at snapshot time. All changes after that LSN stream incrementally — nothing is dropped.</a:t>
            </a:r>
            <a:endParaRPr lang="en-US" sz="950" dirty="0"/>
          </a:p>
        </p:txBody>
      </p:sp>
      <p:sp>
        <p:nvSpPr>
          <p:cNvPr id="38" name="Shape 36"/>
          <p:cNvSpPr/>
          <p:nvPr/>
        </p:nvSpPr>
        <p:spPr>
          <a:xfrm>
            <a:off x="4773168" y="3017520"/>
            <a:ext cx="3822192" cy="566928"/>
          </a:xfrm>
          <a:prstGeom prst="rect">
            <a:avLst/>
          </a:prstGeom>
          <a:solidFill>
            <a:srgbClr val="E7ECF0"/>
          </a:solidFill>
          <a:ln w="12700">
            <a:solidFill>
              <a:srgbClr val="B6BBC0"/>
            </a:solidFill>
            <a:prstDash val="solid"/>
          </a:ln>
        </p:spPr>
      </p:sp>
      <p:sp>
        <p:nvSpPr>
          <p:cNvPr id="39" name="Shape 37"/>
          <p:cNvSpPr/>
          <p:nvPr/>
        </p:nvSpPr>
        <p:spPr>
          <a:xfrm>
            <a:off x="4773168" y="3017520"/>
            <a:ext cx="54864" cy="566928"/>
          </a:xfrm>
          <a:prstGeom prst="rect">
            <a:avLst/>
          </a:prstGeom>
          <a:solidFill>
            <a:srgbClr val="085CE5"/>
          </a:solidFill>
          <a:ln w="12700">
            <a:solidFill>
              <a:srgbClr val="085CE5"/>
            </a:solidFill>
            <a:prstDash val="solid"/>
          </a:ln>
        </p:spPr>
      </p:sp>
      <p:sp>
        <p:nvSpPr>
          <p:cNvPr id="40" name="Text 38"/>
          <p:cNvSpPr/>
          <p:nvPr/>
        </p:nvSpPr>
        <p:spPr>
          <a:xfrm>
            <a:off x="4882896" y="3054096"/>
            <a:ext cx="3657600" cy="201168"/>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Incremental log reading begins</a:t>
            </a:r>
            <a:endParaRPr lang="en-US" sz="1100" dirty="0"/>
          </a:p>
        </p:txBody>
      </p:sp>
      <p:sp>
        <p:nvSpPr>
          <p:cNvPr id="41" name="Text 39"/>
          <p:cNvSpPr/>
          <p:nvPr/>
        </p:nvSpPr>
        <p:spPr>
          <a:xfrm>
            <a:off x="4882896" y="3264408"/>
            <a:ext cx="3657600" cy="274320"/>
          </a:xfrm>
          <a:prstGeom prst="rect">
            <a:avLst/>
          </a:prstGeom>
          <a:noFill/>
          <a:ln/>
        </p:spPr>
        <p:txBody>
          <a:bodyPr wrap="square" lIns="0" tIns="0" rIns="0" bIns="0" rtlCol="0" anchor="ctr"/>
          <a:lstStyle/>
          <a:p>
            <a:pPr indent="0" marL="0">
              <a:buNone/>
            </a:pPr>
            <a:r>
              <a:rPr lang="en-US" sz="950" dirty="0">
                <a:solidFill>
                  <a:srgbClr val="575A5D"/>
                </a:solidFill>
                <a:latin typeface="Aptos" pitchFamily="34" charset="0"/>
                <a:ea typeface="Aptos" pitchFamily="34" charset="-122"/>
                <a:cs typeface="Aptos" pitchFamily="34" charset="-120"/>
              </a:rPr>
              <a:t>CDC reader tails the SQL Server transaction log in real time. Inserts, updates, and deletes flow to targets continuously.</a:t>
            </a:r>
            <a:endParaRPr lang="en-US" sz="950" dirty="0"/>
          </a:p>
        </p:txBody>
      </p:sp>
      <p:sp>
        <p:nvSpPr>
          <p:cNvPr id="42" name="Shape 40"/>
          <p:cNvSpPr/>
          <p:nvPr/>
        </p:nvSpPr>
        <p:spPr>
          <a:xfrm>
            <a:off x="4773168" y="3694176"/>
            <a:ext cx="3822192" cy="566928"/>
          </a:xfrm>
          <a:prstGeom prst="rect">
            <a:avLst/>
          </a:prstGeom>
          <a:solidFill>
            <a:srgbClr val="E7ECF0"/>
          </a:solidFill>
          <a:ln w="12700">
            <a:solidFill>
              <a:srgbClr val="B6BBC0"/>
            </a:solidFill>
            <a:prstDash val="solid"/>
          </a:ln>
        </p:spPr>
      </p:sp>
      <p:sp>
        <p:nvSpPr>
          <p:cNvPr id="43" name="Shape 41"/>
          <p:cNvSpPr/>
          <p:nvPr/>
        </p:nvSpPr>
        <p:spPr>
          <a:xfrm>
            <a:off x="4773168" y="3694176"/>
            <a:ext cx="54864" cy="566928"/>
          </a:xfrm>
          <a:prstGeom prst="rect">
            <a:avLst/>
          </a:prstGeom>
          <a:solidFill>
            <a:srgbClr val="2E7D32"/>
          </a:solidFill>
          <a:ln w="12700">
            <a:solidFill>
              <a:srgbClr val="2E7D32"/>
            </a:solidFill>
            <a:prstDash val="solid"/>
          </a:ln>
        </p:spPr>
      </p:sp>
      <p:sp>
        <p:nvSpPr>
          <p:cNvPr id="44" name="Text 42"/>
          <p:cNvSpPr/>
          <p:nvPr/>
        </p:nvSpPr>
        <p:spPr>
          <a:xfrm>
            <a:off x="4882896" y="3730752"/>
            <a:ext cx="3657600" cy="201168"/>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Automated from here</a:t>
            </a:r>
            <a:endParaRPr lang="en-US" sz="1100" dirty="0"/>
          </a:p>
        </p:txBody>
      </p:sp>
      <p:sp>
        <p:nvSpPr>
          <p:cNvPr id="45" name="Text 43"/>
          <p:cNvSpPr/>
          <p:nvPr/>
        </p:nvSpPr>
        <p:spPr>
          <a:xfrm>
            <a:off x="4882896" y="3941064"/>
            <a:ext cx="3657600" cy="274320"/>
          </a:xfrm>
          <a:prstGeom prst="rect">
            <a:avLst/>
          </a:prstGeom>
          <a:noFill/>
          <a:ln/>
        </p:spPr>
        <p:txBody>
          <a:bodyPr wrap="square" lIns="0" tIns="0" rIns="0" bIns="0" rtlCol="0" anchor="ctr"/>
          <a:lstStyle/>
          <a:p>
            <a:pPr indent="0" marL="0">
              <a:buNone/>
            </a:pPr>
            <a:r>
              <a:rPr lang="en-US" sz="950" dirty="0">
                <a:solidFill>
                  <a:srgbClr val="575A5D"/>
                </a:solidFill>
                <a:latin typeface="Aptos" pitchFamily="34" charset="0"/>
                <a:ea typeface="Aptos" pitchFamily="34" charset="-122"/>
                <a:cs typeface="Aptos" pitchFamily="34" charset="-120"/>
              </a:rPr>
              <a:t>No DBA involvement needed for ongoing operation. Schema changes (for enterprise tools) are handled automatically.</a:t>
            </a:r>
            <a:endParaRPr lang="en-US" sz="950" dirty="0"/>
          </a:p>
        </p:txBody>
      </p:sp>
      <p:sp>
        <p:nvSpPr>
          <p:cNvPr id="46" name="Shape 44"/>
          <p:cNvSpPr/>
          <p:nvPr/>
        </p:nvSpPr>
        <p:spPr>
          <a:xfrm>
            <a:off x="256032" y="4663440"/>
            <a:ext cx="8631936" cy="310896"/>
          </a:xfrm>
          <a:prstGeom prst="rect">
            <a:avLst/>
          </a:prstGeom>
          <a:solidFill>
            <a:srgbClr val="EEF3FD"/>
          </a:solidFill>
          <a:ln w="12700">
            <a:solidFill>
              <a:srgbClr val="085CE5"/>
            </a:solidFill>
            <a:prstDash val="solid"/>
          </a:ln>
        </p:spPr>
      </p:sp>
      <p:sp>
        <p:nvSpPr>
          <p:cNvPr id="47" name="Text 45"/>
          <p:cNvSpPr/>
          <p:nvPr/>
        </p:nvSpPr>
        <p:spPr>
          <a:xfrm>
            <a:off x="320040" y="4663440"/>
            <a:ext cx="8503920" cy="310896"/>
          </a:xfrm>
          <a:prstGeom prst="rect">
            <a:avLst/>
          </a:prstGeom>
          <a:noFill/>
          <a:ln/>
        </p:spPr>
        <p:txBody>
          <a:bodyPr wrap="square" lIns="50800" tIns="50800" rIns="50800" bIns="50800" rtlCol="0" anchor="ctr"/>
          <a:lstStyle/>
          <a:p>
            <a:pPr indent="0" marL="0">
              <a:buNone/>
            </a:pPr>
            <a:r>
              <a:rPr lang="en-US" sz="1000" dirty="0">
                <a:solidFill>
                  <a:srgbClr val="06185F"/>
                </a:solidFill>
                <a:latin typeface="Aptos" pitchFamily="34" charset="0"/>
                <a:ea typeface="Aptos" pitchFamily="34" charset="-122"/>
                <a:cs typeface="Aptos" pitchFamily="34" charset="-120"/>
              </a:rPr>
              <a:t>⚠  Large tables = longer initial snapshot (minutes to hours). Production write load is unaffected throughout. After snapshot, ongoing CDC is sub-second and fully automated.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Native SQL Server CDC — What It Provides</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Text 3"/>
          <p:cNvSpPr/>
          <p:nvPr/>
        </p:nvSpPr>
        <p:spPr>
          <a:xfrm>
            <a:off x="256032" y="914400"/>
            <a:ext cx="8631936" cy="310896"/>
          </a:xfrm>
          <a:prstGeom prst="rect">
            <a:avLst/>
          </a:prstGeom>
          <a:noFill/>
          <a:ln/>
        </p:spPr>
        <p:txBody>
          <a:bodyPr wrap="square" lIns="0" tIns="0" rIns="0" bIns="0" rtlCol="0" anchor="ctr"/>
          <a:lstStyle/>
          <a:p>
            <a:pPr indent="0" marL="0">
              <a:buNone/>
            </a:pPr>
            <a:r>
              <a:rPr lang="en-US" sz="1150" i="1" dirty="0">
                <a:solidFill>
                  <a:srgbClr val="B6BBC0"/>
                </a:solidFill>
                <a:latin typeface="Aptos" pitchFamily="34" charset="0"/>
                <a:ea typeface="Aptos" pitchFamily="34" charset="-122"/>
                <a:cs typeface="Aptos" pitchFamily="34" charset="-120"/>
              </a:rPr>
              <a:t>Available in SQL Server 2008+, Standard and Enterprise editions. No additional license cost.</a:t>
            </a:r>
            <a:endParaRPr lang="en-US" sz="1150" dirty="0"/>
          </a:p>
        </p:txBody>
      </p:sp>
      <p:sp>
        <p:nvSpPr>
          <p:cNvPr id="6" name="Shape 4"/>
          <p:cNvSpPr/>
          <p:nvPr/>
        </p:nvSpPr>
        <p:spPr>
          <a:xfrm>
            <a:off x="256032" y="1298448"/>
            <a:ext cx="2743200" cy="1170432"/>
          </a:xfrm>
          <a:prstGeom prst="rect">
            <a:avLst/>
          </a:prstGeom>
          <a:solidFill>
            <a:srgbClr val="E7ECF0"/>
          </a:solidFill>
          <a:ln w="12700">
            <a:solidFill>
              <a:srgbClr val="B6BBC0"/>
            </a:solidFill>
            <a:prstDash val="solid"/>
          </a:ln>
        </p:spPr>
      </p:sp>
      <p:sp>
        <p:nvSpPr>
          <p:cNvPr id="7" name="Shape 5"/>
          <p:cNvSpPr/>
          <p:nvPr/>
        </p:nvSpPr>
        <p:spPr>
          <a:xfrm>
            <a:off x="256032" y="1298448"/>
            <a:ext cx="54864" cy="1170432"/>
          </a:xfrm>
          <a:prstGeom prst="rect">
            <a:avLst/>
          </a:prstGeom>
          <a:solidFill>
            <a:srgbClr val="085CE5"/>
          </a:solidFill>
          <a:ln w="12700">
            <a:solidFill>
              <a:srgbClr val="085CE5"/>
            </a:solidFill>
            <a:prstDash val="solid"/>
          </a:ln>
        </p:spPr>
      </p:sp>
      <p:sp>
        <p:nvSpPr>
          <p:cNvPr id="8" name="Text 6"/>
          <p:cNvSpPr/>
          <p:nvPr/>
        </p:nvSpPr>
        <p:spPr>
          <a:xfrm>
            <a:off x="393192" y="1389888"/>
            <a:ext cx="2514600" cy="347472"/>
          </a:xfrm>
          <a:prstGeom prst="rect">
            <a:avLst/>
          </a:prstGeom>
          <a:noFill/>
          <a:ln/>
        </p:spPr>
        <p:txBody>
          <a:bodyPr wrap="square" lIns="0" tIns="0" rIns="0" bIns="0" rtlCol="0" anchor="ctr"/>
          <a:lstStyle/>
          <a:p>
            <a:pPr indent="0" marL="0">
              <a:buNone/>
            </a:pPr>
            <a:r>
              <a:rPr lang="en-US" sz="1200" b="1" dirty="0">
                <a:solidFill>
                  <a:srgbClr val="06185F"/>
                </a:solidFill>
                <a:latin typeface="Aptos Display" pitchFamily="34" charset="0"/>
                <a:ea typeface="Aptos Display" pitchFamily="34" charset="-122"/>
                <a:cs typeface="Aptos Display" pitchFamily="34" charset="-120"/>
              </a:rPr>
              <a:t>Transaction Log Reading</a:t>
            </a:r>
            <a:endParaRPr lang="en-US" sz="1200" dirty="0"/>
          </a:p>
        </p:txBody>
      </p:sp>
      <p:sp>
        <p:nvSpPr>
          <p:cNvPr id="9" name="Text 7"/>
          <p:cNvSpPr/>
          <p:nvPr/>
        </p:nvSpPr>
        <p:spPr>
          <a:xfrm>
            <a:off x="393192" y="1755648"/>
            <a:ext cx="2514600" cy="621792"/>
          </a:xfrm>
          <a:prstGeom prst="rect">
            <a:avLst/>
          </a:prstGeom>
          <a:noFill/>
          <a:ln/>
        </p:spPr>
        <p:txBody>
          <a:bodyPr wrap="square" lIns="0" tIns="0" rIns="0" bIns="0" rtlCol="0" anchor="ctr"/>
          <a:lstStyle/>
          <a:p>
            <a:pPr indent="0" marL="0">
              <a:buNone/>
            </a:pPr>
            <a:r>
              <a:rPr lang="en-US" sz="1100" dirty="0">
                <a:solidFill>
                  <a:srgbClr val="575A5D"/>
                </a:solidFill>
                <a:latin typeface="Aptos" pitchFamily="34" charset="0"/>
                <a:ea typeface="Aptos" pitchFamily="34" charset="-122"/>
                <a:cs typeface="Aptos" pitchFamily="34" charset="-120"/>
              </a:rPr>
              <a:t>Uses the SQL Server Log Reader Agent to capture changes without table scans or additional writes</a:t>
            </a:r>
            <a:endParaRPr lang="en-US" sz="1100" dirty="0"/>
          </a:p>
        </p:txBody>
      </p:sp>
      <p:sp>
        <p:nvSpPr>
          <p:cNvPr id="10" name="Shape 8"/>
          <p:cNvSpPr/>
          <p:nvPr/>
        </p:nvSpPr>
        <p:spPr>
          <a:xfrm>
            <a:off x="3145536" y="1298448"/>
            <a:ext cx="2743200" cy="1170432"/>
          </a:xfrm>
          <a:prstGeom prst="rect">
            <a:avLst/>
          </a:prstGeom>
          <a:solidFill>
            <a:srgbClr val="E7ECF0"/>
          </a:solidFill>
          <a:ln w="12700">
            <a:solidFill>
              <a:srgbClr val="B6BBC0"/>
            </a:solidFill>
            <a:prstDash val="solid"/>
          </a:ln>
        </p:spPr>
      </p:sp>
      <p:sp>
        <p:nvSpPr>
          <p:cNvPr id="11" name="Shape 9"/>
          <p:cNvSpPr/>
          <p:nvPr/>
        </p:nvSpPr>
        <p:spPr>
          <a:xfrm>
            <a:off x="3145536" y="1298448"/>
            <a:ext cx="54864" cy="1170432"/>
          </a:xfrm>
          <a:prstGeom prst="rect">
            <a:avLst/>
          </a:prstGeom>
          <a:solidFill>
            <a:srgbClr val="085CE5"/>
          </a:solidFill>
          <a:ln w="12700">
            <a:solidFill>
              <a:srgbClr val="085CE5"/>
            </a:solidFill>
            <a:prstDash val="solid"/>
          </a:ln>
        </p:spPr>
      </p:sp>
      <p:sp>
        <p:nvSpPr>
          <p:cNvPr id="12" name="Text 10"/>
          <p:cNvSpPr/>
          <p:nvPr/>
        </p:nvSpPr>
        <p:spPr>
          <a:xfrm>
            <a:off x="3282696" y="1389888"/>
            <a:ext cx="2514600" cy="347472"/>
          </a:xfrm>
          <a:prstGeom prst="rect">
            <a:avLst/>
          </a:prstGeom>
          <a:noFill/>
          <a:ln/>
        </p:spPr>
        <p:txBody>
          <a:bodyPr wrap="square" lIns="0" tIns="0" rIns="0" bIns="0" rtlCol="0" anchor="ctr"/>
          <a:lstStyle/>
          <a:p>
            <a:pPr indent="0" marL="0">
              <a:buNone/>
            </a:pPr>
            <a:r>
              <a:rPr lang="en-US" sz="1200" b="1" dirty="0">
                <a:solidFill>
                  <a:srgbClr val="06185F"/>
                </a:solidFill>
                <a:latin typeface="Aptos Display" pitchFamily="34" charset="0"/>
                <a:ea typeface="Aptos Display" pitchFamily="34" charset="-122"/>
                <a:cs typeface="Aptos Display" pitchFamily="34" charset="-120"/>
              </a:rPr>
              <a:t>Before &amp; After Images</a:t>
            </a:r>
            <a:endParaRPr lang="en-US" sz="1200" dirty="0"/>
          </a:p>
        </p:txBody>
      </p:sp>
      <p:sp>
        <p:nvSpPr>
          <p:cNvPr id="13" name="Text 11"/>
          <p:cNvSpPr/>
          <p:nvPr/>
        </p:nvSpPr>
        <p:spPr>
          <a:xfrm>
            <a:off x="3282696" y="1755648"/>
            <a:ext cx="2514600" cy="621792"/>
          </a:xfrm>
          <a:prstGeom prst="rect">
            <a:avLst/>
          </a:prstGeom>
          <a:noFill/>
          <a:ln/>
        </p:spPr>
        <p:txBody>
          <a:bodyPr wrap="square" lIns="0" tIns="0" rIns="0" bIns="0" rtlCol="0" anchor="ctr"/>
          <a:lstStyle/>
          <a:p>
            <a:pPr indent="0" marL="0">
              <a:buNone/>
            </a:pPr>
            <a:r>
              <a:rPr lang="en-US" sz="1100" dirty="0">
                <a:solidFill>
                  <a:srgbClr val="575A5D"/>
                </a:solidFill>
                <a:latin typeface="Aptos" pitchFamily="34" charset="0"/>
                <a:ea typeface="Aptos" pitchFamily="34" charset="-122"/>
                <a:cs typeface="Aptos" pitchFamily="34" charset="-120"/>
              </a:rPr>
              <a:t>Full row images for INSERT, UPDATE, and DELETE operations with configurable column tracking</a:t>
            </a:r>
            <a:endParaRPr lang="en-US" sz="1100" dirty="0"/>
          </a:p>
        </p:txBody>
      </p:sp>
      <p:sp>
        <p:nvSpPr>
          <p:cNvPr id="14" name="Shape 12"/>
          <p:cNvSpPr/>
          <p:nvPr/>
        </p:nvSpPr>
        <p:spPr>
          <a:xfrm>
            <a:off x="6035040" y="1298448"/>
            <a:ext cx="2743200" cy="1170432"/>
          </a:xfrm>
          <a:prstGeom prst="rect">
            <a:avLst/>
          </a:prstGeom>
          <a:solidFill>
            <a:srgbClr val="E7ECF0"/>
          </a:solidFill>
          <a:ln w="12700">
            <a:solidFill>
              <a:srgbClr val="B6BBC0"/>
            </a:solidFill>
            <a:prstDash val="solid"/>
          </a:ln>
        </p:spPr>
      </p:sp>
      <p:sp>
        <p:nvSpPr>
          <p:cNvPr id="15" name="Shape 13"/>
          <p:cNvSpPr/>
          <p:nvPr/>
        </p:nvSpPr>
        <p:spPr>
          <a:xfrm>
            <a:off x="6035040" y="1298448"/>
            <a:ext cx="54864" cy="1170432"/>
          </a:xfrm>
          <a:prstGeom prst="rect">
            <a:avLst/>
          </a:prstGeom>
          <a:solidFill>
            <a:srgbClr val="085CE5"/>
          </a:solidFill>
          <a:ln w="12700">
            <a:solidFill>
              <a:srgbClr val="085CE5"/>
            </a:solidFill>
            <a:prstDash val="solid"/>
          </a:ln>
        </p:spPr>
      </p:sp>
      <p:sp>
        <p:nvSpPr>
          <p:cNvPr id="16" name="Text 14"/>
          <p:cNvSpPr/>
          <p:nvPr/>
        </p:nvSpPr>
        <p:spPr>
          <a:xfrm>
            <a:off x="6172200" y="1389888"/>
            <a:ext cx="2514600" cy="347472"/>
          </a:xfrm>
          <a:prstGeom prst="rect">
            <a:avLst/>
          </a:prstGeom>
          <a:noFill/>
          <a:ln/>
        </p:spPr>
        <p:txBody>
          <a:bodyPr wrap="square" lIns="0" tIns="0" rIns="0" bIns="0" rtlCol="0" anchor="ctr"/>
          <a:lstStyle/>
          <a:p>
            <a:pPr indent="0" marL="0">
              <a:buNone/>
            </a:pPr>
            <a:r>
              <a:rPr lang="en-US" sz="1200" b="1" dirty="0">
                <a:solidFill>
                  <a:srgbClr val="06185F"/>
                </a:solidFill>
                <a:latin typeface="Aptos Display" pitchFamily="34" charset="0"/>
                <a:ea typeface="Aptos Display" pitchFamily="34" charset="-122"/>
                <a:cs typeface="Aptos Display" pitchFamily="34" charset="-120"/>
              </a:rPr>
              <a:t>LSN-Based Ordering</a:t>
            </a:r>
            <a:endParaRPr lang="en-US" sz="1200" dirty="0"/>
          </a:p>
        </p:txBody>
      </p:sp>
      <p:sp>
        <p:nvSpPr>
          <p:cNvPr id="17" name="Text 15"/>
          <p:cNvSpPr/>
          <p:nvPr/>
        </p:nvSpPr>
        <p:spPr>
          <a:xfrm>
            <a:off x="6172200" y="1755648"/>
            <a:ext cx="2514600" cy="621792"/>
          </a:xfrm>
          <a:prstGeom prst="rect">
            <a:avLst/>
          </a:prstGeom>
          <a:noFill/>
          <a:ln/>
        </p:spPr>
        <p:txBody>
          <a:bodyPr wrap="square" lIns="0" tIns="0" rIns="0" bIns="0" rtlCol="0" anchor="ctr"/>
          <a:lstStyle/>
          <a:p>
            <a:pPr indent="0" marL="0">
              <a:buNone/>
            </a:pPr>
            <a:r>
              <a:rPr lang="en-US" sz="1100" dirty="0">
                <a:solidFill>
                  <a:srgbClr val="575A5D"/>
                </a:solidFill>
                <a:latin typeface="Aptos" pitchFamily="34" charset="0"/>
                <a:ea typeface="Aptos" pitchFamily="34" charset="-122"/>
                <a:cs typeface="Aptos" pitchFamily="34" charset="-120"/>
              </a:rPr>
              <a:t>Changes ordered by Log Sequence Number, preserving exact transaction commit order</a:t>
            </a:r>
            <a:endParaRPr lang="en-US" sz="1100" dirty="0"/>
          </a:p>
        </p:txBody>
      </p:sp>
      <p:sp>
        <p:nvSpPr>
          <p:cNvPr id="18" name="Shape 16"/>
          <p:cNvSpPr/>
          <p:nvPr/>
        </p:nvSpPr>
        <p:spPr>
          <a:xfrm>
            <a:off x="256032" y="2578608"/>
            <a:ext cx="2743200" cy="1170432"/>
          </a:xfrm>
          <a:prstGeom prst="rect">
            <a:avLst/>
          </a:prstGeom>
          <a:solidFill>
            <a:srgbClr val="E7ECF0"/>
          </a:solidFill>
          <a:ln w="12700">
            <a:solidFill>
              <a:srgbClr val="B6BBC0"/>
            </a:solidFill>
            <a:prstDash val="solid"/>
          </a:ln>
        </p:spPr>
      </p:sp>
      <p:sp>
        <p:nvSpPr>
          <p:cNvPr id="19" name="Shape 17"/>
          <p:cNvSpPr/>
          <p:nvPr/>
        </p:nvSpPr>
        <p:spPr>
          <a:xfrm>
            <a:off x="256032" y="2578608"/>
            <a:ext cx="54864" cy="1170432"/>
          </a:xfrm>
          <a:prstGeom prst="rect">
            <a:avLst/>
          </a:prstGeom>
          <a:solidFill>
            <a:srgbClr val="085CE5"/>
          </a:solidFill>
          <a:ln w="12700">
            <a:solidFill>
              <a:srgbClr val="085CE5"/>
            </a:solidFill>
            <a:prstDash val="solid"/>
          </a:ln>
        </p:spPr>
      </p:sp>
      <p:sp>
        <p:nvSpPr>
          <p:cNvPr id="20" name="Text 18"/>
          <p:cNvSpPr/>
          <p:nvPr/>
        </p:nvSpPr>
        <p:spPr>
          <a:xfrm>
            <a:off x="393192" y="2670048"/>
            <a:ext cx="2514600" cy="347472"/>
          </a:xfrm>
          <a:prstGeom prst="rect">
            <a:avLst/>
          </a:prstGeom>
          <a:noFill/>
          <a:ln/>
        </p:spPr>
        <p:txBody>
          <a:bodyPr wrap="square" lIns="0" tIns="0" rIns="0" bIns="0" rtlCol="0" anchor="ctr"/>
          <a:lstStyle/>
          <a:p>
            <a:pPr indent="0" marL="0">
              <a:buNone/>
            </a:pPr>
            <a:r>
              <a:rPr lang="en-US" sz="1200" b="1" dirty="0">
                <a:solidFill>
                  <a:srgbClr val="06185F"/>
                </a:solidFill>
                <a:latin typeface="Aptos Display" pitchFamily="34" charset="0"/>
                <a:ea typeface="Aptos Display" pitchFamily="34" charset="-122"/>
                <a:cs typeface="Aptos Display" pitchFamily="34" charset="-120"/>
              </a:rPr>
              <a:t>Net Changes Support</a:t>
            </a:r>
            <a:endParaRPr lang="en-US" sz="1200" dirty="0"/>
          </a:p>
        </p:txBody>
      </p:sp>
      <p:sp>
        <p:nvSpPr>
          <p:cNvPr id="21" name="Text 19"/>
          <p:cNvSpPr/>
          <p:nvPr/>
        </p:nvSpPr>
        <p:spPr>
          <a:xfrm>
            <a:off x="393192" y="3035808"/>
            <a:ext cx="2514600" cy="621792"/>
          </a:xfrm>
          <a:prstGeom prst="rect">
            <a:avLst/>
          </a:prstGeom>
          <a:noFill/>
          <a:ln/>
        </p:spPr>
        <p:txBody>
          <a:bodyPr wrap="square" lIns="0" tIns="0" rIns="0" bIns="0" rtlCol="0" anchor="ctr"/>
          <a:lstStyle/>
          <a:p>
            <a:pPr indent="0" marL="0">
              <a:buNone/>
            </a:pPr>
            <a:r>
              <a:rPr lang="en-US" sz="1100" dirty="0">
                <a:solidFill>
                  <a:srgbClr val="575A5D"/>
                </a:solidFill>
                <a:latin typeface="Aptos" pitchFamily="34" charset="0"/>
                <a:ea typeface="Aptos" pitchFamily="34" charset="-122"/>
                <a:cs typeface="Aptos" pitchFamily="34" charset="-120"/>
              </a:rPr>
              <a:t>Returns only the net effect of multiple changes to a row within a configurable time window</a:t>
            </a:r>
            <a:endParaRPr lang="en-US" sz="1100" dirty="0"/>
          </a:p>
        </p:txBody>
      </p:sp>
      <p:sp>
        <p:nvSpPr>
          <p:cNvPr id="22" name="Shape 20"/>
          <p:cNvSpPr/>
          <p:nvPr/>
        </p:nvSpPr>
        <p:spPr>
          <a:xfrm>
            <a:off x="3145536" y="2578608"/>
            <a:ext cx="2743200" cy="1170432"/>
          </a:xfrm>
          <a:prstGeom prst="rect">
            <a:avLst/>
          </a:prstGeom>
          <a:solidFill>
            <a:srgbClr val="E7ECF0"/>
          </a:solidFill>
          <a:ln w="12700">
            <a:solidFill>
              <a:srgbClr val="B6BBC0"/>
            </a:solidFill>
            <a:prstDash val="solid"/>
          </a:ln>
        </p:spPr>
      </p:sp>
      <p:sp>
        <p:nvSpPr>
          <p:cNvPr id="23" name="Shape 21"/>
          <p:cNvSpPr/>
          <p:nvPr/>
        </p:nvSpPr>
        <p:spPr>
          <a:xfrm>
            <a:off x="3145536" y="2578608"/>
            <a:ext cx="54864" cy="1170432"/>
          </a:xfrm>
          <a:prstGeom prst="rect">
            <a:avLst/>
          </a:prstGeom>
          <a:solidFill>
            <a:srgbClr val="085CE5"/>
          </a:solidFill>
          <a:ln w="12700">
            <a:solidFill>
              <a:srgbClr val="085CE5"/>
            </a:solidFill>
            <a:prstDash val="solid"/>
          </a:ln>
        </p:spPr>
      </p:sp>
      <p:sp>
        <p:nvSpPr>
          <p:cNvPr id="24" name="Text 22"/>
          <p:cNvSpPr/>
          <p:nvPr/>
        </p:nvSpPr>
        <p:spPr>
          <a:xfrm>
            <a:off x="3282696" y="2670048"/>
            <a:ext cx="2514600" cy="347472"/>
          </a:xfrm>
          <a:prstGeom prst="rect">
            <a:avLst/>
          </a:prstGeom>
          <a:noFill/>
          <a:ln/>
        </p:spPr>
        <p:txBody>
          <a:bodyPr wrap="square" lIns="0" tIns="0" rIns="0" bIns="0" rtlCol="0" anchor="ctr"/>
          <a:lstStyle/>
          <a:p>
            <a:pPr indent="0" marL="0">
              <a:buNone/>
            </a:pPr>
            <a:r>
              <a:rPr lang="en-US" sz="1200" b="1" dirty="0">
                <a:solidFill>
                  <a:srgbClr val="06185F"/>
                </a:solidFill>
                <a:latin typeface="Aptos Display" pitchFamily="34" charset="0"/>
                <a:ea typeface="Aptos Display" pitchFamily="34" charset="-122"/>
                <a:cs typeface="Aptos Display" pitchFamily="34" charset="-120"/>
              </a:rPr>
              <a:t>Per-Table Capture Instances</a:t>
            </a:r>
            <a:endParaRPr lang="en-US" sz="1200" dirty="0"/>
          </a:p>
        </p:txBody>
      </p:sp>
      <p:sp>
        <p:nvSpPr>
          <p:cNvPr id="25" name="Text 23"/>
          <p:cNvSpPr/>
          <p:nvPr/>
        </p:nvSpPr>
        <p:spPr>
          <a:xfrm>
            <a:off x="3282696" y="3035808"/>
            <a:ext cx="2514600" cy="621792"/>
          </a:xfrm>
          <a:prstGeom prst="rect">
            <a:avLst/>
          </a:prstGeom>
          <a:noFill/>
          <a:ln/>
        </p:spPr>
        <p:txBody>
          <a:bodyPr wrap="square" lIns="0" tIns="0" rIns="0" bIns="0" rtlCol="0" anchor="ctr"/>
          <a:lstStyle/>
          <a:p>
            <a:pPr indent="0" marL="0">
              <a:buNone/>
            </a:pPr>
            <a:r>
              <a:rPr lang="en-US" sz="1100" dirty="0">
                <a:solidFill>
                  <a:srgbClr val="575A5D"/>
                </a:solidFill>
                <a:latin typeface="Aptos" pitchFamily="34" charset="0"/>
                <a:ea typeface="Aptos" pitchFamily="34" charset="-122"/>
                <a:cs typeface="Aptos" pitchFamily="34" charset="-120"/>
              </a:rPr>
              <a:t>Independent capture configuration per table; up to 2 instances per table for transition management</a:t>
            </a:r>
            <a:endParaRPr lang="en-US" sz="1100" dirty="0"/>
          </a:p>
        </p:txBody>
      </p:sp>
      <p:sp>
        <p:nvSpPr>
          <p:cNvPr id="26" name="Shape 24"/>
          <p:cNvSpPr/>
          <p:nvPr/>
        </p:nvSpPr>
        <p:spPr>
          <a:xfrm>
            <a:off x="6035040" y="2578608"/>
            <a:ext cx="2743200" cy="1170432"/>
          </a:xfrm>
          <a:prstGeom prst="rect">
            <a:avLst/>
          </a:prstGeom>
          <a:solidFill>
            <a:srgbClr val="E7ECF0"/>
          </a:solidFill>
          <a:ln w="12700">
            <a:solidFill>
              <a:srgbClr val="B6BBC0"/>
            </a:solidFill>
            <a:prstDash val="solid"/>
          </a:ln>
        </p:spPr>
      </p:sp>
      <p:sp>
        <p:nvSpPr>
          <p:cNvPr id="27" name="Shape 25"/>
          <p:cNvSpPr/>
          <p:nvPr/>
        </p:nvSpPr>
        <p:spPr>
          <a:xfrm>
            <a:off x="6035040" y="2578608"/>
            <a:ext cx="54864" cy="1170432"/>
          </a:xfrm>
          <a:prstGeom prst="rect">
            <a:avLst/>
          </a:prstGeom>
          <a:solidFill>
            <a:srgbClr val="085CE5"/>
          </a:solidFill>
          <a:ln w="12700">
            <a:solidFill>
              <a:srgbClr val="085CE5"/>
            </a:solidFill>
            <a:prstDash val="solid"/>
          </a:ln>
        </p:spPr>
      </p:sp>
      <p:sp>
        <p:nvSpPr>
          <p:cNvPr id="28" name="Text 26"/>
          <p:cNvSpPr/>
          <p:nvPr/>
        </p:nvSpPr>
        <p:spPr>
          <a:xfrm>
            <a:off x="6172200" y="2670048"/>
            <a:ext cx="2514600" cy="347472"/>
          </a:xfrm>
          <a:prstGeom prst="rect">
            <a:avLst/>
          </a:prstGeom>
          <a:noFill/>
          <a:ln/>
        </p:spPr>
        <p:txBody>
          <a:bodyPr wrap="square" lIns="0" tIns="0" rIns="0" bIns="0" rtlCol="0" anchor="ctr"/>
          <a:lstStyle/>
          <a:p>
            <a:pPr indent="0" marL="0">
              <a:buNone/>
            </a:pPr>
            <a:r>
              <a:rPr lang="en-US" sz="1200" b="1" dirty="0">
                <a:solidFill>
                  <a:srgbClr val="06185F"/>
                </a:solidFill>
                <a:latin typeface="Aptos Display" pitchFamily="34" charset="0"/>
                <a:ea typeface="Aptos Display" pitchFamily="34" charset="-122"/>
                <a:cs typeface="Aptos Display" pitchFamily="34" charset="-120"/>
              </a:rPr>
              <a:t>No Additional License Cost</a:t>
            </a:r>
            <a:endParaRPr lang="en-US" sz="1200" dirty="0"/>
          </a:p>
        </p:txBody>
      </p:sp>
      <p:sp>
        <p:nvSpPr>
          <p:cNvPr id="29" name="Text 27"/>
          <p:cNvSpPr/>
          <p:nvPr/>
        </p:nvSpPr>
        <p:spPr>
          <a:xfrm>
            <a:off x="6172200" y="3035808"/>
            <a:ext cx="2514600" cy="621792"/>
          </a:xfrm>
          <a:prstGeom prst="rect">
            <a:avLst/>
          </a:prstGeom>
          <a:noFill/>
          <a:ln/>
        </p:spPr>
        <p:txBody>
          <a:bodyPr wrap="square" lIns="0" tIns="0" rIns="0" bIns="0" rtlCol="0" anchor="ctr"/>
          <a:lstStyle/>
          <a:p>
            <a:pPr indent="0" marL="0">
              <a:buNone/>
            </a:pPr>
            <a:r>
              <a:rPr lang="en-US" sz="1100" dirty="0">
                <a:solidFill>
                  <a:srgbClr val="575A5D"/>
                </a:solidFill>
                <a:latin typeface="Aptos" pitchFamily="34" charset="0"/>
                <a:ea typeface="Aptos" pitchFamily="34" charset="-122"/>
                <a:cs typeface="Aptos" pitchFamily="34" charset="-120"/>
              </a:rPr>
              <a:t>Included with SQL Server — no commercial CDC license required for the base feature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Native SQL Server CDC — Operational Concerns</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Shape 3"/>
          <p:cNvSpPr/>
          <p:nvPr/>
        </p:nvSpPr>
        <p:spPr>
          <a:xfrm>
            <a:off x="256032" y="960120"/>
            <a:ext cx="4160520" cy="1188720"/>
          </a:xfrm>
          <a:prstGeom prst="rect">
            <a:avLst/>
          </a:prstGeom>
          <a:solidFill>
            <a:srgbClr val="FFEBEE"/>
          </a:solidFill>
          <a:ln w="12700">
            <a:solidFill>
              <a:srgbClr val="FECACA"/>
            </a:solidFill>
            <a:prstDash val="solid"/>
          </a:ln>
        </p:spPr>
      </p:sp>
      <p:sp>
        <p:nvSpPr>
          <p:cNvPr id="6" name="Shape 4"/>
          <p:cNvSpPr/>
          <p:nvPr/>
        </p:nvSpPr>
        <p:spPr>
          <a:xfrm>
            <a:off x="256032" y="960120"/>
            <a:ext cx="54864" cy="1188720"/>
          </a:xfrm>
          <a:prstGeom prst="rect">
            <a:avLst/>
          </a:prstGeom>
          <a:solidFill>
            <a:srgbClr val="C62828"/>
          </a:solidFill>
          <a:ln w="12700">
            <a:solidFill>
              <a:srgbClr val="C62828"/>
            </a:solidFill>
            <a:prstDash val="solid"/>
          </a:ln>
        </p:spPr>
      </p:sp>
      <p:sp>
        <p:nvSpPr>
          <p:cNvPr id="7" name="Text 5"/>
          <p:cNvSpPr/>
          <p:nvPr/>
        </p:nvSpPr>
        <p:spPr>
          <a:xfrm>
            <a:off x="393192" y="1051560"/>
            <a:ext cx="3931920" cy="320040"/>
          </a:xfrm>
          <a:prstGeom prst="rect">
            <a:avLst/>
          </a:prstGeom>
          <a:noFill/>
          <a:ln/>
        </p:spPr>
        <p:txBody>
          <a:bodyPr wrap="square" lIns="0" tIns="0" rIns="0" bIns="0" rtlCol="0" anchor="ctr"/>
          <a:lstStyle/>
          <a:p>
            <a:pPr indent="0" marL="0">
              <a:buNone/>
            </a:pPr>
            <a:r>
              <a:rPr lang="en-US" sz="1200" b="1" dirty="0">
                <a:solidFill>
                  <a:srgbClr val="C62828"/>
                </a:solidFill>
                <a:latin typeface="Aptos Display" pitchFamily="34" charset="0"/>
                <a:ea typeface="Aptos Display" pitchFamily="34" charset="-122"/>
                <a:cs typeface="Aptos Display" pitchFamily="34" charset="-120"/>
              </a:rPr>
              <a:t>SQL Server Agent Dependency</a:t>
            </a:r>
            <a:endParaRPr lang="en-US" sz="1200" dirty="0"/>
          </a:p>
        </p:txBody>
      </p:sp>
      <p:sp>
        <p:nvSpPr>
          <p:cNvPr id="8" name="Text 6"/>
          <p:cNvSpPr/>
          <p:nvPr/>
        </p:nvSpPr>
        <p:spPr>
          <a:xfrm>
            <a:off x="393192" y="1399032"/>
            <a:ext cx="3931920" cy="68580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Capture and cleanup jobs run via SQL Agent. Agent downtime or resource pressure silently stalls CDC — no built-in alerting or automatic recovery.</a:t>
            </a:r>
            <a:endParaRPr lang="en-US" sz="1050" dirty="0"/>
          </a:p>
        </p:txBody>
      </p:sp>
      <p:sp>
        <p:nvSpPr>
          <p:cNvPr id="9" name="Shape 7"/>
          <p:cNvSpPr/>
          <p:nvPr/>
        </p:nvSpPr>
        <p:spPr>
          <a:xfrm>
            <a:off x="4727448" y="960120"/>
            <a:ext cx="4160520" cy="1188720"/>
          </a:xfrm>
          <a:prstGeom prst="rect">
            <a:avLst/>
          </a:prstGeom>
          <a:solidFill>
            <a:srgbClr val="FFEBEE"/>
          </a:solidFill>
          <a:ln w="12700">
            <a:solidFill>
              <a:srgbClr val="FECACA"/>
            </a:solidFill>
            <a:prstDash val="solid"/>
          </a:ln>
        </p:spPr>
      </p:sp>
      <p:sp>
        <p:nvSpPr>
          <p:cNvPr id="10" name="Shape 8"/>
          <p:cNvSpPr/>
          <p:nvPr/>
        </p:nvSpPr>
        <p:spPr>
          <a:xfrm>
            <a:off x="4727448" y="960120"/>
            <a:ext cx="54864" cy="1188720"/>
          </a:xfrm>
          <a:prstGeom prst="rect">
            <a:avLst/>
          </a:prstGeom>
          <a:solidFill>
            <a:srgbClr val="C62828"/>
          </a:solidFill>
          <a:ln w="12700">
            <a:solidFill>
              <a:srgbClr val="C62828"/>
            </a:solidFill>
            <a:prstDash val="solid"/>
          </a:ln>
        </p:spPr>
      </p:sp>
      <p:sp>
        <p:nvSpPr>
          <p:cNvPr id="11" name="Text 9"/>
          <p:cNvSpPr/>
          <p:nvPr/>
        </p:nvSpPr>
        <p:spPr>
          <a:xfrm>
            <a:off x="4864608" y="1051560"/>
            <a:ext cx="3931920" cy="320040"/>
          </a:xfrm>
          <a:prstGeom prst="rect">
            <a:avLst/>
          </a:prstGeom>
          <a:noFill/>
          <a:ln/>
        </p:spPr>
        <p:txBody>
          <a:bodyPr wrap="square" lIns="0" tIns="0" rIns="0" bIns="0" rtlCol="0" anchor="ctr"/>
          <a:lstStyle/>
          <a:p>
            <a:pPr indent="0" marL="0">
              <a:buNone/>
            </a:pPr>
            <a:r>
              <a:rPr lang="en-US" sz="1200" b="1" dirty="0">
                <a:solidFill>
                  <a:srgbClr val="C62828"/>
                </a:solidFill>
                <a:latin typeface="Aptos Display" pitchFamily="34" charset="0"/>
                <a:ea typeface="Aptos Display" pitchFamily="34" charset="-122"/>
                <a:cs typeface="Aptos Display" pitchFamily="34" charset="-120"/>
              </a:rPr>
              <a:t>Schema Changes Are Breaking Events</a:t>
            </a:r>
            <a:endParaRPr lang="en-US" sz="1200" dirty="0"/>
          </a:p>
        </p:txBody>
      </p:sp>
      <p:sp>
        <p:nvSpPr>
          <p:cNvPr id="12" name="Text 10"/>
          <p:cNvSpPr/>
          <p:nvPr/>
        </p:nvSpPr>
        <p:spPr>
          <a:xfrm>
            <a:off x="4864608" y="1399032"/>
            <a:ext cx="3931920" cy="68580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Adding a column, renaming, or changing a type requires dropping and recreating the capture instance. There is no atomic switchover — consumers experience a gap or double-process.</a:t>
            </a:r>
            <a:endParaRPr lang="en-US" sz="1050" dirty="0"/>
          </a:p>
        </p:txBody>
      </p:sp>
      <p:sp>
        <p:nvSpPr>
          <p:cNvPr id="13" name="Shape 11"/>
          <p:cNvSpPr/>
          <p:nvPr/>
        </p:nvSpPr>
        <p:spPr>
          <a:xfrm>
            <a:off x="256032" y="2240280"/>
            <a:ext cx="4160520" cy="1188720"/>
          </a:xfrm>
          <a:prstGeom prst="rect">
            <a:avLst/>
          </a:prstGeom>
          <a:solidFill>
            <a:srgbClr val="FFEBEE"/>
          </a:solidFill>
          <a:ln w="12700">
            <a:solidFill>
              <a:srgbClr val="FECACA"/>
            </a:solidFill>
            <a:prstDash val="solid"/>
          </a:ln>
        </p:spPr>
      </p:sp>
      <p:sp>
        <p:nvSpPr>
          <p:cNvPr id="14" name="Shape 12"/>
          <p:cNvSpPr/>
          <p:nvPr/>
        </p:nvSpPr>
        <p:spPr>
          <a:xfrm>
            <a:off x="256032" y="2240280"/>
            <a:ext cx="54864" cy="1188720"/>
          </a:xfrm>
          <a:prstGeom prst="rect">
            <a:avLst/>
          </a:prstGeom>
          <a:solidFill>
            <a:srgbClr val="C62828"/>
          </a:solidFill>
          <a:ln w="12700">
            <a:solidFill>
              <a:srgbClr val="C62828"/>
            </a:solidFill>
            <a:prstDash val="solid"/>
          </a:ln>
        </p:spPr>
      </p:sp>
      <p:sp>
        <p:nvSpPr>
          <p:cNvPr id="15" name="Text 13"/>
          <p:cNvSpPr/>
          <p:nvPr/>
        </p:nvSpPr>
        <p:spPr>
          <a:xfrm>
            <a:off x="393192" y="2331720"/>
            <a:ext cx="3931920" cy="320040"/>
          </a:xfrm>
          <a:prstGeom prst="rect">
            <a:avLst/>
          </a:prstGeom>
          <a:noFill/>
          <a:ln/>
        </p:spPr>
        <p:txBody>
          <a:bodyPr wrap="square" lIns="0" tIns="0" rIns="0" bIns="0" rtlCol="0" anchor="ctr"/>
          <a:lstStyle/>
          <a:p>
            <a:pPr indent="0" marL="0">
              <a:buNone/>
            </a:pPr>
            <a:r>
              <a:rPr lang="en-US" sz="1200" b="1" dirty="0">
                <a:solidFill>
                  <a:srgbClr val="C62828"/>
                </a:solidFill>
                <a:latin typeface="Aptos Display" pitchFamily="34" charset="0"/>
                <a:ea typeface="Aptos Display" pitchFamily="34" charset="-122"/>
                <a:cs typeface="Aptos Display" pitchFamily="34" charset="-120"/>
              </a:rPr>
              <a:t>CDC Tables in Production Database</a:t>
            </a:r>
            <a:endParaRPr lang="en-US" sz="1200" dirty="0"/>
          </a:p>
        </p:txBody>
      </p:sp>
      <p:sp>
        <p:nvSpPr>
          <p:cNvPr id="16" name="Text 14"/>
          <p:cNvSpPr/>
          <p:nvPr/>
        </p:nvSpPr>
        <p:spPr>
          <a:xfrm>
            <a:off x="393192" y="2679192"/>
            <a:ext cx="3931920" cy="68580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Change tables live in the source database (cdc schema), competing for I/O and adding to backup size. Poorly tuned cleanup jobs have caused hundreds of GB of accumulation.</a:t>
            </a:r>
            <a:endParaRPr lang="en-US" sz="1050" dirty="0"/>
          </a:p>
        </p:txBody>
      </p:sp>
      <p:sp>
        <p:nvSpPr>
          <p:cNvPr id="17" name="Shape 15"/>
          <p:cNvSpPr/>
          <p:nvPr/>
        </p:nvSpPr>
        <p:spPr>
          <a:xfrm>
            <a:off x="4727448" y="2240280"/>
            <a:ext cx="4160520" cy="1188720"/>
          </a:xfrm>
          <a:prstGeom prst="rect">
            <a:avLst/>
          </a:prstGeom>
          <a:solidFill>
            <a:srgbClr val="FFEBEE"/>
          </a:solidFill>
          <a:ln w="12700">
            <a:solidFill>
              <a:srgbClr val="FECACA"/>
            </a:solidFill>
            <a:prstDash val="solid"/>
          </a:ln>
        </p:spPr>
      </p:sp>
      <p:sp>
        <p:nvSpPr>
          <p:cNvPr id="18" name="Shape 16"/>
          <p:cNvSpPr/>
          <p:nvPr/>
        </p:nvSpPr>
        <p:spPr>
          <a:xfrm>
            <a:off x="4727448" y="2240280"/>
            <a:ext cx="54864" cy="1188720"/>
          </a:xfrm>
          <a:prstGeom prst="rect">
            <a:avLst/>
          </a:prstGeom>
          <a:solidFill>
            <a:srgbClr val="C62828"/>
          </a:solidFill>
          <a:ln w="12700">
            <a:solidFill>
              <a:srgbClr val="C62828"/>
            </a:solidFill>
            <a:prstDash val="solid"/>
          </a:ln>
        </p:spPr>
      </p:sp>
      <p:sp>
        <p:nvSpPr>
          <p:cNvPr id="19" name="Text 17"/>
          <p:cNvSpPr/>
          <p:nvPr/>
        </p:nvSpPr>
        <p:spPr>
          <a:xfrm>
            <a:off x="4864608" y="2331720"/>
            <a:ext cx="3931920" cy="320040"/>
          </a:xfrm>
          <a:prstGeom prst="rect">
            <a:avLst/>
          </a:prstGeom>
          <a:noFill/>
          <a:ln/>
        </p:spPr>
        <p:txBody>
          <a:bodyPr wrap="square" lIns="0" tIns="0" rIns="0" bIns="0" rtlCol="0" anchor="ctr"/>
          <a:lstStyle/>
          <a:p>
            <a:pPr indent="0" marL="0">
              <a:buNone/>
            </a:pPr>
            <a:r>
              <a:rPr lang="en-US" sz="1200" b="1" dirty="0">
                <a:solidFill>
                  <a:srgbClr val="C62828"/>
                </a:solidFill>
                <a:latin typeface="Aptos Display" pitchFamily="34" charset="0"/>
                <a:ea typeface="Aptos Display" pitchFamily="34" charset="-122"/>
                <a:cs typeface="Aptos Display" pitchFamily="34" charset="-120"/>
              </a:rPr>
              <a:t>Always On AG Failover Complexity</a:t>
            </a:r>
            <a:endParaRPr lang="en-US" sz="1200" dirty="0"/>
          </a:p>
        </p:txBody>
      </p:sp>
      <p:sp>
        <p:nvSpPr>
          <p:cNvPr id="20" name="Text 18"/>
          <p:cNvSpPr/>
          <p:nvPr/>
        </p:nvSpPr>
        <p:spPr>
          <a:xfrm>
            <a:off x="4864608" y="2679192"/>
            <a:ext cx="3931920" cy="68580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CDC does not automatically follow an AG failover. The capture jobs must be manually re-synchronized with the new primary, risking a continuity gap.</a:t>
            </a:r>
            <a:endParaRPr lang="en-US" sz="1050" dirty="0"/>
          </a:p>
        </p:txBody>
      </p:sp>
      <p:sp>
        <p:nvSpPr>
          <p:cNvPr id="21" name="Shape 19"/>
          <p:cNvSpPr/>
          <p:nvPr/>
        </p:nvSpPr>
        <p:spPr>
          <a:xfrm>
            <a:off x="256032" y="3520440"/>
            <a:ext cx="4160520" cy="1188720"/>
          </a:xfrm>
          <a:prstGeom prst="rect">
            <a:avLst/>
          </a:prstGeom>
          <a:solidFill>
            <a:srgbClr val="FFEBEE"/>
          </a:solidFill>
          <a:ln w="12700">
            <a:solidFill>
              <a:srgbClr val="FECACA"/>
            </a:solidFill>
            <a:prstDash val="solid"/>
          </a:ln>
        </p:spPr>
      </p:sp>
      <p:sp>
        <p:nvSpPr>
          <p:cNvPr id="22" name="Shape 20"/>
          <p:cNvSpPr/>
          <p:nvPr/>
        </p:nvSpPr>
        <p:spPr>
          <a:xfrm>
            <a:off x="256032" y="3520440"/>
            <a:ext cx="54864" cy="1188720"/>
          </a:xfrm>
          <a:prstGeom prst="rect">
            <a:avLst/>
          </a:prstGeom>
          <a:solidFill>
            <a:srgbClr val="C62828"/>
          </a:solidFill>
          <a:ln w="12700">
            <a:solidFill>
              <a:srgbClr val="C62828"/>
            </a:solidFill>
            <a:prstDash val="solid"/>
          </a:ln>
        </p:spPr>
      </p:sp>
      <p:sp>
        <p:nvSpPr>
          <p:cNvPr id="23" name="Text 21"/>
          <p:cNvSpPr/>
          <p:nvPr/>
        </p:nvSpPr>
        <p:spPr>
          <a:xfrm>
            <a:off x="393192" y="3611880"/>
            <a:ext cx="3931920" cy="320040"/>
          </a:xfrm>
          <a:prstGeom prst="rect">
            <a:avLst/>
          </a:prstGeom>
          <a:noFill/>
          <a:ln/>
        </p:spPr>
        <p:txBody>
          <a:bodyPr wrap="square" lIns="0" tIns="0" rIns="0" bIns="0" rtlCol="0" anchor="ctr"/>
          <a:lstStyle/>
          <a:p>
            <a:pPr indent="0" marL="0">
              <a:buNone/>
            </a:pPr>
            <a:r>
              <a:rPr lang="en-US" sz="1200" b="1" dirty="0">
                <a:solidFill>
                  <a:srgbClr val="C62828"/>
                </a:solidFill>
                <a:latin typeface="Aptos Display" pitchFamily="34" charset="0"/>
                <a:ea typeface="Aptos Display" pitchFamily="34" charset="-122"/>
                <a:cs typeface="Aptos Display" pitchFamily="34" charset="-120"/>
              </a:rPr>
              <a:t>Log Reader Contention</a:t>
            </a:r>
            <a:endParaRPr lang="en-US" sz="1200" dirty="0"/>
          </a:p>
        </p:txBody>
      </p:sp>
      <p:sp>
        <p:nvSpPr>
          <p:cNvPr id="24" name="Text 22"/>
          <p:cNvSpPr/>
          <p:nvPr/>
        </p:nvSpPr>
        <p:spPr>
          <a:xfrm>
            <a:off x="393192" y="3959352"/>
            <a:ext cx="3931920" cy="68580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If transactional replication is configured on the same database, CDC and replication share the Log Reader Agent. A slow replication subscriber can block CDC advancement.</a:t>
            </a:r>
            <a:endParaRPr lang="en-US" sz="1050" dirty="0"/>
          </a:p>
        </p:txBody>
      </p:sp>
      <p:sp>
        <p:nvSpPr>
          <p:cNvPr id="25" name="Shape 23"/>
          <p:cNvSpPr/>
          <p:nvPr/>
        </p:nvSpPr>
        <p:spPr>
          <a:xfrm>
            <a:off x="4727448" y="3520440"/>
            <a:ext cx="4160520" cy="1188720"/>
          </a:xfrm>
          <a:prstGeom prst="rect">
            <a:avLst/>
          </a:prstGeom>
          <a:solidFill>
            <a:srgbClr val="FFEBEE"/>
          </a:solidFill>
          <a:ln w="12700">
            <a:solidFill>
              <a:srgbClr val="FECACA"/>
            </a:solidFill>
            <a:prstDash val="solid"/>
          </a:ln>
        </p:spPr>
      </p:sp>
      <p:sp>
        <p:nvSpPr>
          <p:cNvPr id="26" name="Shape 24"/>
          <p:cNvSpPr/>
          <p:nvPr/>
        </p:nvSpPr>
        <p:spPr>
          <a:xfrm>
            <a:off x="4727448" y="3520440"/>
            <a:ext cx="54864" cy="1188720"/>
          </a:xfrm>
          <a:prstGeom prst="rect">
            <a:avLst/>
          </a:prstGeom>
          <a:solidFill>
            <a:srgbClr val="C62828"/>
          </a:solidFill>
          <a:ln w="12700">
            <a:solidFill>
              <a:srgbClr val="C62828"/>
            </a:solidFill>
            <a:prstDash val="solid"/>
          </a:ln>
        </p:spPr>
      </p:sp>
      <p:sp>
        <p:nvSpPr>
          <p:cNvPr id="27" name="Text 25"/>
          <p:cNvSpPr/>
          <p:nvPr/>
        </p:nvSpPr>
        <p:spPr>
          <a:xfrm>
            <a:off x="4864608" y="3611880"/>
            <a:ext cx="3931920" cy="320040"/>
          </a:xfrm>
          <a:prstGeom prst="rect">
            <a:avLst/>
          </a:prstGeom>
          <a:noFill/>
          <a:ln/>
        </p:spPr>
        <p:txBody>
          <a:bodyPr wrap="square" lIns="0" tIns="0" rIns="0" bIns="0" rtlCol="0" anchor="ctr"/>
          <a:lstStyle/>
          <a:p>
            <a:pPr indent="0" marL="0">
              <a:buNone/>
            </a:pPr>
            <a:r>
              <a:rPr lang="en-US" sz="1200" b="1" dirty="0">
                <a:solidFill>
                  <a:srgbClr val="C62828"/>
                </a:solidFill>
                <a:latin typeface="Aptos Display" pitchFamily="34" charset="0"/>
                <a:ea typeface="Aptos Display" pitchFamily="34" charset="-122"/>
                <a:cs typeface="Aptos Display" pitchFamily="34" charset="-120"/>
              </a:rPr>
              <a:t>SQL Server Only</a:t>
            </a:r>
            <a:endParaRPr lang="en-US" sz="1200" dirty="0"/>
          </a:p>
        </p:txBody>
      </p:sp>
      <p:sp>
        <p:nvSpPr>
          <p:cNvPr id="28" name="Text 26"/>
          <p:cNvSpPr/>
          <p:nvPr/>
        </p:nvSpPr>
        <p:spPr>
          <a:xfrm>
            <a:off x="4864608" y="3959352"/>
            <a:ext cx="3931920" cy="68580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Native CDC has no concept of heterogeneous sources. As the estate expands to Oracle, PostgreSQL, or cloud databases, a separate CDC mechanism is required for each.</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Reducing Native CDC Operational Load</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Text 3"/>
          <p:cNvSpPr/>
          <p:nvPr/>
        </p:nvSpPr>
        <p:spPr>
          <a:xfrm>
            <a:off x="256032" y="914400"/>
            <a:ext cx="8631936" cy="329184"/>
          </a:xfrm>
          <a:prstGeom prst="rect">
            <a:avLst/>
          </a:prstGeom>
          <a:noFill/>
          <a:ln/>
        </p:spPr>
        <p:txBody>
          <a:bodyPr wrap="square" lIns="0" tIns="0" rIns="0" bIns="0" rtlCol="0" anchor="ctr"/>
          <a:lstStyle/>
          <a:p>
            <a:pPr indent="0" marL="0">
              <a:buNone/>
            </a:pPr>
            <a:r>
              <a:rPr lang="en-US" sz="1200" i="1" dirty="0">
                <a:solidFill>
                  <a:srgbClr val="575A5D"/>
                </a:solidFill>
                <a:latin typeface="Aptos" pitchFamily="34" charset="0"/>
                <a:ea typeface="Aptos" pitchFamily="34" charset="-122"/>
                <a:cs typeface="Aptos" pitchFamily="34" charset="-120"/>
              </a:rPr>
              <a:t>These mitigations reduce friction — but do not eliminate the core problems with schema changes and AG failover.</a:t>
            </a:r>
            <a:endParaRPr lang="en-US" sz="1200" dirty="0"/>
          </a:p>
        </p:txBody>
      </p:sp>
      <p:sp>
        <p:nvSpPr>
          <p:cNvPr id="6" name="Shape 4"/>
          <p:cNvSpPr/>
          <p:nvPr/>
        </p:nvSpPr>
        <p:spPr>
          <a:xfrm>
            <a:off x="256032" y="1325880"/>
            <a:ext cx="8631936" cy="667512"/>
          </a:xfrm>
          <a:prstGeom prst="rect">
            <a:avLst/>
          </a:prstGeom>
          <a:solidFill>
            <a:srgbClr val="E7ECF0"/>
          </a:solidFill>
          <a:ln w="12700">
            <a:solidFill>
              <a:srgbClr val="B6BBC0"/>
            </a:solidFill>
            <a:prstDash val="solid"/>
          </a:ln>
        </p:spPr>
      </p:sp>
      <p:sp>
        <p:nvSpPr>
          <p:cNvPr id="7" name="Shape 5"/>
          <p:cNvSpPr/>
          <p:nvPr/>
        </p:nvSpPr>
        <p:spPr>
          <a:xfrm>
            <a:off x="256032" y="1325880"/>
            <a:ext cx="54864" cy="667512"/>
          </a:xfrm>
          <a:prstGeom prst="rect">
            <a:avLst/>
          </a:prstGeom>
          <a:solidFill>
            <a:srgbClr val="2E7D32"/>
          </a:solidFill>
          <a:ln w="12700">
            <a:solidFill>
              <a:srgbClr val="2E7D32"/>
            </a:solidFill>
            <a:prstDash val="solid"/>
          </a:ln>
        </p:spPr>
      </p:sp>
      <p:sp>
        <p:nvSpPr>
          <p:cNvPr id="8" name="Text 6"/>
          <p:cNvSpPr/>
          <p:nvPr/>
        </p:nvSpPr>
        <p:spPr>
          <a:xfrm>
            <a:off x="411480" y="1389888"/>
            <a:ext cx="2377440" cy="256032"/>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Run CDC Off an AG Read Replica</a:t>
            </a:r>
            <a:endParaRPr lang="en-US" sz="1100" dirty="0"/>
          </a:p>
        </p:txBody>
      </p:sp>
      <p:sp>
        <p:nvSpPr>
          <p:cNvPr id="9" name="Text 7"/>
          <p:cNvSpPr/>
          <p:nvPr/>
        </p:nvSpPr>
        <p:spPr>
          <a:xfrm>
            <a:off x="411480" y="1673352"/>
            <a:ext cx="5897880" cy="274320"/>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Direct the CDC log reader to a readable AG secondary. Isolates CDC I/O from the primary workload. Requires AG configuration and careful LSN management.</a:t>
            </a:r>
            <a:endParaRPr lang="en-US" sz="1000" dirty="0"/>
          </a:p>
        </p:txBody>
      </p:sp>
      <p:sp>
        <p:nvSpPr>
          <p:cNvPr id="10" name="Shape 8"/>
          <p:cNvSpPr/>
          <p:nvPr/>
        </p:nvSpPr>
        <p:spPr>
          <a:xfrm>
            <a:off x="6583680" y="1508760"/>
            <a:ext cx="2212848" cy="301752"/>
          </a:xfrm>
          <a:prstGeom prst="rect">
            <a:avLst/>
          </a:prstGeom>
          <a:solidFill>
            <a:srgbClr val="2E7D32">
              <a:alpha val="15000"/>
            </a:srgbClr>
          </a:solidFill>
          <a:ln w="12700">
            <a:solidFill>
              <a:srgbClr val="2E7D32"/>
            </a:solidFill>
            <a:prstDash val="solid"/>
          </a:ln>
        </p:spPr>
      </p:sp>
      <p:sp>
        <p:nvSpPr>
          <p:cNvPr id="11" name="Text 9"/>
          <p:cNvSpPr/>
          <p:nvPr/>
        </p:nvSpPr>
        <p:spPr>
          <a:xfrm>
            <a:off x="6583680" y="1508760"/>
            <a:ext cx="2212848" cy="301752"/>
          </a:xfrm>
          <a:prstGeom prst="rect">
            <a:avLst/>
          </a:prstGeom>
          <a:noFill/>
          <a:ln/>
        </p:spPr>
        <p:txBody>
          <a:bodyPr wrap="square" lIns="0" tIns="0" rIns="0" bIns="0" rtlCol="0" anchor="ctr"/>
          <a:lstStyle/>
          <a:p>
            <a:pPr algn="ctr" indent="0" marL="0">
              <a:buNone/>
            </a:pPr>
            <a:r>
              <a:rPr lang="en-US" sz="950" b="1" dirty="0">
                <a:solidFill>
                  <a:srgbClr val="2E7D32"/>
                </a:solidFill>
                <a:latin typeface="Aptos" pitchFamily="34" charset="0"/>
                <a:ea typeface="Aptos" pitchFamily="34" charset="-122"/>
                <a:cs typeface="Aptos" pitchFamily="34" charset="-120"/>
              </a:rPr>
              <a:t>Reduces primary load</a:t>
            </a:r>
            <a:endParaRPr lang="en-US" sz="950" dirty="0"/>
          </a:p>
        </p:txBody>
      </p:sp>
      <p:sp>
        <p:nvSpPr>
          <p:cNvPr id="12" name="Shape 10"/>
          <p:cNvSpPr/>
          <p:nvPr/>
        </p:nvSpPr>
        <p:spPr>
          <a:xfrm>
            <a:off x="256032" y="2039112"/>
            <a:ext cx="8631936" cy="667512"/>
          </a:xfrm>
          <a:prstGeom prst="rect">
            <a:avLst/>
          </a:prstGeom>
          <a:solidFill>
            <a:srgbClr val="FFFFFF"/>
          </a:solidFill>
          <a:ln w="12700">
            <a:solidFill>
              <a:srgbClr val="B6BBC0"/>
            </a:solidFill>
            <a:prstDash val="solid"/>
          </a:ln>
        </p:spPr>
      </p:sp>
      <p:sp>
        <p:nvSpPr>
          <p:cNvPr id="13" name="Shape 11"/>
          <p:cNvSpPr/>
          <p:nvPr/>
        </p:nvSpPr>
        <p:spPr>
          <a:xfrm>
            <a:off x="256032" y="2039112"/>
            <a:ext cx="54864" cy="667512"/>
          </a:xfrm>
          <a:prstGeom prst="rect">
            <a:avLst/>
          </a:prstGeom>
          <a:solidFill>
            <a:srgbClr val="085CE5"/>
          </a:solidFill>
          <a:ln w="12700">
            <a:solidFill>
              <a:srgbClr val="085CE5"/>
            </a:solidFill>
            <a:prstDash val="solid"/>
          </a:ln>
        </p:spPr>
      </p:sp>
      <p:sp>
        <p:nvSpPr>
          <p:cNvPr id="14" name="Text 12"/>
          <p:cNvSpPr/>
          <p:nvPr/>
        </p:nvSpPr>
        <p:spPr>
          <a:xfrm>
            <a:off x="411480" y="2103120"/>
            <a:ext cx="2377440" cy="256032"/>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Azure SQL Managed Instance</a:t>
            </a:r>
            <a:endParaRPr lang="en-US" sz="1100" dirty="0"/>
          </a:p>
        </p:txBody>
      </p:sp>
      <p:sp>
        <p:nvSpPr>
          <p:cNvPr id="15" name="Text 13"/>
          <p:cNvSpPr/>
          <p:nvPr/>
        </p:nvSpPr>
        <p:spPr>
          <a:xfrm>
            <a:off x="411480" y="2386584"/>
            <a:ext cx="5897880" cy="274320"/>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SQLMI has tighter CDC integration — CDC jobs are platform-managed and significantly more resilient to instance events than self-managed SQL Server.</a:t>
            </a:r>
            <a:endParaRPr lang="en-US" sz="1000" dirty="0"/>
          </a:p>
        </p:txBody>
      </p:sp>
      <p:sp>
        <p:nvSpPr>
          <p:cNvPr id="16" name="Shape 14"/>
          <p:cNvSpPr/>
          <p:nvPr/>
        </p:nvSpPr>
        <p:spPr>
          <a:xfrm>
            <a:off x="6583680" y="2221992"/>
            <a:ext cx="2212848" cy="301752"/>
          </a:xfrm>
          <a:prstGeom prst="rect">
            <a:avLst/>
          </a:prstGeom>
          <a:solidFill>
            <a:srgbClr val="085CE5">
              <a:alpha val="15000"/>
            </a:srgbClr>
          </a:solidFill>
          <a:ln w="12700">
            <a:solidFill>
              <a:srgbClr val="085CE5"/>
            </a:solidFill>
            <a:prstDash val="solid"/>
          </a:ln>
        </p:spPr>
      </p:sp>
      <p:sp>
        <p:nvSpPr>
          <p:cNvPr id="17" name="Text 15"/>
          <p:cNvSpPr/>
          <p:nvPr/>
        </p:nvSpPr>
        <p:spPr>
          <a:xfrm>
            <a:off x="6583680" y="2221992"/>
            <a:ext cx="2212848" cy="301752"/>
          </a:xfrm>
          <a:prstGeom prst="rect">
            <a:avLst/>
          </a:prstGeom>
          <a:noFill/>
          <a:ln/>
        </p:spPr>
        <p:txBody>
          <a:bodyPr wrap="square" lIns="0" tIns="0" rIns="0" bIns="0" rtlCol="0" anchor="ctr"/>
          <a:lstStyle/>
          <a:p>
            <a:pPr algn="ctr" indent="0" marL="0">
              <a:buNone/>
            </a:pPr>
            <a:r>
              <a:rPr lang="en-US" sz="950" b="1" dirty="0">
                <a:solidFill>
                  <a:srgbClr val="085CE5"/>
                </a:solidFill>
                <a:latin typeface="Aptos" pitchFamily="34" charset="0"/>
                <a:ea typeface="Aptos" pitchFamily="34" charset="-122"/>
                <a:cs typeface="Aptos" pitchFamily="34" charset="-120"/>
              </a:rPr>
              <a:t>Reduces Agent dependency</a:t>
            </a:r>
            <a:endParaRPr lang="en-US" sz="950" dirty="0"/>
          </a:p>
        </p:txBody>
      </p:sp>
      <p:sp>
        <p:nvSpPr>
          <p:cNvPr id="18" name="Shape 16"/>
          <p:cNvSpPr/>
          <p:nvPr/>
        </p:nvSpPr>
        <p:spPr>
          <a:xfrm>
            <a:off x="256032" y="2752344"/>
            <a:ext cx="8631936" cy="667512"/>
          </a:xfrm>
          <a:prstGeom prst="rect">
            <a:avLst/>
          </a:prstGeom>
          <a:solidFill>
            <a:srgbClr val="E7ECF0"/>
          </a:solidFill>
          <a:ln w="12700">
            <a:solidFill>
              <a:srgbClr val="B6BBC0"/>
            </a:solidFill>
            <a:prstDash val="solid"/>
          </a:ln>
        </p:spPr>
      </p:sp>
      <p:sp>
        <p:nvSpPr>
          <p:cNvPr id="19" name="Shape 17"/>
          <p:cNvSpPr/>
          <p:nvPr/>
        </p:nvSpPr>
        <p:spPr>
          <a:xfrm>
            <a:off x="256032" y="2752344"/>
            <a:ext cx="54864" cy="667512"/>
          </a:xfrm>
          <a:prstGeom prst="rect">
            <a:avLst/>
          </a:prstGeom>
          <a:solidFill>
            <a:srgbClr val="1565C0"/>
          </a:solidFill>
          <a:ln w="12700">
            <a:solidFill>
              <a:srgbClr val="1565C0"/>
            </a:solidFill>
            <a:prstDash val="solid"/>
          </a:ln>
        </p:spPr>
      </p:sp>
      <p:sp>
        <p:nvSpPr>
          <p:cNvPr id="20" name="Text 18"/>
          <p:cNvSpPr/>
          <p:nvPr/>
        </p:nvSpPr>
        <p:spPr>
          <a:xfrm>
            <a:off x="411480" y="2816352"/>
            <a:ext cx="2377440" cy="256032"/>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SQL Server Change Tracking (lighter option)</a:t>
            </a:r>
            <a:endParaRPr lang="en-US" sz="1100" dirty="0"/>
          </a:p>
        </p:txBody>
      </p:sp>
      <p:sp>
        <p:nvSpPr>
          <p:cNvPr id="21" name="Text 19"/>
          <p:cNvSpPr/>
          <p:nvPr/>
        </p:nvSpPr>
        <p:spPr>
          <a:xfrm>
            <a:off x="411480" y="3099816"/>
            <a:ext cx="5897880" cy="274320"/>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Tracks which rows changed but not the full before/after image. No Agent dependency, no CDC tables. Suitable for current-state-only sync scenarios.</a:t>
            </a:r>
            <a:endParaRPr lang="en-US" sz="1000" dirty="0"/>
          </a:p>
        </p:txBody>
      </p:sp>
      <p:sp>
        <p:nvSpPr>
          <p:cNvPr id="22" name="Shape 20"/>
          <p:cNvSpPr/>
          <p:nvPr/>
        </p:nvSpPr>
        <p:spPr>
          <a:xfrm>
            <a:off x="6583680" y="2935224"/>
            <a:ext cx="2212848" cy="301752"/>
          </a:xfrm>
          <a:prstGeom prst="rect">
            <a:avLst/>
          </a:prstGeom>
          <a:solidFill>
            <a:srgbClr val="1565C0">
              <a:alpha val="15000"/>
            </a:srgbClr>
          </a:solidFill>
          <a:ln w="12700">
            <a:solidFill>
              <a:srgbClr val="1565C0"/>
            </a:solidFill>
            <a:prstDash val="solid"/>
          </a:ln>
        </p:spPr>
      </p:sp>
      <p:sp>
        <p:nvSpPr>
          <p:cNvPr id="23" name="Text 21"/>
          <p:cNvSpPr/>
          <p:nvPr/>
        </p:nvSpPr>
        <p:spPr>
          <a:xfrm>
            <a:off x="6583680" y="2935224"/>
            <a:ext cx="2212848" cy="301752"/>
          </a:xfrm>
          <a:prstGeom prst="rect">
            <a:avLst/>
          </a:prstGeom>
          <a:noFill/>
          <a:ln/>
        </p:spPr>
        <p:txBody>
          <a:bodyPr wrap="square" lIns="0" tIns="0" rIns="0" bIns="0" rtlCol="0" anchor="ctr"/>
          <a:lstStyle/>
          <a:p>
            <a:pPr algn="ctr" indent="0" marL="0">
              <a:buNone/>
            </a:pPr>
            <a:r>
              <a:rPr lang="en-US" sz="950" b="1" dirty="0">
                <a:solidFill>
                  <a:srgbClr val="1565C0"/>
                </a:solidFill>
                <a:latin typeface="Aptos" pitchFamily="34" charset="0"/>
                <a:ea typeface="Aptos" pitchFamily="34" charset="-122"/>
                <a:cs typeface="Aptos" pitchFamily="34" charset="-120"/>
              </a:rPr>
              <a:t>Simplest; limited history</a:t>
            </a:r>
            <a:endParaRPr lang="en-US" sz="950" dirty="0"/>
          </a:p>
        </p:txBody>
      </p:sp>
      <p:sp>
        <p:nvSpPr>
          <p:cNvPr id="24" name="Shape 22"/>
          <p:cNvSpPr/>
          <p:nvPr/>
        </p:nvSpPr>
        <p:spPr>
          <a:xfrm>
            <a:off x="256032" y="3465576"/>
            <a:ext cx="8631936" cy="667512"/>
          </a:xfrm>
          <a:prstGeom prst="rect">
            <a:avLst/>
          </a:prstGeom>
          <a:solidFill>
            <a:srgbClr val="FFFFFF"/>
          </a:solidFill>
          <a:ln w="12700">
            <a:solidFill>
              <a:srgbClr val="B6BBC0"/>
            </a:solidFill>
            <a:prstDash val="solid"/>
          </a:ln>
        </p:spPr>
      </p:sp>
      <p:sp>
        <p:nvSpPr>
          <p:cNvPr id="25" name="Shape 23"/>
          <p:cNvSpPr/>
          <p:nvPr/>
        </p:nvSpPr>
        <p:spPr>
          <a:xfrm>
            <a:off x="256032" y="3465576"/>
            <a:ext cx="54864" cy="667512"/>
          </a:xfrm>
          <a:prstGeom prst="rect">
            <a:avLst/>
          </a:prstGeom>
          <a:solidFill>
            <a:srgbClr val="6A1B9A"/>
          </a:solidFill>
          <a:ln w="12700">
            <a:solidFill>
              <a:srgbClr val="6A1B9A"/>
            </a:solidFill>
            <a:prstDash val="solid"/>
          </a:ln>
        </p:spPr>
      </p:sp>
      <p:sp>
        <p:nvSpPr>
          <p:cNvPr id="26" name="Text 24"/>
          <p:cNvSpPr/>
          <p:nvPr/>
        </p:nvSpPr>
        <p:spPr>
          <a:xfrm>
            <a:off x="411480" y="3529584"/>
            <a:ext cx="2377440" cy="256032"/>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Automated Capture Instance Rotation</a:t>
            </a:r>
            <a:endParaRPr lang="en-US" sz="1100" dirty="0"/>
          </a:p>
        </p:txBody>
      </p:sp>
      <p:sp>
        <p:nvSpPr>
          <p:cNvPr id="27" name="Text 25"/>
          <p:cNvSpPr/>
          <p:nvPr/>
        </p:nvSpPr>
        <p:spPr>
          <a:xfrm>
            <a:off x="411480" y="3813048"/>
            <a:ext cx="5897880" cy="274320"/>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Scripted SQL Agent jobs that detect schema changes and automate the drop/recreate capture instance workflow. Reduces manual effort but does not close the gap window.</a:t>
            </a:r>
            <a:endParaRPr lang="en-US" sz="1000" dirty="0"/>
          </a:p>
        </p:txBody>
      </p:sp>
      <p:sp>
        <p:nvSpPr>
          <p:cNvPr id="28" name="Shape 26"/>
          <p:cNvSpPr/>
          <p:nvPr/>
        </p:nvSpPr>
        <p:spPr>
          <a:xfrm>
            <a:off x="6583680" y="3648456"/>
            <a:ext cx="2212848" cy="301752"/>
          </a:xfrm>
          <a:prstGeom prst="rect">
            <a:avLst/>
          </a:prstGeom>
          <a:solidFill>
            <a:srgbClr val="6A1B9A">
              <a:alpha val="15000"/>
            </a:srgbClr>
          </a:solidFill>
          <a:ln w="12700">
            <a:solidFill>
              <a:srgbClr val="6A1B9A"/>
            </a:solidFill>
            <a:prstDash val="solid"/>
          </a:ln>
        </p:spPr>
      </p:sp>
      <p:sp>
        <p:nvSpPr>
          <p:cNvPr id="29" name="Text 27"/>
          <p:cNvSpPr/>
          <p:nvPr/>
        </p:nvSpPr>
        <p:spPr>
          <a:xfrm>
            <a:off x="6583680" y="3648456"/>
            <a:ext cx="2212848" cy="301752"/>
          </a:xfrm>
          <a:prstGeom prst="rect">
            <a:avLst/>
          </a:prstGeom>
          <a:noFill/>
          <a:ln/>
        </p:spPr>
        <p:txBody>
          <a:bodyPr wrap="square" lIns="0" tIns="0" rIns="0" bIns="0" rtlCol="0" anchor="ctr"/>
          <a:lstStyle/>
          <a:p>
            <a:pPr algn="ctr" indent="0" marL="0">
              <a:buNone/>
            </a:pPr>
            <a:r>
              <a:rPr lang="en-US" sz="950" b="1" dirty="0">
                <a:solidFill>
                  <a:srgbClr val="6A1B9A"/>
                </a:solidFill>
                <a:latin typeface="Aptos" pitchFamily="34" charset="0"/>
                <a:ea typeface="Aptos" pitchFamily="34" charset="-122"/>
                <a:cs typeface="Aptos" pitchFamily="34" charset="-120"/>
              </a:rPr>
              <a:t>Reduces schema change pain</a:t>
            </a:r>
            <a:endParaRPr lang="en-US" sz="950" dirty="0"/>
          </a:p>
        </p:txBody>
      </p:sp>
      <p:sp>
        <p:nvSpPr>
          <p:cNvPr id="30" name="Shape 28"/>
          <p:cNvSpPr/>
          <p:nvPr/>
        </p:nvSpPr>
        <p:spPr>
          <a:xfrm>
            <a:off x="256032" y="4178808"/>
            <a:ext cx="8631936" cy="667512"/>
          </a:xfrm>
          <a:prstGeom prst="rect">
            <a:avLst/>
          </a:prstGeom>
          <a:solidFill>
            <a:srgbClr val="E7ECF0"/>
          </a:solidFill>
          <a:ln w="12700">
            <a:solidFill>
              <a:srgbClr val="B6BBC0"/>
            </a:solidFill>
            <a:prstDash val="solid"/>
          </a:ln>
        </p:spPr>
      </p:sp>
      <p:sp>
        <p:nvSpPr>
          <p:cNvPr id="31" name="Shape 29"/>
          <p:cNvSpPr/>
          <p:nvPr/>
        </p:nvSpPr>
        <p:spPr>
          <a:xfrm>
            <a:off x="256032" y="4178808"/>
            <a:ext cx="54864" cy="667512"/>
          </a:xfrm>
          <a:prstGeom prst="rect">
            <a:avLst/>
          </a:prstGeom>
          <a:solidFill>
            <a:srgbClr val="E65100"/>
          </a:solidFill>
          <a:ln w="12700">
            <a:solidFill>
              <a:srgbClr val="E65100"/>
            </a:solidFill>
            <a:prstDash val="solid"/>
          </a:ln>
        </p:spPr>
      </p:sp>
      <p:sp>
        <p:nvSpPr>
          <p:cNvPr id="32" name="Text 30"/>
          <p:cNvSpPr/>
          <p:nvPr/>
        </p:nvSpPr>
        <p:spPr>
          <a:xfrm>
            <a:off x="411480" y="4242816"/>
            <a:ext cx="2377440" cy="256032"/>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Custom Monitoring &amp; Alerting</a:t>
            </a:r>
            <a:endParaRPr lang="en-US" sz="1100" dirty="0"/>
          </a:p>
        </p:txBody>
      </p:sp>
      <p:sp>
        <p:nvSpPr>
          <p:cNvPr id="33" name="Text 31"/>
          <p:cNvSpPr/>
          <p:nvPr/>
        </p:nvSpPr>
        <p:spPr>
          <a:xfrm>
            <a:off x="411480" y="4526280"/>
            <a:ext cx="5897880" cy="274320"/>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SQL Agent job status monitoring, latency checks comparing max LSN to captured LSN, and alerting via existing tooling. Converts silent failures to visible ones.</a:t>
            </a:r>
            <a:endParaRPr lang="en-US" sz="1000" dirty="0"/>
          </a:p>
        </p:txBody>
      </p:sp>
      <p:sp>
        <p:nvSpPr>
          <p:cNvPr id="34" name="Shape 32"/>
          <p:cNvSpPr/>
          <p:nvPr/>
        </p:nvSpPr>
        <p:spPr>
          <a:xfrm>
            <a:off x="6583680" y="4361688"/>
            <a:ext cx="2212848" cy="301752"/>
          </a:xfrm>
          <a:prstGeom prst="rect">
            <a:avLst/>
          </a:prstGeom>
          <a:solidFill>
            <a:srgbClr val="E65100">
              <a:alpha val="15000"/>
            </a:srgbClr>
          </a:solidFill>
          <a:ln w="12700">
            <a:solidFill>
              <a:srgbClr val="E65100"/>
            </a:solidFill>
            <a:prstDash val="solid"/>
          </a:ln>
        </p:spPr>
      </p:sp>
      <p:sp>
        <p:nvSpPr>
          <p:cNvPr id="35" name="Text 33"/>
          <p:cNvSpPr/>
          <p:nvPr/>
        </p:nvSpPr>
        <p:spPr>
          <a:xfrm>
            <a:off x="6583680" y="4361688"/>
            <a:ext cx="2212848" cy="301752"/>
          </a:xfrm>
          <a:prstGeom prst="rect">
            <a:avLst/>
          </a:prstGeom>
          <a:noFill/>
          <a:ln/>
        </p:spPr>
        <p:txBody>
          <a:bodyPr wrap="square" lIns="0" tIns="0" rIns="0" bIns="0" rtlCol="0" anchor="ctr"/>
          <a:lstStyle/>
          <a:p>
            <a:pPr algn="ctr" indent="0" marL="0">
              <a:buNone/>
            </a:pPr>
            <a:r>
              <a:rPr lang="en-US" sz="950" b="1" dirty="0">
                <a:solidFill>
                  <a:srgbClr val="E65100"/>
                </a:solidFill>
                <a:latin typeface="Aptos" pitchFamily="34" charset="0"/>
                <a:ea typeface="Aptos" pitchFamily="34" charset="-122"/>
                <a:cs typeface="Aptos" pitchFamily="34" charset="-120"/>
              </a:rPr>
              <a:t>Addresses observability gap</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Phase 1: Native SQL Server CDC + Debezium</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Shape 3"/>
          <p:cNvSpPr/>
          <p:nvPr/>
        </p:nvSpPr>
        <p:spPr>
          <a:xfrm>
            <a:off x="91440" y="1417320"/>
            <a:ext cx="1508760" cy="777240"/>
          </a:xfrm>
          <a:prstGeom prst="rect">
            <a:avLst/>
          </a:prstGeom>
          <a:solidFill>
            <a:srgbClr val="06185F"/>
          </a:solidFill>
          <a:ln w="12700">
            <a:solidFill>
              <a:srgbClr val="06185F"/>
            </a:solidFill>
            <a:prstDash val="solid"/>
          </a:ln>
          <a:effectLst>
            <a:outerShdw sx="100000" sy="100000" kx="0" ky="0" algn="bl" rotWithShape="0" blurRad="50800" dist="25400" dir="8100000">
              <a:srgbClr val="000000">
                <a:alpha val="13000"/>
              </a:srgbClr>
            </a:outerShdw>
          </a:effectLst>
        </p:spPr>
      </p:sp>
      <p:sp>
        <p:nvSpPr>
          <p:cNvPr id="6" name="Text 4"/>
          <p:cNvSpPr/>
          <p:nvPr/>
        </p:nvSpPr>
        <p:spPr>
          <a:xfrm>
            <a:off x="91440" y="1481328"/>
            <a:ext cx="15087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Display" pitchFamily="34" charset="0"/>
                <a:ea typeface="Aptos Display" pitchFamily="34" charset="-122"/>
                <a:cs typeface="Aptos Display" pitchFamily="34" charset="-120"/>
              </a:rPr>
              <a:t>SQL Server</a:t>
            </a:r>
            <a:endParaRPr lang="en-US" sz="1100" dirty="0"/>
          </a:p>
        </p:txBody>
      </p:sp>
      <p:sp>
        <p:nvSpPr>
          <p:cNvPr id="7" name="Text 5"/>
          <p:cNvSpPr/>
          <p:nvPr/>
        </p:nvSpPr>
        <p:spPr>
          <a:xfrm>
            <a:off x="91440" y="1874520"/>
            <a:ext cx="1508760" cy="274320"/>
          </a:xfrm>
          <a:prstGeom prst="rect">
            <a:avLst/>
          </a:prstGeom>
          <a:noFill/>
          <a:ln/>
        </p:spPr>
        <p:txBody>
          <a:bodyPr wrap="square" lIns="0" tIns="0" rIns="0" bIns="0" rtlCol="0" anchor="ctr"/>
          <a:lstStyle/>
          <a:p>
            <a:pPr algn="ctr" indent="0" marL="0">
              <a:buNone/>
            </a:pPr>
            <a:r>
              <a:rPr lang="en-US" sz="850" dirty="0">
                <a:solidFill>
                  <a:srgbClr val="E7ECF0"/>
                </a:solidFill>
                <a:latin typeface="Aptos" pitchFamily="34" charset="0"/>
                <a:ea typeface="Aptos" pitchFamily="34" charset="-122"/>
                <a:cs typeface="Aptos" pitchFamily="34" charset="-120"/>
              </a:rPr>
              <a:t>Source DB</a:t>
            </a:r>
            <a:endParaRPr lang="en-US" sz="850" dirty="0"/>
          </a:p>
        </p:txBody>
      </p:sp>
      <p:sp>
        <p:nvSpPr>
          <p:cNvPr id="8" name="Shape 6"/>
          <p:cNvSpPr/>
          <p:nvPr/>
        </p:nvSpPr>
        <p:spPr>
          <a:xfrm>
            <a:off x="1920240" y="1417320"/>
            <a:ext cx="1691640" cy="777240"/>
          </a:xfrm>
          <a:prstGeom prst="rect">
            <a:avLst/>
          </a:prstGeom>
          <a:solidFill>
            <a:srgbClr val="B45309"/>
          </a:solidFill>
          <a:ln w="12700">
            <a:solidFill>
              <a:srgbClr val="B45309"/>
            </a:solidFill>
            <a:prstDash val="solid"/>
          </a:ln>
          <a:effectLst>
            <a:outerShdw sx="100000" sy="100000" kx="0" ky="0" algn="bl" rotWithShape="0" blurRad="50800" dist="25400" dir="8100000">
              <a:srgbClr val="000000">
                <a:alpha val="13000"/>
              </a:srgbClr>
            </a:outerShdw>
          </a:effectLst>
        </p:spPr>
      </p:sp>
      <p:sp>
        <p:nvSpPr>
          <p:cNvPr id="9" name="Text 7"/>
          <p:cNvSpPr/>
          <p:nvPr/>
        </p:nvSpPr>
        <p:spPr>
          <a:xfrm>
            <a:off x="1920240" y="1481328"/>
            <a:ext cx="16916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Display" pitchFamily="34" charset="0"/>
                <a:ea typeface="Aptos Display" pitchFamily="34" charset="-122"/>
                <a:cs typeface="Aptos Display" pitchFamily="34" charset="-120"/>
              </a:rPr>
              <a:t>CDC Tables</a:t>
            </a:r>
            <a:endParaRPr lang="en-US" sz="1100" dirty="0"/>
          </a:p>
        </p:txBody>
      </p:sp>
      <p:sp>
        <p:nvSpPr>
          <p:cNvPr id="10" name="Text 8"/>
          <p:cNvSpPr/>
          <p:nvPr/>
        </p:nvSpPr>
        <p:spPr>
          <a:xfrm>
            <a:off x="1920240" y="1874520"/>
            <a:ext cx="1691640" cy="274320"/>
          </a:xfrm>
          <a:prstGeom prst="rect">
            <a:avLst/>
          </a:prstGeom>
          <a:noFill/>
          <a:ln/>
        </p:spPr>
        <p:txBody>
          <a:bodyPr wrap="square" lIns="0" tIns="0" rIns="0" bIns="0" rtlCol="0" anchor="ctr"/>
          <a:lstStyle/>
          <a:p>
            <a:pPr algn="ctr" indent="0" marL="0">
              <a:buNone/>
            </a:pPr>
            <a:r>
              <a:rPr lang="en-US" sz="850" dirty="0">
                <a:solidFill>
                  <a:srgbClr val="E7ECF0"/>
                </a:solidFill>
                <a:latin typeface="Aptos" pitchFamily="34" charset="0"/>
                <a:ea typeface="Aptos" pitchFamily="34" charset="-122"/>
                <a:cs typeface="Aptos" pitchFamily="34" charset="-120"/>
              </a:rPr>
              <a:t>cdc schema (per table)</a:t>
            </a:r>
            <a:endParaRPr lang="en-US" sz="850" dirty="0"/>
          </a:p>
        </p:txBody>
      </p:sp>
      <p:sp>
        <p:nvSpPr>
          <p:cNvPr id="11" name="Shape 9"/>
          <p:cNvSpPr/>
          <p:nvPr/>
        </p:nvSpPr>
        <p:spPr>
          <a:xfrm>
            <a:off x="3931920" y="1417320"/>
            <a:ext cx="1828800" cy="777240"/>
          </a:xfrm>
          <a:prstGeom prst="rect">
            <a:avLst/>
          </a:prstGeom>
          <a:solidFill>
            <a:srgbClr val="6A1B9A"/>
          </a:solidFill>
          <a:ln w="12700">
            <a:solidFill>
              <a:srgbClr val="6A1B9A"/>
            </a:solidFill>
            <a:prstDash val="solid"/>
          </a:ln>
          <a:effectLst>
            <a:outerShdw sx="100000" sy="100000" kx="0" ky="0" algn="bl" rotWithShape="0" blurRad="50800" dist="25400" dir="8100000">
              <a:srgbClr val="000000">
                <a:alpha val="13000"/>
              </a:srgbClr>
            </a:outerShdw>
          </a:effectLst>
        </p:spPr>
      </p:sp>
      <p:sp>
        <p:nvSpPr>
          <p:cNvPr id="12" name="Text 10"/>
          <p:cNvSpPr/>
          <p:nvPr/>
        </p:nvSpPr>
        <p:spPr>
          <a:xfrm>
            <a:off x="3931920" y="1481328"/>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Display" pitchFamily="34" charset="0"/>
                <a:ea typeface="Aptos Display" pitchFamily="34" charset="-122"/>
                <a:cs typeface="Aptos Display" pitchFamily="34" charset="-120"/>
              </a:rPr>
              <a:t>Debezium</a:t>
            </a:r>
            <a:endParaRPr lang="en-US" sz="1100" dirty="0"/>
          </a:p>
        </p:txBody>
      </p:sp>
      <p:sp>
        <p:nvSpPr>
          <p:cNvPr id="13" name="Text 11"/>
          <p:cNvSpPr/>
          <p:nvPr/>
        </p:nvSpPr>
        <p:spPr>
          <a:xfrm>
            <a:off x="3931920" y="1874520"/>
            <a:ext cx="1828800" cy="274320"/>
          </a:xfrm>
          <a:prstGeom prst="rect">
            <a:avLst/>
          </a:prstGeom>
          <a:noFill/>
          <a:ln/>
        </p:spPr>
        <p:txBody>
          <a:bodyPr wrap="square" lIns="0" tIns="0" rIns="0" bIns="0" rtlCol="0" anchor="ctr"/>
          <a:lstStyle/>
          <a:p>
            <a:pPr algn="ctr" indent="0" marL="0">
              <a:buNone/>
            </a:pPr>
            <a:r>
              <a:rPr lang="en-US" sz="850" dirty="0">
                <a:solidFill>
                  <a:srgbClr val="E7ECF0"/>
                </a:solidFill>
                <a:latin typeface="Aptos" pitchFamily="34" charset="0"/>
                <a:ea typeface="Aptos" pitchFamily="34" charset="-122"/>
                <a:cs typeface="Aptos" pitchFamily="34" charset="-120"/>
              </a:rPr>
              <a:t>Kafka Connect connector</a:t>
            </a:r>
            <a:endParaRPr lang="en-US" sz="850" dirty="0"/>
          </a:p>
        </p:txBody>
      </p:sp>
      <p:sp>
        <p:nvSpPr>
          <p:cNvPr id="14" name="Shape 12"/>
          <p:cNvSpPr/>
          <p:nvPr/>
        </p:nvSpPr>
        <p:spPr>
          <a:xfrm>
            <a:off x="6080760" y="1417320"/>
            <a:ext cx="1554480" cy="777240"/>
          </a:xfrm>
          <a:prstGeom prst="rect">
            <a:avLst/>
          </a:prstGeom>
          <a:solidFill>
            <a:srgbClr val="1565C0"/>
          </a:solidFill>
          <a:ln w="12700">
            <a:solidFill>
              <a:srgbClr val="1565C0"/>
            </a:solidFill>
            <a:prstDash val="solid"/>
          </a:ln>
          <a:effectLst>
            <a:outerShdw sx="100000" sy="100000" kx="0" ky="0" algn="bl" rotWithShape="0" blurRad="50800" dist="25400" dir="8100000">
              <a:srgbClr val="000000">
                <a:alpha val="13000"/>
              </a:srgbClr>
            </a:outerShdw>
          </a:effectLst>
        </p:spPr>
      </p:sp>
      <p:sp>
        <p:nvSpPr>
          <p:cNvPr id="15" name="Text 13"/>
          <p:cNvSpPr/>
          <p:nvPr/>
        </p:nvSpPr>
        <p:spPr>
          <a:xfrm>
            <a:off x="6080760" y="1481328"/>
            <a:ext cx="15544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Display" pitchFamily="34" charset="0"/>
                <a:ea typeface="Aptos Display" pitchFamily="34" charset="-122"/>
                <a:cs typeface="Aptos Display" pitchFamily="34" charset="-120"/>
              </a:rPr>
              <a:t>Apache Kafka</a:t>
            </a:r>
            <a:endParaRPr lang="en-US" sz="1100" dirty="0"/>
          </a:p>
        </p:txBody>
      </p:sp>
      <p:sp>
        <p:nvSpPr>
          <p:cNvPr id="16" name="Text 14"/>
          <p:cNvSpPr/>
          <p:nvPr/>
        </p:nvSpPr>
        <p:spPr>
          <a:xfrm>
            <a:off x="6080760" y="1874520"/>
            <a:ext cx="1554480" cy="274320"/>
          </a:xfrm>
          <a:prstGeom prst="rect">
            <a:avLst/>
          </a:prstGeom>
          <a:noFill/>
          <a:ln/>
        </p:spPr>
        <p:txBody>
          <a:bodyPr wrap="square" lIns="0" tIns="0" rIns="0" bIns="0" rtlCol="0" anchor="ctr"/>
          <a:lstStyle/>
          <a:p>
            <a:pPr algn="ctr" indent="0" marL="0">
              <a:buNone/>
            </a:pPr>
            <a:r>
              <a:rPr lang="en-US" sz="850" dirty="0">
                <a:solidFill>
                  <a:srgbClr val="E7ECF0"/>
                </a:solidFill>
                <a:latin typeface="Aptos" pitchFamily="34" charset="0"/>
                <a:ea typeface="Aptos" pitchFamily="34" charset="-122"/>
                <a:cs typeface="Aptos" pitchFamily="34" charset="-120"/>
              </a:rPr>
              <a:t>Topics per source table</a:t>
            </a:r>
            <a:endParaRPr lang="en-US" sz="850" dirty="0"/>
          </a:p>
        </p:txBody>
      </p:sp>
      <p:sp>
        <p:nvSpPr>
          <p:cNvPr id="17" name="Shape 15"/>
          <p:cNvSpPr/>
          <p:nvPr/>
        </p:nvSpPr>
        <p:spPr>
          <a:xfrm>
            <a:off x="7955280" y="1417320"/>
            <a:ext cx="1115568" cy="777240"/>
          </a:xfrm>
          <a:prstGeom prst="rect">
            <a:avLst/>
          </a:prstGeom>
          <a:solidFill>
            <a:srgbClr val="2E7D32"/>
          </a:solidFill>
          <a:ln w="12700">
            <a:solidFill>
              <a:srgbClr val="2E7D32"/>
            </a:solidFill>
            <a:prstDash val="solid"/>
          </a:ln>
          <a:effectLst>
            <a:outerShdw sx="100000" sy="100000" kx="0" ky="0" algn="bl" rotWithShape="0" blurRad="50800" dist="25400" dir="8100000">
              <a:srgbClr val="000000">
                <a:alpha val="13000"/>
              </a:srgbClr>
            </a:outerShdw>
          </a:effectLst>
        </p:spPr>
      </p:sp>
      <p:sp>
        <p:nvSpPr>
          <p:cNvPr id="18" name="Text 16"/>
          <p:cNvSpPr/>
          <p:nvPr/>
        </p:nvSpPr>
        <p:spPr>
          <a:xfrm>
            <a:off x="7955280" y="1481328"/>
            <a:ext cx="111556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Display" pitchFamily="34" charset="0"/>
                <a:ea typeface="Aptos Display" pitchFamily="34" charset="-122"/>
                <a:cs typeface="Aptos Display" pitchFamily="34" charset="-120"/>
              </a:rPr>
              <a:t>Consumers</a:t>
            </a:r>
            <a:endParaRPr lang="en-US" sz="1100" dirty="0"/>
          </a:p>
        </p:txBody>
      </p:sp>
      <p:sp>
        <p:nvSpPr>
          <p:cNvPr id="19" name="Text 17"/>
          <p:cNvSpPr/>
          <p:nvPr/>
        </p:nvSpPr>
        <p:spPr>
          <a:xfrm>
            <a:off x="7955280" y="1874520"/>
            <a:ext cx="1115568" cy="274320"/>
          </a:xfrm>
          <a:prstGeom prst="rect">
            <a:avLst/>
          </a:prstGeom>
          <a:noFill/>
          <a:ln/>
        </p:spPr>
        <p:txBody>
          <a:bodyPr wrap="square" lIns="0" tIns="0" rIns="0" bIns="0" rtlCol="0" anchor="ctr"/>
          <a:lstStyle/>
          <a:p>
            <a:pPr algn="ctr" indent="0" marL="0">
              <a:buNone/>
            </a:pPr>
            <a:r>
              <a:rPr lang="en-US" sz="850" dirty="0">
                <a:solidFill>
                  <a:srgbClr val="E7ECF0"/>
                </a:solidFill>
                <a:latin typeface="Aptos" pitchFamily="34" charset="0"/>
                <a:ea typeface="Aptos" pitchFamily="34" charset="-122"/>
                <a:cs typeface="Aptos" pitchFamily="34" charset="-120"/>
              </a:rPr>
              <a:t>DW / Apps</a:t>
            </a:r>
            <a:endParaRPr lang="en-US" sz="850" dirty="0"/>
          </a:p>
        </p:txBody>
      </p:sp>
      <p:sp>
        <p:nvSpPr>
          <p:cNvPr id="20" name="Shape 18"/>
          <p:cNvSpPr/>
          <p:nvPr/>
        </p:nvSpPr>
        <p:spPr>
          <a:xfrm>
            <a:off x="1600200" y="1805940"/>
            <a:ext cx="320040" cy="0"/>
          </a:xfrm>
          <a:prstGeom prst="line">
            <a:avLst/>
          </a:prstGeom>
          <a:noFill/>
          <a:ln w="25400">
            <a:solidFill>
              <a:srgbClr val="B6BBC0"/>
            </a:solidFill>
            <a:prstDash val="solid"/>
            <a:tailEnd type="arrow"/>
          </a:ln>
        </p:spPr>
      </p:sp>
      <p:sp>
        <p:nvSpPr>
          <p:cNvPr id="21" name="Shape 19"/>
          <p:cNvSpPr/>
          <p:nvPr/>
        </p:nvSpPr>
        <p:spPr>
          <a:xfrm>
            <a:off x="3611880" y="1805940"/>
            <a:ext cx="320040" cy="0"/>
          </a:xfrm>
          <a:prstGeom prst="line">
            <a:avLst/>
          </a:prstGeom>
          <a:noFill/>
          <a:ln w="25400">
            <a:solidFill>
              <a:srgbClr val="B6BBC0"/>
            </a:solidFill>
            <a:prstDash val="solid"/>
            <a:tailEnd type="arrow"/>
          </a:ln>
        </p:spPr>
      </p:sp>
      <p:sp>
        <p:nvSpPr>
          <p:cNvPr id="22" name="Shape 20"/>
          <p:cNvSpPr/>
          <p:nvPr/>
        </p:nvSpPr>
        <p:spPr>
          <a:xfrm>
            <a:off x="5760720" y="1805940"/>
            <a:ext cx="320040" cy="0"/>
          </a:xfrm>
          <a:prstGeom prst="line">
            <a:avLst/>
          </a:prstGeom>
          <a:noFill/>
          <a:ln w="25400">
            <a:solidFill>
              <a:srgbClr val="B6BBC0"/>
            </a:solidFill>
            <a:prstDash val="solid"/>
            <a:tailEnd type="arrow"/>
          </a:ln>
        </p:spPr>
      </p:sp>
      <p:sp>
        <p:nvSpPr>
          <p:cNvPr id="23" name="Shape 21"/>
          <p:cNvSpPr/>
          <p:nvPr/>
        </p:nvSpPr>
        <p:spPr>
          <a:xfrm>
            <a:off x="7635240" y="1805940"/>
            <a:ext cx="320040" cy="0"/>
          </a:xfrm>
          <a:prstGeom prst="line">
            <a:avLst/>
          </a:prstGeom>
          <a:noFill/>
          <a:ln w="25400">
            <a:solidFill>
              <a:srgbClr val="B6BBC0"/>
            </a:solidFill>
            <a:prstDash val="solid"/>
            <a:tailEnd type="arrow"/>
          </a:ln>
        </p:spPr>
      </p:sp>
      <p:sp>
        <p:nvSpPr>
          <p:cNvPr id="24" name="Text 22"/>
          <p:cNvSpPr/>
          <p:nvPr/>
        </p:nvSpPr>
        <p:spPr>
          <a:xfrm>
            <a:off x="1508760" y="1005840"/>
            <a:ext cx="548640" cy="384048"/>
          </a:xfrm>
          <a:prstGeom prst="rect">
            <a:avLst/>
          </a:prstGeom>
          <a:noFill/>
          <a:ln/>
        </p:spPr>
        <p:txBody>
          <a:bodyPr wrap="square" lIns="0" tIns="0" rIns="0" bIns="0" rtlCol="0" anchor="ctr"/>
          <a:lstStyle/>
          <a:p>
            <a:pPr algn="ctr" indent="0" marL="0">
              <a:buNone/>
            </a:pPr>
            <a:r>
              <a:rPr lang="en-US" sz="800" i="1" dirty="0">
                <a:solidFill>
                  <a:srgbClr val="B6BBC0"/>
                </a:solidFill>
                <a:latin typeface="Aptos" pitchFamily="34" charset="0"/>
                <a:ea typeface="Aptos" pitchFamily="34" charset="-122"/>
                <a:cs typeface="Aptos" pitchFamily="34" charset="-120"/>
              </a:rPr>
              <a:t>Log Reader</a:t>
            </a:r>
            <a:endParaRPr lang="en-US" sz="800" dirty="0"/>
          </a:p>
          <a:p>
            <a:pPr algn="ctr" indent="0" marL="0">
              <a:buNone/>
            </a:pPr>
            <a:r>
              <a:rPr lang="en-US" sz="800" i="1" dirty="0">
                <a:solidFill>
                  <a:srgbClr val="B6BBC0"/>
                </a:solidFill>
                <a:latin typeface="Aptos" pitchFamily="34" charset="0"/>
                <a:ea typeface="Aptos" pitchFamily="34" charset="-122"/>
                <a:cs typeface="Aptos" pitchFamily="34" charset="-120"/>
              </a:rPr>
              <a:t>Agent</a:t>
            </a:r>
            <a:endParaRPr lang="en-US" sz="800" dirty="0"/>
          </a:p>
        </p:txBody>
      </p:sp>
      <p:sp>
        <p:nvSpPr>
          <p:cNvPr id="25" name="Text 23"/>
          <p:cNvSpPr/>
          <p:nvPr/>
        </p:nvSpPr>
        <p:spPr>
          <a:xfrm>
            <a:off x="3520440" y="1005840"/>
            <a:ext cx="502920" cy="384048"/>
          </a:xfrm>
          <a:prstGeom prst="rect">
            <a:avLst/>
          </a:prstGeom>
          <a:noFill/>
          <a:ln/>
        </p:spPr>
        <p:txBody>
          <a:bodyPr wrap="square" lIns="0" tIns="0" rIns="0" bIns="0" rtlCol="0" anchor="ctr"/>
          <a:lstStyle/>
          <a:p>
            <a:pPr algn="ctr" indent="0" marL="0">
              <a:buNone/>
            </a:pPr>
            <a:r>
              <a:rPr lang="en-US" sz="800" i="1" dirty="0">
                <a:solidFill>
                  <a:srgbClr val="B6BBC0"/>
                </a:solidFill>
                <a:latin typeface="Aptos" pitchFamily="34" charset="0"/>
                <a:ea typeface="Aptos" pitchFamily="34" charset="-122"/>
                <a:cs typeface="Aptos" pitchFamily="34" charset="-120"/>
              </a:rPr>
              <a:t>Polls CDC</a:t>
            </a:r>
            <a:endParaRPr lang="en-US" sz="800" dirty="0"/>
          </a:p>
          <a:p>
            <a:pPr algn="ctr" indent="0" marL="0">
              <a:buNone/>
            </a:pPr>
            <a:r>
              <a:rPr lang="en-US" sz="800" i="1" dirty="0">
                <a:solidFill>
                  <a:srgbClr val="B6BBC0"/>
                </a:solidFill>
                <a:latin typeface="Aptos" pitchFamily="34" charset="0"/>
                <a:ea typeface="Aptos" pitchFamily="34" charset="-122"/>
                <a:cs typeface="Aptos" pitchFamily="34" charset="-120"/>
              </a:rPr>
              <a:t>tables</a:t>
            </a:r>
            <a:endParaRPr lang="en-US" sz="800" dirty="0"/>
          </a:p>
        </p:txBody>
      </p:sp>
      <p:sp>
        <p:nvSpPr>
          <p:cNvPr id="26" name="Shape 24"/>
          <p:cNvSpPr/>
          <p:nvPr/>
        </p:nvSpPr>
        <p:spPr>
          <a:xfrm>
            <a:off x="256032" y="2505456"/>
            <a:ext cx="54864" cy="246888"/>
          </a:xfrm>
          <a:prstGeom prst="rect">
            <a:avLst/>
          </a:prstGeom>
          <a:solidFill>
            <a:srgbClr val="6A1B9A"/>
          </a:solidFill>
          <a:ln w="12700">
            <a:solidFill>
              <a:srgbClr val="6A1B9A"/>
            </a:solidFill>
            <a:prstDash val="solid"/>
          </a:ln>
        </p:spPr>
      </p:sp>
      <p:sp>
        <p:nvSpPr>
          <p:cNvPr id="27" name="Text 25"/>
          <p:cNvSpPr/>
          <p:nvPr/>
        </p:nvSpPr>
        <p:spPr>
          <a:xfrm>
            <a:off x="402336" y="2468880"/>
            <a:ext cx="1280160" cy="310896"/>
          </a:xfrm>
          <a:prstGeom prst="rect">
            <a:avLst/>
          </a:prstGeom>
          <a:noFill/>
          <a:ln/>
        </p:spPr>
        <p:txBody>
          <a:bodyPr wrap="square" lIns="0" tIns="0" rIns="0" bIns="0" rtlCol="0" anchor="ctr"/>
          <a:lstStyle/>
          <a:p>
            <a:pPr indent="0" marL="0">
              <a:buNone/>
            </a:pPr>
            <a:r>
              <a:rPr lang="en-US" sz="1050" b="1" dirty="0">
                <a:solidFill>
                  <a:srgbClr val="06185F"/>
                </a:solidFill>
                <a:latin typeface="Aptos" pitchFamily="34" charset="0"/>
                <a:ea typeface="Aptos" pitchFamily="34" charset="-122"/>
                <a:cs typeface="Aptos" pitchFamily="34" charset="-120"/>
              </a:rPr>
              <a:t>Latency:</a:t>
            </a:r>
            <a:endParaRPr lang="en-US" sz="1050" dirty="0"/>
          </a:p>
        </p:txBody>
      </p:sp>
      <p:sp>
        <p:nvSpPr>
          <p:cNvPr id="28" name="Text 26"/>
          <p:cNvSpPr/>
          <p:nvPr/>
        </p:nvSpPr>
        <p:spPr>
          <a:xfrm>
            <a:off x="1682496" y="2468880"/>
            <a:ext cx="7205472" cy="310896"/>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Seconds to low tens of seconds (polling-based via CDC table intervals)</a:t>
            </a:r>
            <a:endParaRPr lang="en-US" sz="1050" dirty="0"/>
          </a:p>
        </p:txBody>
      </p:sp>
      <p:sp>
        <p:nvSpPr>
          <p:cNvPr id="29" name="Shape 27"/>
          <p:cNvSpPr/>
          <p:nvPr/>
        </p:nvSpPr>
        <p:spPr>
          <a:xfrm>
            <a:off x="256032" y="2843784"/>
            <a:ext cx="54864" cy="246888"/>
          </a:xfrm>
          <a:prstGeom prst="rect">
            <a:avLst/>
          </a:prstGeom>
          <a:solidFill>
            <a:srgbClr val="6A1B9A"/>
          </a:solidFill>
          <a:ln w="12700">
            <a:solidFill>
              <a:srgbClr val="6A1B9A"/>
            </a:solidFill>
            <a:prstDash val="solid"/>
          </a:ln>
        </p:spPr>
      </p:sp>
      <p:sp>
        <p:nvSpPr>
          <p:cNvPr id="30" name="Text 28"/>
          <p:cNvSpPr/>
          <p:nvPr/>
        </p:nvSpPr>
        <p:spPr>
          <a:xfrm>
            <a:off x="402336" y="2807208"/>
            <a:ext cx="1280160" cy="310896"/>
          </a:xfrm>
          <a:prstGeom prst="rect">
            <a:avLst/>
          </a:prstGeom>
          <a:noFill/>
          <a:ln/>
        </p:spPr>
        <p:txBody>
          <a:bodyPr wrap="square" lIns="0" tIns="0" rIns="0" bIns="0" rtlCol="0" anchor="ctr"/>
          <a:lstStyle/>
          <a:p>
            <a:pPr indent="0" marL="0">
              <a:buNone/>
            </a:pPr>
            <a:r>
              <a:rPr lang="en-US" sz="1050" b="1" dirty="0">
                <a:solidFill>
                  <a:srgbClr val="06185F"/>
                </a:solidFill>
                <a:latin typeface="Aptos" pitchFamily="34" charset="0"/>
                <a:ea typeface="Aptos" pitchFamily="34" charset="-122"/>
                <a:cs typeface="Aptos" pitchFamily="34" charset="-120"/>
              </a:rPr>
              <a:t>SQL Agent:</a:t>
            </a:r>
            <a:endParaRPr lang="en-US" sz="1050" dirty="0"/>
          </a:p>
        </p:txBody>
      </p:sp>
      <p:sp>
        <p:nvSpPr>
          <p:cNvPr id="31" name="Text 29"/>
          <p:cNvSpPr/>
          <p:nvPr/>
        </p:nvSpPr>
        <p:spPr>
          <a:xfrm>
            <a:off x="1682496" y="2807208"/>
            <a:ext cx="7205472" cy="310896"/>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Required — for CDC capture and cleanup jobs on SQL Server</a:t>
            </a:r>
            <a:endParaRPr lang="en-US" sz="1050" dirty="0"/>
          </a:p>
        </p:txBody>
      </p:sp>
      <p:sp>
        <p:nvSpPr>
          <p:cNvPr id="32" name="Shape 30"/>
          <p:cNvSpPr/>
          <p:nvPr/>
        </p:nvSpPr>
        <p:spPr>
          <a:xfrm>
            <a:off x="256032" y="3182112"/>
            <a:ext cx="54864" cy="246888"/>
          </a:xfrm>
          <a:prstGeom prst="rect">
            <a:avLst/>
          </a:prstGeom>
          <a:solidFill>
            <a:srgbClr val="6A1B9A"/>
          </a:solidFill>
          <a:ln w="12700">
            <a:solidFill>
              <a:srgbClr val="6A1B9A"/>
            </a:solidFill>
            <a:prstDash val="solid"/>
          </a:ln>
        </p:spPr>
      </p:sp>
      <p:sp>
        <p:nvSpPr>
          <p:cNvPr id="33" name="Text 31"/>
          <p:cNvSpPr/>
          <p:nvPr/>
        </p:nvSpPr>
        <p:spPr>
          <a:xfrm>
            <a:off x="402336" y="3145536"/>
            <a:ext cx="1280160" cy="310896"/>
          </a:xfrm>
          <a:prstGeom prst="rect">
            <a:avLst/>
          </a:prstGeom>
          <a:noFill/>
          <a:ln/>
        </p:spPr>
        <p:txBody>
          <a:bodyPr wrap="square" lIns="0" tIns="0" rIns="0" bIns="0" rtlCol="0" anchor="ctr"/>
          <a:lstStyle/>
          <a:p>
            <a:pPr indent="0" marL="0">
              <a:buNone/>
            </a:pPr>
            <a:r>
              <a:rPr lang="en-US" sz="1050" b="1" dirty="0">
                <a:solidFill>
                  <a:srgbClr val="06185F"/>
                </a:solidFill>
                <a:latin typeface="Aptos" pitchFamily="34" charset="0"/>
                <a:ea typeface="Aptos" pitchFamily="34" charset="-122"/>
                <a:cs typeface="Aptos" pitchFamily="34" charset="-120"/>
              </a:rPr>
              <a:t>Schema changes:</a:t>
            </a:r>
            <a:endParaRPr lang="en-US" sz="1050" dirty="0"/>
          </a:p>
        </p:txBody>
      </p:sp>
      <p:sp>
        <p:nvSpPr>
          <p:cNvPr id="34" name="Text 32"/>
          <p:cNvSpPr/>
          <p:nvPr/>
        </p:nvSpPr>
        <p:spPr>
          <a:xfrm>
            <a:off x="1682496" y="3145536"/>
            <a:ext cx="7205472" cy="310896"/>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Manual — capture instance rotation required per DDL change</a:t>
            </a:r>
            <a:endParaRPr lang="en-US" sz="1050" dirty="0"/>
          </a:p>
        </p:txBody>
      </p:sp>
      <p:sp>
        <p:nvSpPr>
          <p:cNvPr id="35" name="Shape 33"/>
          <p:cNvSpPr/>
          <p:nvPr/>
        </p:nvSpPr>
        <p:spPr>
          <a:xfrm>
            <a:off x="256032" y="3520440"/>
            <a:ext cx="54864" cy="246888"/>
          </a:xfrm>
          <a:prstGeom prst="rect">
            <a:avLst/>
          </a:prstGeom>
          <a:solidFill>
            <a:srgbClr val="6A1B9A"/>
          </a:solidFill>
          <a:ln w="12700">
            <a:solidFill>
              <a:srgbClr val="6A1B9A"/>
            </a:solidFill>
            <a:prstDash val="solid"/>
          </a:ln>
        </p:spPr>
      </p:sp>
      <p:sp>
        <p:nvSpPr>
          <p:cNvPr id="36" name="Text 34"/>
          <p:cNvSpPr/>
          <p:nvPr/>
        </p:nvSpPr>
        <p:spPr>
          <a:xfrm>
            <a:off x="402336" y="3483864"/>
            <a:ext cx="1280160" cy="310896"/>
          </a:xfrm>
          <a:prstGeom prst="rect">
            <a:avLst/>
          </a:prstGeom>
          <a:noFill/>
          <a:ln/>
        </p:spPr>
        <p:txBody>
          <a:bodyPr wrap="square" lIns="0" tIns="0" rIns="0" bIns="0" rtlCol="0" anchor="ctr"/>
          <a:lstStyle/>
          <a:p>
            <a:pPr indent="0" marL="0">
              <a:buNone/>
            </a:pPr>
            <a:r>
              <a:rPr lang="en-US" sz="1050" b="1" dirty="0">
                <a:solidFill>
                  <a:srgbClr val="06185F"/>
                </a:solidFill>
                <a:latin typeface="Aptos" pitchFamily="34" charset="0"/>
                <a:ea typeface="Aptos" pitchFamily="34" charset="-122"/>
                <a:cs typeface="Aptos" pitchFamily="34" charset="-120"/>
              </a:rPr>
              <a:t>Targets:</a:t>
            </a:r>
            <a:endParaRPr lang="en-US" sz="1050" dirty="0"/>
          </a:p>
        </p:txBody>
      </p:sp>
      <p:sp>
        <p:nvSpPr>
          <p:cNvPr id="37" name="Text 35"/>
          <p:cNvSpPr/>
          <p:nvPr/>
        </p:nvSpPr>
        <p:spPr>
          <a:xfrm>
            <a:off x="1682496" y="3483864"/>
            <a:ext cx="7205472" cy="310896"/>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Kafka topics → downstream consumers, DW loaders, stream processors</a:t>
            </a:r>
            <a:endParaRPr lang="en-US" sz="1050" dirty="0"/>
          </a:p>
        </p:txBody>
      </p:sp>
      <p:sp>
        <p:nvSpPr>
          <p:cNvPr id="38" name="Shape 36"/>
          <p:cNvSpPr/>
          <p:nvPr/>
        </p:nvSpPr>
        <p:spPr>
          <a:xfrm>
            <a:off x="256032" y="3858768"/>
            <a:ext cx="54864" cy="246888"/>
          </a:xfrm>
          <a:prstGeom prst="rect">
            <a:avLst/>
          </a:prstGeom>
          <a:solidFill>
            <a:srgbClr val="6A1B9A"/>
          </a:solidFill>
          <a:ln w="12700">
            <a:solidFill>
              <a:srgbClr val="6A1B9A"/>
            </a:solidFill>
            <a:prstDash val="solid"/>
          </a:ln>
        </p:spPr>
      </p:sp>
      <p:sp>
        <p:nvSpPr>
          <p:cNvPr id="39" name="Text 37"/>
          <p:cNvSpPr/>
          <p:nvPr/>
        </p:nvSpPr>
        <p:spPr>
          <a:xfrm>
            <a:off x="402336" y="3822192"/>
            <a:ext cx="1280160" cy="310896"/>
          </a:xfrm>
          <a:prstGeom prst="rect">
            <a:avLst/>
          </a:prstGeom>
          <a:noFill/>
          <a:ln/>
        </p:spPr>
        <p:txBody>
          <a:bodyPr wrap="square" lIns="0" tIns="0" rIns="0" bIns="0" rtlCol="0" anchor="ctr"/>
          <a:lstStyle/>
          <a:p>
            <a:pPr indent="0" marL="0">
              <a:buNone/>
            </a:pPr>
            <a:r>
              <a:rPr lang="en-US" sz="1050" b="1" dirty="0">
                <a:solidFill>
                  <a:srgbClr val="06185F"/>
                </a:solidFill>
                <a:latin typeface="Aptos" pitchFamily="34" charset="0"/>
                <a:ea typeface="Aptos" pitchFamily="34" charset="-122"/>
                <a:cs typeface="Aptos" pitchFamily="34" charset="-120"/>
              </a:rPr>
              <a:t>Cost model:</a:t>
            </a:r>
            <a:endParaRPr lang="en-US" sz="1050" dirty="0"/>
          </a:p>
        </p:txBody>
      </p:sp>
      <p:sp>
        <p:nvSpPr>
          <p:cNvPr id="40" name="Text 38"/>
          <p:cNvSpPr/>
          <p:nvPr/>
        </p:nvSpPr>
        <p:spPr>
          <a:xfrm>
            <a:off x="1682496" y="3822192"/>
            <a:ext cx="7205472" cy="310896"/>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Debezium is open source; primary investment is Kafka Connect infrastructure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Debezium + Kafka: Known Limitations to Plan For</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Shape 3"/>
          <p:cNvSpPr/>
          <p:nvPr/>
        </p:nvSpPr>
        <p:spPr>
          <a:xfrm>
            <a:off x="256032" y="960120"/>
            <a:ext cx="4114800" cy="804672"/>
          </a:xfrm>
          <a:prstGeom prst="rect">
            <a:avLst/>
          </a:prstGeom>
          <a:solidFill>
            <a:srgbClr val="E7ECF0"/>
          </a:solidFill>
          <a:ln w="12700">
            <a:solidFill>
              <a:srgbClr val="B6BBC0"/>
            </a:solidFill>
            <a:prstDash val="solid"/>
          </a:ln>
        </p:spPr>
      </p:sp>
      <p:sp>
        <p:nvSpPr>
          <p:cNvPr id="6" name="Shape 4"/>
          <p:cNvSpPr/>
          <p:nvPr/>
        </p:nvSpPr>
        <p:spPr>
          <a:xfrm>
            <a:off x="256032" y="960120"/>
            <a:ext cx="54864" cy="804672"/>
          </a:xfrm>
          <a:prstGeom prst="rect">
            <a:avLst/>
          </a:prstGeom>
          <a:solidFill>
            <a:srgbClr val="C62828"/>
          </a:solidFill>
          <a:ln w="12700">
            <a:solidFill>
              <a:srgbClr val="C62828"/>
            </a:solidFill>
            <a:prstDash val="solid"/>
          </a:ln>
        </p:spPr>
      </p:sp>
      <p:sp>
        <p:nvSpPr>
          <p:cNvPr id="7" name="Text 5"/>
          <p:cNvSpPr/>
          <p:nvPr/>
        </p:nvSpPr>
        <p:spPr>
          <a:xfrm>
            <a:off x="393192" y="1024128"/>
            <a:ext cx="3456432" cy="274320"/>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Inherits All Native CDC Dependencies</a:t>
            </a:r>
            <a:endParaRPr lang="en-US" sz="1050" dirty="0"/>
          </a:p>
        </p:txBody>
      </p:sp>
      <p:sp>
        <p:nvSpPr>
          <p:cNvPr id="8" name="Shape 6"/>
          <p:cNvSpPr/>
          <p:nvPr/>
        </p:nvSpPr>
        <p:spPr>
          <a:xfrm>
            <a:off x="3895344" y="1033272"/>
            <a:ext cx="429768" cy="237744"/>
          </a:xfrm>
          <a:prstGeom prst="rect">
            <a:avLst/>
          </a:prstGeom>
          <a:solidFill>
            <a:srgbClr val="C62828">
              <a:alpha val="20000"/>
            </a:srgbClr>
          </a:solidFill>
          <a:ln w="12700">
            <a:solidFill>
              <a:srgbClr val="C62828"/>
            </a:solidFill>
            <a:prstDash val="solid"/>
          </a:ln>
        </p:spPr>
      </p:sp>
      <p:sp>
        <p:nvSpPr>
          <p:cNvPr id="9" name="Text 7"/>
          <p:cNvSpPr/>
          <p:nvPr/>
        </p:nvSpPr>
        <p:spPr>
          <a:xfrm>
            <a:off x="3895344" y="1033272"/>
            <a:ext cx="429768" cy="237744"/>
          </a:xfrm>
          <a:prstGeom prst="rect">
            <a:avLst/>
          </a:prstGeom>
          <a:noFill/>
          <a:ln/>
        </p:spPr>
        <p:txBody>
          <a:bodyPr wrap="square" lIns="0" tIns="0" rIns="0" bIns="0" rtlCol="0" anchor="ctr"/>
          <a:lstStyle/>
          <a:p>
            <a:pPr algn="ctr" indent="0" marL="0">
              <a:buNone/>
            </a:pPr>
            <a:r>
              <a:rPr lang="en-US" sz="850" b="1" dirty="0">
                <a:solidFill>
                  <a:srgbClr val="C62828"/>
                </a:solidFill>
                <a:latin typeface="Aptos" pitchFamily="34" charset="0"/>
                <a:ea typeface="Aptos" pitchFamily="34" charset="-122"/>
                <a:cs typeface="Aptos" pitchFamily="34" charset="-120"/>
              </a:rPr>
              <a:t>HIGH</a:t>
            </a:r>
            <a:endParaRPr lang="en-US" sz="850" dirty="0"/>
          </a:p>
        </p:txBody>
      </p:sp>
      <p:sp>
        <p:nvSpPr>
          <p:cNvPr id="10" name="Text 8"/>
          <p:cNvSpPr/>
          <p:nvPr/>
        </p:nvSpPr>
        <p:spPr>
          <a:xfrm>
            <a:off x="393192" y="1325880"/>
            <a:ext cx="3886200" cy="402336"/>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Reads CDC tables, not the SQL Server log. SQL Server Agent, capture instance management, and cleanup jobs all remain required.</a:t>
            </a:r>
            <a:endParaRPr lang="en-US" sz="1000" dirty="0"/>
          </a:p>
        </p:txBody>
      </p:sp>
      <p:sp>
        <p:nvSpPr>
          <p:cNvPr id="11" name="Shape 9"/>
          <p:cNvSpPr/>
          <p:nvPr/>
        </p:nvSpPr>
        <p:spPr>
          <a:xfrm>
            <a:off x="4773168" y="960120"/>
            <a:ext cx="4114800" cy="804672"/>
          </a:xfrm>
          <a:prstGeom prst="rect">
            <a:avLst/>
          </a:prstGeom>
          <a:solidFill>
            <a:srgbClr val="E7ECF0"/>
          </a:solidFill>
          <a:ln w="12700">
            <a:solidFill>
              <a:srgbClr val="B6BBC0"/>
            </a:solidFill>
            <a:prstDash val="solid"/>
          </a:ln>
        </p:spPr>
      </p:sp>
      <p:sp>
        <p:nvSpPr>
          <p:cNvPr id="12" name="Shape 10"/>
          <p:cNvSpPr/>
          <p:nvPr/>
        </p:nvSpPr>
        <p:spPr>
          <a:xfrm>
            <a:off x="4773168" y="960120"/>
            <a:ext cx="54864" cy="804672"/>
          </a:xfrm>
          <a:prstGeom prst="rect">
            <a:avLst/>
          </a:prstGeom>
          <a:solidFill>
            <a:srgbClr val="C62828"/>
          </a:solidFill>
          <a:ln w="12700">
            <a:solidFill>
              <a:srgbClr val="C62828"/>
            </a:solidFill>
            <a:prstDash val="solid"/>
          </a:ln>
        </p:spPr>
      </p:sp>
      <p:sp>
        <p:nvSpPr>
          <p:cNvPr id="13" name="Text 11"/>
          <p:cNvSpPr/>
          <p:nvPr/>
        </p:nvSpPr>
        <p:spPr>
          <a:xfrm>
            <a:off x="4910328" y="1024128"/>
            <a:ext cx="3456432" cy="274320"/>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Schema Changes Require Manual Intervention</a:t>
            </a:r>
            <a:endParaRPr lang="en-US" sz="1050" dirty="0"/>
          </a:p>
        </p:txBody>
      </p:sp>
      <p:sp>
        <p:nvSpPr>
          <p:cNvPr id="14" name="Shape 12"/>
          <p:cNvSpPr/>
          <p:nvPr/>
        </p:nvSpPr>
        <p:spPr>
          <a:xfrm>
            <a:off x="8412480" y="1033272"/>
            <a:ext cx="429768" cy="237744"/>
          </a:xfrm>
          <a:prstGeom prst="rect">
            <a:avLst/>
          </a:prstGeom>
          <a:solidFill>
            <a:srgbClr val="C62828">
              <a:alpha val="20000"/>
            </a:srgbClr>
          </a:solidFill>
          <a:ln w="12700">
            <a:solidFill>
              <a:srgbClr val="C62828"/>
            </a:solidFill>
            <a:prstDash val="solid"/>
          </a:ln>
        </p:spPr>
      </p:sp>
      <p:sp>
        <p:nvSpPr>
          <p:cNvPr id="15" name="Text 13"/>
          <p:cNvSpPr/>
          <p:nvPr/>
        </p:nvSpPr>
        <p:spPr>
          <a:xfrm>
            <a:off x="8412480" y="1033272"/>
            <a:ext cx="429768" cy="237744"/>
          </a:xfrm>
          <a:prstGeom prst="rect">
            <a:avLst/>
          </a:prstGeom>
          <a:noFill/>
          <a:ln/>
        </p:spPr>
        <p:txBody>
          <a:bodyPr wrap="square" lIns="0" tIns="0" rIns="0" bIns="0" rtlCol="0" anchor="ctr"/>
          <a:lstStyle/>
          <a:p>
            <a:pPr algn="ctr" indent="0" marL="0">
              <a:buNone/>
            </a:pPr>
            <a:r>
              <a:rPr lang="en-US" sz="850" b="1" dirty="0">
                <a:solidFill>
                  <a:srgbClr val="C62828"/>
                </a:solidFill>
                <a:latin typeface="Aptos" pitchFamily="34" charset="0"/>
                <a:ea typeface="Aptos" pitchFamily="34" charset="-122"/>
                <a:cs typeface="Aptos" pitchFamily="34" charset="-120"/>
              </a:rPr>
              <a:t>HIGH</a:t>
            </a:r>
            <a:endParaRPr lang="en-US" sz="850" dirty="0"/>
          </a:p>
        </p:txBody>
      </p:sp>
      <p:sp>
        <p:nvSpPr>
          <p:cNvPr id="16" name="Text 14"/>
          <p:cNvSpPr/>
          <p:nvPr/>
        </p:nvSpPr>
        <p:spPr>
          <a:xfrm>
            <a:off x="4910328" y="1325880"/>
            <a:ext cx="3886200" cy="402336"/>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DDL changes on tracked tables require capture instance recreation and connector reconfiguration — no automated DDL tracking.</a:t>
            </a:r>
            <a:endParaRPr lang="en-US" sz="1000" dirty="0"/>
          </a:p>
        </p:txBody>
      </p:sp>
      <p:sp>
        <p:nvSpPr>
          <p:cNvPr id="17" name="Shape 15"/>
          <p:cNvSpPr/>
          <p:nvPr/>
        </p:nvSpPr>
        <p:spPr>
          <a:xfrm>
            <a:off x="256032" y="1828800"/>
            <a:ext cx="4114800" cy="804672"/>
          </a:xfrm>
          <a:prstGeom prst="rect">
            <a:avLst/>
          </a:prstGeom>
          <a:solidFill>
            <a:srgbClr val="E7ECF0"/>
          </a:solidFill>
          <a:ln w="12700">
            <a:solidFill>
              <a:srgbClr val="B6BBC0"/>
            </a:solidFill>
            <a:prstDash val="solid"/>
          </a:ln>
        </p:spPr>
      </p:sp>
      <p:sp>
        <p:nvSpPr>
          <p:cNvPr id="18" name="Shape 16"/>
          <p:cNvSpPr/>
          <p:nvPr/>
        </p:nvSpPr>
        <p:spPr>
          <a:xfrm>
            <a:off x="256032" y="1828800"/>
            <a:ext cx="54864" cy="804672"/>
          </a:xfrm>
          <a:prstGeom prst="rect">
            <a:avLst/>
          </a:prstGeom>
          <a:solidFill>
            <a:srgbClr val="C62828"/>
          </a:solidFill>
          <a:ln w="12700">
            <a:solidFill>
              <a:srgbClr val="C62828"/>
            </a:solidFill>
            <a:prstDash val="solid"/>
          </a:ln>
        </p:spPr>
      </p:sp>
      <p:sp>
        <p:nvSpPr>
          <p:cNvPr id="19" name="Text 17"/>
          <p:cNvSpPr/>
          <p:nvPr/>
        </p:nvSpPr>
        <p:spPr>
          <a:xfrm>
            <a:off x="393192" y="1892808"/>
            <a:ext cx="3456432" cy="274320"/>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LSN Offset Fragility</a:t>
            </a:r>
            <a:endParaRPr lang="en-US" sz="1050" dirty="0"/>
          </a:p>
        </p:txBody>
      </p:sp>
      <p:sp>
        <p:nvSpPr>
          <p:cNvPr id="20" name="Shape 18"/>
          <p:cNvSpPr/>
          <p:nvPr/>
        </p:nvSpPr>
        <p:spPr>
          <a:xfrm>
            <a:off x="3895344" y="1901952"/>
            <a:ext cx="429768" cy="237744"/>
          </a:xfrm>
          <a:prstGeom prst="rect">
            <a:avLst/>
          </a:prstGeom>
          <a:solidFill>
            <a:srgbClr val="C62828">
              <a:alpha val="20000"/>
            </a:srgbClr>
          </a:solidFill>
          <a:ln w="12700">
            <a:solidFill>
              <a:srgbClr val="C62828"/>
            </a:solidFill>
            <a:prstDash val="solid"/>
          </a:ln>
        </p:spPr>
      </p:sp>
      <p:sp>
        <p:nvSpPr>
          <p:cNvPr id="21" name="Text 19"/>
          <p:cNvSpPr/>
          <p:nvPr/>
        </p:nvSpPr>
        <p:spPr>
          <a:xfrm>
            <a:off x="3895344" y="1901952"/>
            <a:ext cx="429768" cy="237744"/>
          </a:xfrm>
          <a:prstGeom prst="rect">
            <a:avLst/>
          </a:prstGeom>
          <a:noFill/>
          <a:ln/>
        </p:spPr>
        <p:txBody>
          <a:bodyPr wrap="square" lIns="0" tIns="0" rIns="0" bIns="0" rtlCol="0" anchor="ctr"/>
          <a:lstStyle/>
          <a:p>
            <a:pPr algn="ctr" indent="0" marL="0">
              <a:buNone/>
            </a:pPr>
            <a:r>
              <a:rPr lang="en-US" sz="850" b="1" dirty="0">
                <a:solidFill>
                  <a:srgbClr val="C62828"/>
                </a:solidFill>
                <a:latin typeface="Aptos" pitchFamily="34" charset="0"/>
                <a:ea typeface="Aptos" pitchFamily="34" charset="-122"/>
                <a:cs typeface="Aptos" pitchFamily="34" charset="-120"/>
              </a:rPr>
              <a:t>HIGH</a:t>
            </a:r>
            <a:endParaRPr lang="en-US" sz="850" dirty="0"/>
          </a:p>
        </p:txBody>
      </p:sp>
      <p:sp>
        <p:nvSpPr>
          <p:cNvPr id="22" name="Text 20"/>
          <p:cNvSpPr/>
          <p:nvPr/>
        </p:nvSpPr>
        <p:spPr>
          <a:xfrm>
            <a:off x="393192" y="2194560"/>
            <a:ext cx="3886200" cy="402336"/>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If the cleanup job removes rows before Debezium processes them (e.g. after an outage), the connector fails and requires a full re-snapshot.</a:t>
            </a:r>
            <a:endParaRPr lang="en-US" sz="1000" dirty="0"/>
          </a:p>
        </p:txBody>
      </p:sp>
      <p:sp>
        <p:nvSpPr>
          <p:cNvPr id="23" name="Shape 21"/>
          <p:cNvSpPr/>
          <p:nvPr/>
        </p:nvSpPr>
        <p:spPr>
          <a:xfrm>
            <a:off x="4773168" y="1828800"/>
            <a:ext cx="4114800" cy="804672"/>
          </a:xfrm>
          <a:prstGeom prst="rect">
            <a:avLst/>
          </a:prstGeom>
          <a:solidFill>
            <a:srgbClr val="E7ECF0"/>
          </a:solidFill>
          <a:ln w="12700">
            <a:solidFill>
              <a:srgbClr val="B6BBC0"/>
            </a:solidFill>
            <a:prstDash val="solid"/>
          </a:ln>
        </p:spPr>
      </p:sp>
      <p:sp>
        <p:nvSpPr>
          <p:cNvPr id="24" name="Shape 22"/>
          <p:cNvSpPr/>
          <p:nvPr/>
        </p:nvSpPr>
        <p:spPr>
          <a:xfrm>
            <a:off x="4773168" y="1828800"/>
            <a:ext cx="54864" cy="804672"/>
          </a:xfrm>
          <a:prstGeom prst="rect">
            <a:avLst/>
          </a:prstGeom>
          <a:solidFill>
            <a:srgbClr val="E65100"/>
          </a:solidFill>
          <a:ln w="12700">
            <a:solidFill>
              <a:srgbClr val="E65100"/>
            </a:solidFill>
            <a:prstDash val="solid"/>
          </a:ln>
        </p:spPr>
      </p:sp>
      <p:sp>
        <p:nvSpPr>
          <p:cNvPr id="25" name="Text 23"/>
          <p:cNvSpPr/>
          <p:nvPr/>
        </p:nvSpPr>
        <p:spPr>
          <a:xfrm>
            <a:off x="4910328" y="1892808"/>
            <a:ext cx="3456432" cy="274320"/>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Initial Snapshot at Scale</a:t>
            </a:r>
            <a:endParaRPr lang="en-US" sz="1050" dirty="0"/>
          </a:p>
        </p:txBody>
      </p:sp>
      <p:sp>
        <p:nvSpPr>
          <p:cNvPr id="26" name="Shape 24"/>
          <p:cNvSpPr/>
          <p:nvPr/>
        </p:nvSpPr>
        <p:spPr>
          <a:xfrm>
            <a:off x="8412480" y="1901952"/>
            <a:ext cx="429768" cy="237744"/>
          </a:xfrm>
          <a:prstGeom prst="rect">
            <a:avLst/>
          </a:prstGeom>
          <a:solidFill>
            <a:srgbClr val="E65100">
              <a:alpha val="20000"/>
            </a:srgbClr>
          </a:solidFill>
          <a:ln w="12700">
            <a:solidFill>
              <a:srgbClr val="E65100"/>
            </a:solidFill>
            <a:prstDash val="solid"/>
          </a:ln>
        </p:spPr>
      </p:sp>
      <p:sp>
        <p:nvSpPr>
          <p:cNvPr id="27" name="Text 25"/>
          <p:cNvSpPr/>
          <p:nvPr/>
        </p:nvSpPr>
        <p:spPr>
          <a:xfrm>
            <a:off x="8412480" y="1901952"/>
            <a:ext cx="429768" cy="237744"/>
          </a:xfrm>
          <a:prstGeom prst="rect">
            <a:avLst/>
          </a:prstGeom>
          <a:noFill/>
          <a:ln/>
        </p:spPr>
        <p:txBody>
          <a:bodyPr wrap="square" lIns="0" tIns="0" rIns="0" bIns="0" rtlCol="0" anchor="ctr"/>
          <a:lstStyle/>
          <a:p>
            <a:pPr algn="ctr" indent="0" marL="0">
              <a:buNone/>
            </a:pPr>
            <a:r>
              <a:rPr lang="en-US" sz="850" b="1" dirty="0">
                <a:solidFill>
                  <a:srgbClr val="E65100"/>
                </a:solidFill>
                <a:latin typeface="Aptos" pitchFamily="34" charset="0"/>
                <a:ea typeface="Aptos" pitchFamily="34" charset="-122"/>
                <a:cs typeface="Aptos" pitchFamily="34" charset="-120"/>
              </a:rPr>
              <a:t>MED</a:t>
            </a:r>
            <a:endParaRPr lang="en-US" sz="850" dirty="0"/>
          </a:p>
        </p:txBody>
      </p:sp>
      <p:sp>
        <p:nvSpPr>
          <p:cNvPr id="28" name="Text 26"/>
          <p:cNvSpPr/>
          <p:nvPr/>
        </p:nvSpPr>
        <p:spPr>
          <a:xfrm>
            <a:off x="4910328" y="2194560"/>
            <a:ext cx="3886200" cy="402336"/>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First-run snapshot of large tables runs under snapshot isolation, can take hours, and generates significant source I/O.</a:t>
            </a:r>
            <a:endParaRPr lang="en-US" sz="1000" dirty="0"/>
          </a:p>
        </p:txBody>
      </p:sp>
      <p:sp>
        <p:nvSpPr>
          <p:cNvPr id="29" name="Shape 27"/>
          <p:cNvSpPr/>
          <p:nvPr/>
        </p:nvSpPr>
        <p:spPr>
          <a:xfrm>
            <a:off x="256032" y="2697480"/>
            <a:ext cx="4114800" cy="804672"/>
          </a:xfrm>
          <a:prstGeom prst="rect">
            <a:avLst/>
          </a:prstGeom>
          <a:solidFill>
            <a:srgbClr val="E7ECF0"/>
          </a:solidFill>
          <a:ln w="12700">
            <a:solidFill>
              <a:srgbClr val="B6BBC0"/>
            </a:solidFill>
            <a:prstDash val="solid"/>
          </a:ln>
        </p:spPr>
      </p:sp>
      <p:sp>
        <p:nvSpPr>
          <p:cNvPr id="30" name="Shape 28"/>
          <p:cNvSpPr/>
          <p:nvPr/>
        </p:nvSpPr>
        <p:spPr>
          <a:xfrm>
            <a:off x="256032" y="2697480"/>
            <a:ext cx="54864" cy="804672"/>
          </a:xfrm>
          <a:prstGeom prst="rect">
            <a:avLst/>
          </a:prstGeom>
          <a:solidFill>
            <a:srgbClr val="E65100"/>
          </a:solidFill>
          <a:ln w="12700">
            <a:solidFill>
              <a:srgbClr val="E65100"/>
            </a:solidFill>
            <a:prstDash val="solid"/>
          </a:ln>
        </p:spPr>
      </p:sp>
      <p:sp>
        <p:nvSpPr>
          <p:cNvPr id="31" name="Text 29"/>
          <p:cNvSpPr/>
          <p:nvPr/>
        </p:nvSpPr>
        <p:spPr>
          <a:xfrm>
            <a:off x="393192" y="2761488"/>
            <a:ext cx="3456432" cy="274320"/>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Kafka Connect Operational Overhead</a:t>
            </a:r>
            <a:endParaRPr lang="en-US" sz="1050" dirty="0"/>
          </a:p>
        </p:txBody>
      </p:sp>
      <p:sp>
        <p:nvSpPr>
          <p:cNvPr id="32" name="Shape 30"/>
          <p:cNvSpPr/>
          <p:nvPr/>
        </p:nvSpPr>
        <p:spPr>
          <a:xfrm>
            <a:off x="3895344" y="2770632"/>
            <a:ext cx="429768" cy="237744"/>
          </a:xfrm>
          <a:prstGeom prst="rect">
            <a:avLst/>
          </a:prstGeom>
          <a:solidFill>
            <a:srgbClr val="E65100">
              <a:alpha val="20000"/>
            </a:srgbClr>
          </a:solidFill>
          <a:ln w="12700">
            <a:solidFill>
              <a:srgbClr val="E65100"/>
            </a:solidFill>
            <a:prstDash val="solid"/>
          </a:ln>
        </p:spPr>
      </p:sp>
      <p:sp>
        <p:nvSpPr>
          <p:cNvPr id="33" name="Text 31"/>
          <p:cNvSpPr/>
          <p:nvPr/>
        </p:nvSpPr>
        <p:spPr>
          <a:xfrm>
            <a:off x="3895344" y="2770632"/>
            <a:ext cx="429768" cy="237744"/>
          </a:xfrm>
          <a:prstGeom prst="rect">
            <a:avLst/>
          </a:prstGeom>
          <a:noFill/>
          <a:ln/>
        </p:spPr>
        <p:txBody>
          <a:bodyPr wrap="square" lIns="0" tIns="0" rIns="0" bIns="0" rtlCol="0" anchor="ctr"/>
          <a:lstStyle/>
          <a:p>
            <a:pPr algn="ctr" indent="0" marL="0">
              <a:buNone/>
            </a:pPr>
            <a:r>
              <a:rPr lang="en-US" sz="850" b="1" dirty="0">
                <a:solidFill>
                  <a:srgbClr val="E65100"/>
                </a:solidFill>
                <a:latin typeface="Aptos" pitchFamily="34" charset="0"/>
                <a:ea typeface="Aptos" pitchFamily="34" charset="-122"/>
                <a:cs typeface="Aptos" pitchFamily="34" charset="-120"/>
              </a:rPr>
              <a:t>MED</a:t>
            </a:r>
            <a:endParaRPr lang="en-US" sz="850" dirty="0"/>
          </a:p>
        </p:txBody>
      </p:sp>
      <p:sp>
        <p:nvSpPr>
          <p:cNvPr id="34" name="Text 32"/>
          <p:cNvSpPr/>
          <p:nvPr/>
        </p:nvSpPr>
        <p:spPr>
          <a:xfrm>
            <a:off x="393192" y="3063240"/>
            <a:ext cx="3886200" cy="402336"/>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Kafka Connect cluster management, worker config, offset topics, schema registry, and connector restart logic are additional operational surface.</a:t>
            </a:r>
            <a:endParaRPr lang="en-US" sz="1000" dirty="0"/>
          </a:p>
        </p:txBody>
      </p:sp>
      <p:sp>
        <p:nvSpPr>
          <p:cNvPr id="35" name="Shape 33"/>
          <p:cNvSpPr/>
          <p:nvPr/>
        </p:nvSpPr>
        <p:spPr>
          <a:xfrm>
            <a:off x="4773168" y="2697480"/>
            <a:ext cx="4114800" cy="804672"/>
          </a:xfrm>
          <a:prstGeom prst="rect">
            <a:avLst/>
          </a:prstGeom>
          <a:solidFill>
            <a:srgbClr val="E7ECF0"/>
          </a:solidFill>
          <a:ln w="12700">
            <a:solidFill>
              <a:srgbClr val="B6BBC0"/>
            </a:solidFill>
            <a:prstDash val="solid"/>
          </a:ln>
        </p:spPr>
      </p:sp>
      <p:sp>
        <p:nvSpPr>
          <p:cNvPr id="36" name="Shape 34"/>
          <p:cNvSpPr/>
          <p:nvPr/>
        </p:nvSpPr>
        <p:spPr>
          <a:xfrm>
            <a:off x="4773168" y="2697480"/>
            <a:ext cx="54864" cy="804672"/>
          </a:xfrm>
          <a:prstGeom prst="rect">
            <a:avLst/>
          </a:prstGeom>
          <a:solidFill>
            <a:srgbClr val="E65100"/>
          </a:solidFill>
          <a:ln w="12700">
            <a:solidFill>
              <a:srgbClr val="E65100"/>
            </a:solidFill>
            <a:prstDash val="solid"/>
          </a:ln>
        </p:spPr>
      </p:sp>
      <p:sp>
        <p:nvSpPr>
          <p:cNvPr id="37" name="Text 35"/>
          <p:cNvSpPr/>
          <p:nvPr/>
        </p:nvSpPr>
        <p:spPr>
          <a:xfrm>
            <a:off x="4910328" y="2761488"/>
            <a:ext cx="3456432" cy="274320"/>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Unsupported SQL Server Data Types</a:t>
            </a:r>
            <a:endParaRPr lang="en-US" sz="1050" dirty="0"/>
          </a:p>
        </p:txBody>
      </p:sp>
      <p:sp>
        <p:nvSpPr>
          <p:cNvPr id="38" name="Shape 36"/>
          <p:cNvSpPr/>
          <p:nvPr/>
        </p:nvSpPr>
        <p:spPr>
          <a:xfrm>
            <a:off x="8412480" y="2770632"/>
            <a:ext cx="429768" cy="237744"/>
          </a:xfrm>
          <a:prstGeom prst="rect">
            <a:avLst/>
          </a:prstGeom>
          <a:solidFill>
            <a:srgbClr val="E65100">
              <a:alpha val="20000"/>
            </a:srgbClr>
          </a:solidFill>
          <a:ln w="12700">
            <a:solidFill>
              <a:srgbClr val="E65100"/>
            </a:solidFill>
            <a:prstDash val="solid"/>
          </a:ln>
        </p:spPr>
      </p:sp>
      <p:sp>
        <p:nvSpPr>
          <p:cNvPr id="39" name="Text 37"/>
          <p:cNvSpPr/>
          <p:nvPr/>
        </p:nvSpPr>
        <p:spPr>
          <a:xfrm>
            <a:off x="8412480" y="2770632"/>
            <a:ext cx="429768" cy="237744"/>
          </a:xfrm>
          <a:prstGeom prst="rect">
            <a:avLst/>
          </a:prstGeom>
          <a:noFill/>
          <a:ln/>
        </p:spPr>
        <p:txBody>
          <a:bodyPr wrap="square" lIns="0" tIns="0" rIns="0" bIns="0" rtlCol="0" anchor="ctr"/>
          <a:lstStyle/>
          <a:p>
            <a:pPr algn="ctr" indent="0" marL="0">
              <a:buNone/>
            </a:pPr>
            <a:r>
              <a:rPr lang="en-US" sz="850" b="1" dirty="0">
                <a:solidFill>
                  <a:srgbClr val="E65100"/>
                </a:solidFill>
                <a:latin typeface="Aptos" pitchFamily="34" charset="0"/>
                <a:ea typeface="Aptos" pitchFamily="34" charset="-122"/>
                <a:cs typeface="Aptos" pitchFamily="34" charset="-120"/>
              </a:rPr>
              <a:t>MED</a:t>
            </a:r>
            <a:endParaRPr lang="en-US" sz="850" dirty="0"/>
          </a:p>
        </p:txBody>
      </p:sp>
      <p:sp>
        <p:nvSpPr>
          <p:cNvPr id="40" name="Text 38"/>
          <p:cNvSpPr/>
          <p:nvPr/>
        </p:nvSpPr>
        <p:spPr>
          <a:xfrm>
            <a:off x="4910328" y="3063240"/>
            <a:ext cx="3886200" cy="402336"/>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hierarchyid, geography, geometry, and sql_variant produce opaque binary output or are unsupported without custom type converters.</a:t>
            </a:r>
            <a:endParaRPr lang="en-US" sz="1000" dirty="0"/>
          </a:p>
        </p:txBody>
      </p:sp>
      <p:sp>
        <p:nvSpPr>
          <p:cNvPr id="41" name="Shape 39"/>
          <p:cNvSpPr/>
          <p:nvPr/>
        </p:nvSpPr>
        <p:spPr>
          <a:xfrm>
            <a:off x="256032" y="3566160"/>
            <a:ext cx="4114800" cy="804672"/>
          </a:xfrm>
          <a:prstGeom prst="rect">
            <a:avLst/>
          </a:prstGeom>
          <a:solidFill>
            <a:srgbClr val="E7ECF0"/>
          </a:solidFill>
          <a:ln w="12700">
            <a:solidFill>
              <a:srgbClr val="B6BBC0"/>
            </a:solidFill>
            <a:prstDash val="solid"/>
          </a:ln>
        </p:spPr>
      </p:sp>
      <p:sp>
        <p:nvSpPr>
          <p:cNvPr id="42" name="Shape 40"/>
          <p:cNvSpPr/>
          <p:nvPr/>
        </p:nvSpPr>
        <p:spPr>
          <a:xfrm>
            <a:off x="256032" y="3566160"/>
            <a:ext cx="54864" cy="804672"/>
          </a:xfrm>
          <a:prstGeom prst="rect">
            <a:avLst/>
          </a:prstGeom>
          <a:solidFill>
            <a:srgbClr val="E65100"/>
          </a:solidFill>
          <a:ln w="12700">
            <a:solidFill>
              <a:srgbClr val="E65100"/>
            </a:solidFill>
            <a:prstDash val="solid"/>
          </a:ln>
        </p:spPr>
      </p:sp>
      <p:sp>
        <p:nvSpPr>
          <p:cNvPr id="43" name="Text 41"/>
          <p:cNvSpPr/>
          <p:nvPr/>
        </p:nvSpPr>
        <p:spPr>
          <a:xfrm>
            <a:off x="393192" y="3630168"/>
            <a:ext cx="3456432" cy="274320"/>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No Cross-Table Transaction Ordering</a:t>
            </a:r>
            <a:endParaRPr lang="en-US" sz="1050" dirty="0"/>
          </a:p>
        </p:txBody>
      </p:sp>
      <p:sp>
        <p:nvSpPr>
          <p:cNvPr id="44" name="Shape 42"/>
          <p:cNvSpPr/>
          <p:nvPr/>
        </p:nvSpPr>
        <p:spPr>
          <a:xfrm>
            <a:off x="3895344" y="3639312"/>
            <a:ext cx="429768" cy="237744"/>
          </a:xfrm>
          <a:prstGeom prst="rect">
            <a:avLst/>
          </a:prstGeom>
          <a:solidFill>
            <a:srgbClr val="E65100">
              <a:alpha val="20000"/>
            </a:srgbClr>
          </a:solidFill>
          <a:ln w="12700">
            <a:solidFill>
              <a:srgbClr val="E65100"/>
            </a:solidFill>
            <a:prstDash val="solid"/>
          </a:ln>
        </p:spPr>
      </p:sp>
      <p:sp>
        <p:nvSpPr>
          <p:cNvPr id="45" name="Text 43"/>
          <p:cNvSpPr/>
          <p:nvPr/>
        </p:nvSpPr>
        <p:spPr>
          <a:xfrm>
            <a:off x="3895344" y="3639312"/>
            <a:ext cx="429768" cy="237744"/>
          </a:xfrm>
          <a:prstGeom prst="rect">
            <a:avLst/>
          </a:prstGeom>
          <a:noFill/>
          <a:ln/>
        </p:spPr>
        <p:txBody>
          <a:bodyPr wrap="square" lIns="0" tIns="0" rIns="0" bIns="0" rtlCol="0" anchor="ctr"/>
          <a:lstStyle/>
          <a:p>
            <a:pPr algn="ctr" indent="0" marL="0">
              <a:buNone/>
            </a:pPr>
            <a:r>
              <a:rPr lang="en-US" sz="850" b="1" dirty="0">
                <a:solidFill>
                  <a:srgbClr val="E65100"/>
                </a:solidFill>
                <a:latin typeface="Aptos" pitchFamily="34" charset="0"/>
                <a:ea typeface="Aptos" pitchFamily="34" charset="-122"/>
                <a:cs typeface="Aptos" pitchFamily="34" charset="-120"/>
              </a:rPr>
              <a:t>MED</a:t>
            </a:r>
            <a:endParaRPr lang="en-US" sz="850" dirty="0"/>
          </a:p>
        </p:txBody>
      </p:sp>
      <p:sp>
        <p:nvSpPr>
          <p:cNvPr id="46" name="Text 44"/>
          <p:cNvSpPr/>
          <p:nvPr/>
        </p:nvSpPr>
        <p:spPr>
          <a:xfrm>
            <a:off x="393192" y="3931920"/>
            <a:ext cx="3886200" cy="402336"/>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Ordering guarantees are per-topic (per table). Multi-table transactions are not delivered with cross-table ordering out of the box.</a:t>
            </a:r>
            <a:endParaRPr lang="en-US" sz="1000" dirty="0"/>
          </a:p>
        </p:txBody>
      </p:sp>
      <p:sp>
        <p:nvSpPr>
          <p:cNvPr id="47" name="Shape 45"/>
          <p:cNvSpPr/>
          <p:nvPr/>
        </p:nvSpPr>
        <p:spPr>
          <a:xfrm>
            <a:off x="4773168" y="3566160"/>
            <a:ext cx="4114800" cy="804672"/>
          </a:xfrm>
          <a:prstGeom prst="rect">
            <a:avLst/>
          </a:prstGeom>
          <a:solidFill>
            <a:srgbClr val="E7ECF0"/>
          </a:solidFill>
          <a:ln w="12700">
            <a:solidFill>
              <a:srgbClr val="B6BBC0"/>
            </a:solidFill>
            <a:prstDash val="solid"/>
          </a:ln>
        </p:spPr>
      </p:sp>
      <p:sp>
        <p:nvSpPr>
          <p:cNvPr id="48" name="Shape 46"/>
          <p:cNvSpPr/>
          <p:nvPr/>
        </p:nvSpPr>
        <p:spPr>
          <a:xfrm>
            <a:off x="4773168" y="3566160"/>
            <a:ext cx="54864" cy="804672"/>
          </a:xfrm>
          <a:prstGeom prst="rect">
            <a:avLst/>
          </a:prstGeom>
          <a:solidFill>
            <a:srgbClr val="2E7D32"/>
          </a:solidFill>
          <a:ln w="12700">
            <a:solidFill>
              <a:srgbClr val="2E7D32"/>
            </a:solidFill>
            <a:prstDash val="solid"/>
          </a:ln>
        </p:spPr>
      </p:sp>
      <p:sp>
        <p:nvSpPr>
          <p:cNvPr id="49" name="Text 47"/>
          <p:cNvSpPr/>
          <p:nvPr/>
        </p:nvSpPr>
        <p:spPr>
          <a:xfrm>
            <a:off x="4910328" y="3630168"/>
            <a:ext cx="3456432" cy="274320"/>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Limited In-Flight Transformation</a:t>
            </a:r>
            <a:endParaRPr lang="en-US" sz="1050" dirty="0"/>
          </a:p>
        </p:txBody>
      </p:sp>
      <p:sp>
        <p:nvSpPr>
          <p:cNvPr id="50" name="Shape 48"/>
          <p:cNvSpPr/>
          <p:nvPr/>
        </p:nvSpPr>
        <p:spPr>
          <a:xfrm>
            <a:off x="8412480" y="3639312"/>
            <a:ext cx="429768" cy="237744"/>
          </a:xfrm>
          <a:prstGeom prst="rect">
            <a:avLst/>
          </a:prstGeom>
          <a:solidFill>
            <a:srgbClr val="2E7D32">
              <a:alpha val="20000"/>
            </a:srgbClr>
          </a:solidFill>
          <a:ln w="12700">
            <a:solidFill>
              <a:srgbClr val="2E7D32"/>
            </a:solidFill>
            <a:prstDash val="solid"/>
          </a:ln>
        </p:spPr>
      </p:sp>
      <p:sp>
        <p:nvSpPr>
          <p:cNvPr id="51" name="Text 49"/>
          <p:cNvSpPr/>
          <p:nvPr/>
        </p:nvSpPr>
        <p:spPr>
          <a:xfrm>
            <a:off x="8412480" y="3639312"/>
            <a:ext cx="429768" cy="237744"/>
          </a:xfrm>
          <a:prstGeom prst="rect">
            <a:avLst/>
          </a:prstGeom>
          <a:noFill/>
          <a:ln/>
        </p:spPr>
        <p:txBody>
          <a:bodyPr wrap="square" lIns="0" tIns="0" rIns="0" bIns="0" rtlCol="0" anchor="ctr"/>
          <a:lstStyle/>
          <a:p>
            <a:pPr algn="ctr" indent="0" marL="0">
              <a:buNone/>
            </a:pPr>
            <a:r>
              <a:rPr lang="en-US" sz="850" b="1" dirty="0">
                <a:solidFill>
                  <a:srgbClr val="2E7D32"/>
                </a:solidFill>
                <a:latin typeface="Aptos" pitchFamily="34" charset="0"/>
                <a:ea typeface="Aptos" pitchFamily="34" charset="-122"/>
                <a:cs typeface="Aptos" pitchFamily="34" charset="-120"/>
              </a:rPr>
              <a:t>LOW</a:t>
            </a:r>
            <a:endParaRPr lang="en-US" sz="850" dirty="0"/>
          </a:p>
        </p:txBody>
      </p:sp>
      <p:sp>
        <p:nvSpPr>
          <p:cNvPr id="52" name="Text 50"/>
          <p:cNvSpPr/>
          <p:nvPr/>
        </p:nvSpPr>
        <p:spPr>
          <a:xfrm>
            <a:off x="4910328" y="3931920"/>
            <a:ext cx="3886200" cy="402336"/>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Single Message Transforms handle basic field changes only. Complex routing, enrichment, or join logic requires a separate layer.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Phase 1: What You Get</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Shape 3"/>
          <p:cNvSpPr/>
          <p:nvPr/>
        </p:nvSpPr>
        <p:spPr>
          <a:xfrm>
            <a:off x="256032" y="914400"/>
            <a:ext cx="3931920" cy="365760"/>
          </a:xfrm>
          <a:prstGeom prst="rect">
            <a:avLst/>
          </a:prstGeom>
          <a:solidFill>
            <a:srgbClr val="E8F5E9"/>
          </a:solidFill>
          <a:ln w="12700">
            <a:solidFill>
              <a:srgbClr val="2E7D32"/>
            </a:solidFill>
            <a:prstDash val="solid"/>
          </a:ln>
        </p:spPr>
      </p:sp>
      <p:sp>
        <p:nvSpPr>
          <p:cNvPr id="6" name="Text 4"/>
          <p:cNvSpPr/>
          <p:nvPr/>
        </p:nvSpPr>
        <p:spPr>
          <a:xfrm>
            <a:off x="301752" y="914400"/>
            <a:ext cx="3840480" cy="365760"/>
          </a:xfrm>
          <a:prstGeom prst="rect">
            <a:avLst/>
          </a:prstGeom>
          <a:noFill/>
          <a:ln/>
        </p:spPr>
        <p:txBody>
          <a:bodyPr wrap="square" lIns="50800" tIns="50800" rIns="50800" bIns="50800" rtlCol="0" anchor="ctr"/>
          <a:lstStyle/>
          <a:p>
            <a:pPr indent="0" marL="0">
              <a:buNone/>
            </a:pPr>
            <a:r>
              <a:rPr lang="en-US" sz="1300" b="1" dirty="0">
                <a:solidFill>
                  <a:srgbClr val="2E7D32"/>
                </a:solidFill>
                <a:latin typeface="Aptos Display" pitchFamily="34" charset="0"/>
                <a:ea typeface="Aptos Display" pitchFamily="34" charset="-122"/>
                <a:cs typeface="Aptos Display" pitchFamily="34" charset="-120"/>
              </a:rPr>
              <a:t>Delivered in Phase 1</a:t>
            </a:r>
            <a:endParaRPr lang="en-US" sz="1300" dirty="0"/>
          </a:p>
        </p:txBody>
      </p:sp>
      <p:sp>
        <p:nvSpPr>
          <p:cNvPr id="7" name="Shape 5"/>
          <p:cNvSpPr/>
          <p:nvPr/>
        </p:nvSpPr>
        <p:spPr>
          <a:xfrm>
            <a:off x="256032" y="1426464"/>
            <a:ext cx="54864" cy="246888"/>
          </a:xfrm>
          <a:prstGeom prst="rect">
            <a:avLst/>
          </a:prstGeom>
          <a:solidFill>
            <a:srgbClr val="2E7D32"/>
          </a:solidFill>
          <a:ln w="12700">
            <a:solidFill>
              <a:srgbClr val="2E7D32"/>
            </a:solidFill>
            <a:prstDash val="solid"/>
          </a:ln>
        </p:spPr>
      </p:sp>
      <p:sp>
        <p:nvSpPr>
          <p:cNvPr id="8" name="Text 6"/>
          <p:cNvSpPr/>
          <p:nvPr/>
        </p:nvSpPr>
        <p:spPr>
          <a:xfrm>
            <a:off x="402336" y="1371600"/>
            <a:ext cx="3657600" cy="347472"/>
          </a:xfrm>
          <a:prstGeom prst="rect">
            <a:avLst/>
          </a:prstGeom>
          <a:noFill/>
          <a:ln/>
        </p:spPr>
        <p:txBody>
          <a:bodyPr wrap="square" lIns="0" tIns="0" rIns="0" bIns="0" rtlCol="0" anchor="ctr"/>
          <a:lstStyle/>
          <a:p>
            <a:pPr indent="0" marL="0">
              <a:buNone/>
            </a:pPr>
            <a:r>
              <a:rPr lang="en-US" sz="1150" dirty="0">
                <a:solidFill>
                  <a:srgbClr val="06185F"/>
                </a:solidFill>
                <a:latin typeface="Aptos" pitchFamily="34" charset="0"/>
                <a:ea typeface="Aptos" pitchFamily="34" charset="-122"/>
                <a:cs typeface="Aptos" pitchFamily="34" charset="-120"/>
              </a:rPr>
              <a:t>Real-time change stream from SQL Server into Kafka topics</a:t>
            </a:r>
            <a:endParaRPr lang="en-US" sz="1150" dirty="0"/>
          </a:p>
        </p:txBody>
      </p:sp>
      <p:sp>
        <p:nvSpPr>
          <p:cNvPr id="9" name="Shape 7"/>
          <p:cNvSpPr/>
          <p:nvPr/>
        </p:nvSpPr>
        <p:spPr>
          <a:xfrm>
            <a:off x="256032" y="1819656"/>
            <a:ext cx="54864" cy="246888"/>
          </a:xfrm>
          <a:prstGeom prst="rect">
            <a:avLst/>
          </a:prstGeom>
          <a:solidFill>
            <a:srgbClr val="2E7D32"/>
          </a:solidFill>
          <a:ln w="12700">
            <a:solidFill>
              <a:srgbClr val="2E7D32"/>
            </a:solidFill>
            <a:prstDash val="solid"/>
          </a:ln>
        </p:spPr>
      </p:sp>
      <p:sp>
        <p:nvSpPr>
          <p:cNvPr id="10" name="Text 8"/>
          <p:cNvSpPr/>
          <p:nvPr/>
        </p:nvSpPr>
        <p:spPr>
          <a:xfrm>
            <a:off x="402336" y="1764792"/>
            <a:ext cx="3657600" cy="347472"/>
          </a:xfrm>
          <a:prstGeom prst="rect">
            <a:avLst/>
          </a:prstGeom>
          <a:noFill/>
          <a:ln/>
        </p:spPr>
        <p:txBody>
          <a:bodyPr wrap="square" lIns="0" tIns="0" rIns="0" bIns="0" rtlCol="0" anchor="ctr"/>
          <a:lstStyle/>
          <a:p>
            <a:pPr indent="0" marL="0">
              <a:buNone/>
            </a:pPr>
            <a:r>
              <a:rPr lang="en-US" sz="1150" dirty="0">
                <a:solidFill>
                  <a:srgbClr val="06185F"/>
                </a:solidFill>
                <a:latin typeface="Aptos" pitchFamily="34" charset="0"/>
                <a:ea typeface="Aptos" pitchFamily="34" charset="-122"/>
                <a:cs typeface="Aptos" pitchFamily="34" charset="-120"/>
              </a:rPr>
              <a:t>Structured change events with before/after row images</a:t>
            </a:r>
            <a:endParaRPr lang="en-US" sz="1150" dirty="0"/>
          </a:p>
        </p:txBody>
      </p:sp>
      <p:sp>
        <p:nvSpPr>
          <p:cNvPr id="11" name="Shape 9"/>
          <p:cNvSpPr/>
          <p:nvPr/>
        </p:nvSpPr>
        <p:spPr>
          <a:xfrm>
            <a:off x="256032" y="2212848"/>
            <a:ext cx="54864" cy="246888"/>
          </a:xfrm>
          <a:prstGeom prst="rect">
            <a:avLst/>
          </a:prstGeom>
          <a:solidFill>
            <a:srgbClr val="2E7D32"/>
          </a:solidFill>
          <a:ln w="12700">
            <a:solidFill>
              <a:srgbClr val="2E7D32"/>
            </a:solidFill>
            <a:prstDash val="solid"/>
          </a:ln>
        </p:spPr>
      </p:sp>
      <p:sp>
        <p:nvSpPr>
          <p:cNvPr id="12" name="Text 10"/>
          <p:cNvSpPr/>
          <p:nvPr/>
        </p:nvSpPr>
        <p:spPr>
          <a:xfrm>
            <a:off x="402336" y="2157984"/>
            <a:ext cx="3657600" cy="347472"/>
          </a:xfrm>
          <a:prstGeom prst="rect">
            <a:avLst/>
          </a:prstGeom>
          <a:noFill/>
          <a:ln/>
        </p:spPr>
        <p:txBody>
          <a:bodyPr wrap="square" lIns="0" tIns="0" rIns="0" bIns="0" rtlCol="0" anchor="ctr"/>
          <a:lstStyle/>
          <a:p>
            <a:pPr indent="0" marL="0">
              <a:buNone/>
            </a:pPr>
            <a:r>
              <a:rPr lang="en-US" sz="1150" dirty="0">
                <a:solidFill>
                  <a:srgbClr val="06185F"/>
                </a:solidFill>
                <a:latin typeface="Aptos" pitchFamily="34" charset="0"/>
                <a:ea typeface="Aptos" pitchFamily="34" charset="-122"/>
                <a:cs typeface="Aptos" pitchFamily="34" charset="-120"/>
              </a:rPr>
              <a:t>LSN-based ordering preserved within each source table</a:t>
            </a:r>
            <a:endParaRPr lang="en-US" sz="1150" dirty="0"/>
          </a:p>
        </p:txBody>
      </p:sp>
      <p:sp>
        <p:nvSpPr>
          <p:cNvPr id="13" name="Shape 11"/>
          <p:cNvSpPr/>
          <p:nvPr/>
        </p:nvSpPr>
        <p:spPr>
          <a:xfrm>
            <a:off x="256032" y="2606040"/>
            <a:ext cx="54864" cy="246888"/>
          </a:xfrm>
          <a:prstGeom prst="rect">
            <a:avLst/>
          </a:prstGeom>
          <a:solidFill>
            <a:srgbClr val="2E7D32"/>
          </a:solidFill>
          <a:ln w="12700">
            <a:solidFill>
              <a:srgbClr val="2E7D32"/>
            </a:solidFill>
            <a:prstDash val="solid"/>
          </a:ln>
        </p:spPr>
      </p:sp>
      <p:sp>
        <p:nvSpPr>
          <p:cNvPr id="14" name="Text 12"/>
          <p:cNvSpPr/>
          <p:nvPr/>
        </p:nvSpPr>
        <p:spPr>
          <a:xfrm>
            <a:off x="402336" y="2551176"/>
            <a:ext cx="3657600" cy="347472"/>
          </a:xfrm>
          <a:prstGeom prst="rect">
            <a:avLst/>
          </a:prstGeom>
          <a:noFill/>
          <a:ln/>
        </p:spPr>
        <p:txBody>
          <a:bodyPr wrap="square" lIns="0" tIns="0" rIns="0" bIns="0" rtlCol="0" anchor="ctr"/>
          <a:lstStyle/>
          <a:p>
            <a:pPr indent="0" marL="0">
              <a:buNone/>
            </a:pPr>
            <a:r>
              <a:rPr lang="en-US" sz="1150" dirty="0">
                <a:solidFill>
                  <a:srgbClr val="06185F"/>
                </a:solidFill>
                <a:latin typeface="Aptos" pitchFamily="34" charset="0"/>
                <a:ea typeface="Aptos" pitchFamily="34" charset="-122"/>
                <a:cs typeface="Aptos" pitchFamily="34" charset="-120"/>
              </a:rPr>
              <a:t>Open-source stack — no commercial CDC license</a:t>
            </a:r>
            <a:endParaRPr lang="en-US" sz="1150" dirty="0"/>
          </a:p>
        </p:txBody>
      </p:sp>
      <p:sp>
        <p:nvSpPr>
          <p:cNvPr id="15" name="Shape 13"/>
          <p:cNvSpPr/>
          <p:nvPr/>
        </p:nvSpPr>
        <p:spPr>
          <a:xfrm>
            <a:off x="256032" y="2999232"/>
            <a:ext cx="54864" cy="246888"/>
          </a:xfrm>
          <a:prstGeom prst="rect">
            <a:avLst/>
          </a:prstGeom>
          <a:solidFill>
            <a:srgbClr val="2E7D32"/>
          </a:solidFill>
          <a:ln w="12700">
            <a:solidFill>
              <a:srgbClr val="2E7D32"/>
            </a:solidFill>
            <a:prstDash val="solid"/>
          </a:ln>
        </p:spPr>
      </p:sp>
      <p:sp>
        <p:nvSpPr>
          <p:cNvPr id="16" name="Text 14"/>
          <p:cNvSpPr/>
          <p:nvPr/>
        </p:nvSpPr>
        <p:spPr>
          <a:xfrm>
            <a:off x="402336" y="2944368"/>
            <a:ext cx="3657600" cy="347472"/>
          </a:xfrm>
          <a:prstGeom prst="rect">
            <a:avLst/>
          </a:prstGeom>
          <a:noFill/>
          <a:ln/>
        </p:spPr>
        <p:txBody>
          <a:bodyPr wrap="square" lIns="0" tIns="0" rIns="0" bIns="0" rtlCol="0" anchor="ctr"/>
          <a:lstStyle/>
          <a:p>
            <a:pPr indent="0" marL="0">
              <a:buNone/>
            </a:pPr>
            <a:r>
              <a:rPr lang="en-US" sz="1150" dirty="0">
                <a:solidFill>
                  <a:srgbClr val="06185F"/>
                </a:solidFill>
                <a:latin typeface="Aptos" pitchFamily="34" charset="0"/>
                <a:ea typeface="Aptos" pitchFamily="34" charset="-122"/>
                <a:cs typeface="Aptos" pitchFamily="34" charset="-120"/>
              </a:rPr>
              <a:t>Replayable from any retained Kafka offset</a:t>
            </a:r>
            <a:endParaRPr lang="en-US" sz="1150" dirty="0"/>
          </a:p>
        </p:txBody>
      </p:sp>
      <p:sp>
        <p:nvSpPr>
          <p:cNvPr id="17" name="Shape 15"/>
          <p:cNvSpPr/>
          <p:nvPr/>
        </p:nvSpPr>
        <p:spPr>
          <a:xfrm>
            <a:off x="256032" y="3392424"/>
            <a:ext cx="54864" cy="246888"/>
          </a:xfrm>
          <a:prstGeom prst="rect">
            <a:avLst/>
          </a:prstGeom>
          <a:solidFill>
            <a:srgbClr val="2E7D32"/>
          </a:solidFill>
          <a:ln w="12700">
            <a:solidFill>
              <a:srgbClr val="2E7D32"/>
            </a:solidFill>
            <a:prstDash val="solid"/>
          </a:ln>
        </p:spPr>
      </p:sp>
      <p:sp>
        <p:nvSpPr>
          <p:cNvPr id="18" name="Text 16"/>
          <p:cNvSpPr/>
          <p:nvPr/>
        </p:nvSpPr>
        <p:spPr>
          <a:xfrm>
            <a:off x="402336" y="3337560"/>
            <a:ext cx="3657600" cy="347472"/>
          </a:xfrm>
          <a:prstGeom prst="rect">
            <a:avLst/>
          </a:prstGeom>
          <a:noFill/>
          <a:ln/>
        </p:spPr>
        <p:txBody>
          <a:bodyPr wrap="square" lIns="0" tIns="0" rIns="0" bIns="0" rtlCol="0" anchor="ctr"/>
          <a:lstStyle/>
          <a:p>
            <a:pPr indent="0" marL="0">
              <a:buNone/>
            </a:pPr>
            <a:r>
              <a:rPr lang="en-US" sz="1150" dirty="0">
                <a:solidFill>
                  <a:srgbClr val="06185F"/>
                </a:solidFill>
                <a:latin typeface="Aptos" pitchFamily="34" charset="0"/>
                <a:ea typeface="Aptos" pitchFamily="34" charset="-122"/>
                <a:cs typeface="Aptos" pitchFamily="34" charset="-120"/>
              </a:rPr>
              <a:t>Foundation for downstream consumers, DW loaders, and event-driven apps</a:t>
            </a:r>
            <a:endParaRPr lang="en-US" sz="1150" dirty="0"/>
          </a:p>
        </p:txBody>
      </p:sp>
      <p:sp>
        <p:nvSpPr>
          <p:cNvPr id="19" name="Shape 17"/>
          <p:cNvSpPr/>
          <p:nvPr/>
        </p:nvSpPr>
        <p:spPr>
          <a:xfrm>
            <a:off x="4681728" y="914400"/>
            <a:ext cx="4206240" cy="365760"/>
          </a:xfrm>
          <a:prstGeom prst="rect">
            <a:avLst/>
          </a:prstGeom>
          <a:solidFill>
            <a:srgbClr val="FFF3E0"/>
          </a:solidFill>
          <a:ln w="12700">
            <a:solidFill>
              <a:srgbClr val="E65100"/>
            </a:solidFill>
            <a:prstDash val="solid"/>
          </a:ln>
        </p:spPr>
      </p:sp>
      <p:sp>
        <p:nvSpPr>
          <p:cNvPr id="20" name="Text 18"/>
          <p:cNvSpPr/>
          <p:nvPr/>
        </p:nvSpPr>
        <p:spPr>
          <a:xfrm>
            <a:off x="4727448" y="914400"/>
            <a:ext cx="4114800" cy="365760"/>
          </a:xfrm>
          <a:prstGeom prst="rect">
            <a:avLst/>
          </a:prstGeom>
          <a:noFill/>
          <a:ln/>
        </p:spPr>
        <p:txBody>
          <a:bodyPr wrap="square" lIns="50800" tIns="50800" rIns="50800" bIns="50800" rtlCol="0" anchor="ctr"/>
          <a:lstStyle/>
          <a:p>
            <a:pPr indent="0" marL="0">
              <a:buNone/>
            </a:pPr>
            <a:r>
              <a:rPr lang="en-US" sz="1300" b="1" dirty="0">
                <a:solidFill>
                  <a:srgbClr val="E65100"/>
                </a:solidFill>
                <a:latin typeface="Aptos Display" pitchFamily="34" charset="0"/>
                <a:ea typeface="Aptos Display" pitchFamily="34" charset="-122"/>
                <a:cs typeface="Aptos Display" pitchFamily="34" charset="-120"/>
              </a:rPr>
              <a:t>Operational Requirements</a:t>
            </a:r>
            <a:endParaRPr lang="en-US" sz="1300" dirty="0"/>
          </a:p>
        </p:txBody>
      </p:sp>
      <p:sp>
        <p:nvSpPr>
          <p:cNvPr id="21" name="Shape 19"/>
          <p:cNvSpPr/>
          <p:nvPr/>
        </p:nvSpPr>
        <p:spPr>
          <a:xfrm>
            <a:off x="4681728" y="1417320"/>
            <a:ext cx="54864" cy="493776"/>
          </a:xfrm>
          <a:prstGeom prst="rect">
            <a:avLst/>
          </a:prstGeom>
          <a:solidFill>
            <a:srgbClr val="E65100"/>
          </a:solidFill>
          <a:ln w="12700">
            <a:solidFill>
              <a:srgbClr val="E65100"/>
            </a:solidFill>
            <a:prstDash val="solid"/>
          </a:ln>
        </p:spPr>
      </p:sp>
      <p:sp>
        <p:nvSpPr>
          <p:cNvPr id="22" name="Text 20"/>
          <p:cNvSpPr/>
          <p:nvPr/>
        </p:nvSpPr>
        <p:spPr>
          <a:xfrm>
            <a:off x="4828032" y="1371600"/>
            <a:ext cx="3950208" cy="256032"/>
          </a:xfrm>
          <a:prstGeom prst="rect">
            <a:avLst/>
          </a:prstGeom>
          <a:noFill/>
          <a:ln/>
        </p:spPr>
        <p:txBody>
          <a:bodyPr wrap="square" lIns="0" tIns="0" rIns="0" bIns="0" rtlCol="0" anchor="ctr"/>
          <a:lstStyle/>
          <a:p>
            <a:pPr indent="0" marL="0">
              <a:buNone/>
            </a:pPr>
            <a:r>
              <a:rPr lang="en-US" sz="1150" b="1" dirty="0">
                <a:solidFill>
                  <a:srgbClr val="06185F"/>
                </a:solidFill>
                <a:latin typeface="Aptos" pitchFamily="34" charset="0"/>
                <a:ea typeface="Aptos" pitchFamily="34" charset="-122"/>
                <a:cs typeface="Aptos" pitchFamily="34" charset="-120"/>
              </a:rPr>
              <a:t>SQL Server Agent must be running</a:t>
            </a:r>
            <a:endParaRPr lang="en-US" sz="1150" dirty="0"/>
          </a:p>
        </p:txBody>
      </p:sp>
      <p:sp>
        <p:nvSpPr>
          <p:cNvPr id="23" name="Text 21"/>
          <p:cNvSpPr/>
          <p:nvPr/>
        </p:nvSpPr>
        <p:spPr>
          <a:xfrm>
            <a:off x="4828032" y="1627632"/>
            <a:ext cx="3950208" cy="256032"/>
          </a:xfrm>
          <a:prstGeom prst="rect">
            <a:avLst/>
          </a:prstGeom>
          <a:noFill/>
          <a:ln/>
        </p:spPr>
        <p:txBody>
          <a:bodyPr wrap="square" lIns="0" tIns="0" rIns="0" bIns="0" rtlCol="0" anchor="ctr"/>
          <a:lstStyle/>
          <a:p>
            <a:pPr indent="0" marL="0">
              <a:buNone/>
            </a:pPr>
            <a:r>
              <a:rPr lang="en-US" sz="1000" i="1" dirty="0">
                <a:solidFill>
                  <a:srgbClr val="575A5D"/>
                </a:solidFill>
                <a:latin typeface="Aptos" pitchFamily="34" charset="0"/>
                <a:ea typeface="Aptos" pitchFamily="34" charset="-122"/>
                <a:cs typeface="Aptos" pitchFamily="34" charset="-120"/>
              </a:rPr>
              <a:t>Existing requirement for most SQL Server installations</a:t>
            </a:r>
            <a:endParaRPr lang="en-US" sz="1000" dirty="0"/>
          </a:p>
        </p:txBody>
      </p:sp>
      <p:sp>
        <p:nvSpPr>
          <p:cNvPr id="24" name="Shape 22"/>
          <p:cNvSpPr/>
          <p:nvPr/>
        </p:nvSpPr>
        <p:spPr>
          <a:xfrm>
            <a:off x="4681728" y="2011680"/>
            <a:ext cx="54864" cy="493776"/>
          </a:xfrm>
          <a:prstGeom prst="rect">
            <a:avLst/>
          </a:prstGeom>
          <a:solidFill>
            <a:srgbClr val="E65100"/>
          </a:solidFill>
          <a:ln w="12700">
            <a:solidFill>
              <a:srgbClr val="E65100"/>
            </a:solidFill>
            <a:prstDash val="solid"/>
          </a:ln>
        </p:spPr>
      </p:sp>
      <p:sp>
        <p:nvSpPr>
          <p:cNvPr id="25" name="Text 23"/>
          <p:cNvSpPr/>
          <p:nvPr/>
        </p:nvSpPr>
        <p:spPr>
          <a:xfrm>
            <a:off x="4828032" y="1965960"/>
            <a:ext cx="3950208" cy="256032"/>
          </a:xfrm>
          <a:prstGeom prst="rect">
            <a:avLst/>
          </a:prstGeom>
          <a:noFill/>
          <a:ln/>
        </p:spPr>
        <p:txBody>
          <a:bodyPr wrap="square" lIns="0" tIns="0" rIns="0" bIns="0" rtlCol="0" anchor="ctr"/>
          <a:lstStyle/>
          <a:p>
            <a:pPr indent="0" marL="0">
              <a:buNone/>
            </a:pPr>
            <a:r>
              <a:rPr lang="en-US" sz="1150" b="1" dirty="0">
                <a:solidFill>
                  <a:srgbClr val="06185F"/>
                </a:solidFill>
                <a:latin typeface="Aptos" pitchFamily="34" charset="0"/>
                <a:ea typeface="Aptos" pitchFamily="34" charset="-122"/>
                <a:cs typeface="Aptos" pitchFamily="34" charset="-120"/>
              </a:rPr>
              <a:t>Enable CDC on target tables (ALTER DATABASE)</a:t>
            </a:r>
            <a:endParaRPr lang="en-US" sz="1150" dirty="0"/>
          </a:p>
        </p:txBody>
      </p:sp>
      <p:sp>
        <p:nvSpPr>
          <p:cNvPr id="26" name="Text 24"/>
          <p:cNvSpPr/>
          <p:nvPr/>
        </p:nvSpPr>
        <p:spPr>
          <a:xfrm>
            <a:off x="4828032" y="2221992"/>
            <a:ext cx="3950208" cy="256032"/>
          </a:xfrm>
          <a:prstGeom prst="rect">
            <a:avLst/>
          </a:prstGeom>
          <a:noFill/>
          <a:ln/>
        </p:spPr>
        <p:txBody>
          <a:bodyPr wrap="square" lIns="0" tIns="0" rIns="0" bIns="0" rtlCol="0" anchor="ctr"/>
          <a:lstStyle/>
          <a:p>
            <a:pPr indent="0" marL="0">
              <a:buNone/>
            </a:pPr>
            <a:r>
              <a:rPr lang="en-US" sz="1000" i="1" dirty="0">
                <a:solidFill>
                  <a:srgbClr val="575A5D"/>
                </a:solidFill>
                <a:latin typeface="Aptos" pitchFamily="34" charset="0"/>
                <a:ea typeface="Aptos" pitchFamily="34" charset="-122"/>
                <a:cs typeface="Aptos" pitchFamily="34" charset="-120"/>
              </a:rPr>
              <a:t>One-time DBA configuration; ~1–2 hours per database</a:t>
            </a:r>
            <a:endParaRPr lang="en-US" sz="1000" dirty="0"/>
          </a:p>
        </p:txBody>
      </p:sp>
      <p:sp>
        <p:nvSpPr>
          <p:cNvPr id="27" name="Shape 25"/>
          <p:cNvSpPr/>
          <p:nvPr/>
        </p:nvSpPr>
        <p:spPr>
          <a:xfrm>
            <a:off x="4681728" y="2606040"/>
            <a:ext cx="54864" cy="493776"/>
          </a:xfrm>
          <a:prstGeom prst="rect">
            <a:avLst/>
          </a:prstGeom>
          <a:solidFill>
            <a:srgbClr val="E65100"/>
          </a:solidFill>
          <a:ln w="12700">
            <a:solidFill>
              <a:srgbClr val="E65100"/>
            </a:solidFill>
            <a:prstDash val="solid"/>
          </a:ln>
        </p:spPr>
      </p:sp>
      <p:sp>
        <p:nvSpPr>
          <p:cNvPr id="28" name="Text 26"/>
          <p:cNvSpPr/>
          <p:nvPr/>
        </p:nvSpPr>
        <p:spPr>
          <a:xfrm>
            <a:off x="4828032" y="2560320"/>
            <a:ext cx="3950208" cy="256032"/>
          </a:xfrm>
          <a:prstGeom prst="rect">
            <a:avLst/>
          </a:prstGeom>
          <a:noFill/>
          <a:ln/>
        </p:spPr>
        <p:txBody>
          <a:bodyPr wrap="square" lIns="0" tIns="0" rIns="0" bIns="0" rtlCol="0" anchor="ctr"/>
          <a:lstStyle/>
          <a:p>
            <a:pPr indent="0" marL="0">
              <a:buNone/>
            </a:pPr>
            <a:r>
              <a:rPr lang="en-US" sz="1150" b="1" dirty="0">
                <a:solidFill>
                  <a:srgbClr val="06185F"/>
                </a:solidFill>
                <a:latin typeface="Aptos" pitchFamily="34" charset="0"/>
                <a:ea typeface="Aptos" pitchFamily="34" charset="-122"/>
                <a:cs typeface="Aptos" pitchFamily="34" charset="-120"/>
              </a:rPr>
              <a:t>Tune CDC cleanup job retention (7+ days)</a:t>
            </a:r>
            <a:endParaRPr lang="en-US" sz="1150" dirty="0"/>
          </a:p>
        </p:txBody>
      </p:sp>
      <p:sp>
        <p:nvSpPr>
          <p:cNvPr id="29" name="Text 27"/>
          <p:cNvSpPr/>
          <p:nvPr/>
        </p:nvSpPr>
        <p:spPr>
          <a:xfrm>
            <a:off x="4828032" y="2816352"/>
            <a:ext cx="3950208" cy="256032"/>
          </a:xfrm>
          <a:prstGeom prst="rect">
            <a:avLst/>
          </a:prstGeom>
          <a:noFill/>
          <a:ln/>
        </p:spPr>
        <p:txBody>
          <a:bodyPr wrap="square" lIns="0" tIns="0" rIns="0" bIns="0" rtlCol="0" anchor="ctr"/>
          <a:lstStyle/>
          <a:p>
            <a:pPr indent="0" marL="0">
              <a:buNone/>
            </a:pPr>
            <a:r>
              <a:rPr lang="en-US" sz="1000" i="1" dirty="0">
                <a:solidFill>
                  <a:srgbClr val="575A5D"/>
                </a:solidFill>
                <a:latin typeface="Aptos" pitchFamily="34" charset="0"/>
                <a:ea typeface="Aptos" pitchFamily="34" charset="-122"/>
                <a:cs typeface="Aptos" pitchFamily="34" charset="-120"/>
              </a:rPr>
              <a:t>Prevents offset loss during Debezium recovery windows</a:t>
            </a:r>
            <a:endParaRPr lang="en-US" sz="1000" dirty="0"/>
          </a:p>
        </p:txBody>
      </p:sp>
      <p:sp>
        <p:nvSpPr>
          <p:cNvPr id="30" name="Shape 28"/>
          <p:cNvSpPr/>
          <p:nvPr/>
        </p:nvSpPr>
        <p:spPr>
          <a:xfrm>
            <a:off x="4681728" y="3200400"/>
            <a:ext cx="54864" cy="493776"/>
          </a:xfrm>
          <a:prstGeom prst="rect">
            <a:avLst/>
          </a:prstGeom>
          <a:solidFill>
            <a:srgbClr val="E65100"/>
          </a:solidFill>
          <a:ln w="12700">
            <a:solidFill>
              <a:srgbClr val="E65100"/>
            </a:solidFill>
            <a:prstDash val="solid"/>
          </a:ln>
        </p:spPr>
      </p:sp>
      <p:sp>
        <p:nvSpPr>
          <p:cNvPr id="31" name="Text 29"/>
          <p:cNvSpPr/>
          <p:nvPr/>
        </p:nvSpPr>
        <p:spPr>
          <a:xfrm>
            <a:off x="4828032" y="3154680"/>
            <a:ext cx="3950208" cy="256032"/>
          </a:xfrm>
          <a:prstGeom prst="rect">
            <a:avLst/>
          </a:prstGeom>
          <a:noFill/>
          <a:ln/>
        </p:spPr>
        <p:txBody>
          <a:bodyPr wrap="square" lIns="0" tIns="0" rIns="0" bIns="0" rtlCol="0" anchor="ctr"/>
          <a:lstStyle/>
          <a:p>
            <a:pPr indent="0" marL="0">
              <a:buNone/>
            </a:pPr>
            <a:r>
              <a:rPr lang="en-US" sz="1150" b="1" dirty="0">
                <a:solidFill>
                  <a:srgbClr val="06185F"/>
                </a:solidFill>
                <a:latin typeface="Aptos" pitchFamily="34" charset="0"/>
                <a:ea typeface="Aptos" pitchFamily="34" charset="-122"/>
                <a:cs typeface="Aptos" pitchFamily="34" charset="-120"/>
              </a:rPr>
              <a:t>Schema change runbook documented</a:t>
            </a:r>
            <a:endParaRPr lang="en-US" sz="1150" dirty="0"/>
          </a:p>
        </p:txBody>
      </p:sp>
      <p:sp>
        <p:nvSpPr>
          <p:cNvPr id="32" name="Text 30"/>
          <p:cNvSpPr/>
          <p:nvPr/>
        </p:nvSpPr>
        <p:spPr>
          <a:xfrm>
            <a:off x="4828032" y="3410712"/>
            <a:ext cx="3950208" cy="256032"/>
          </a:xfrm>
          <a:prstGeom prst="rect">
            <a:avLst/>
          </a:prstGeom>
          <a:noFill/>
          <a:ln/>
        </p:spPr>
        <p:txBody>
          <a:bodyPr wrap="square" lIns="0" tIns="0" rIns="0" bIns="0" rtlCol="0" anchor="ctr"/>
          <a:lstStyle/>
          <a:p>
            <a:pPr indent="0" marL="0">
              <a:buNone/>
            </a:pPr>
            <a:r>
              <a:rPr lang="en-US" sz="1000" i="1" dirty="0">
                <a:solidFill>
                  <a:srgbClr val="575A5D"/>
                </a:solidFill>
                <a:latin typeface="Aptos" pitchFamily="34" charset="0"/>
                <a:ea typeface="Aptos" pitchFamily="34" charset="-122"/>
                <a:cs typeface="Aptos" pitchFamily="34" charset="-120"/>
              </a:rPr>
              <a:t>Capture instance rotation procedure per tracked table</a:t>
            </a:r>
            <a:endParaRPr lang="en-US" sz="1000" dirty="0"/>
          </a:p>
        </p:txBody>
      </p:sp>
      <p:sp>
        <p:nvSpPr>
          <p:cNvPr id="33" name="Shape 31"/>
          <p:cNvSpPr/>
          <p:nvPr/>
        </p:nvSpPr>
        <p:spPr>
          <a:xfrm>
            <a:off x="4681728" y="3794760"/>
            <a:ext cx="54864" cy="493776"/>
          </a:xfrm>
          <a:prstGeom prst="rect">
            <a:avLst/>
          </a:prstGeom>
          <a:solidFill>
            <a:srgbClr val="E65100"/>
          </a:solidFill>
          <a:ln w="12700">
            <a:solidFill>
              <a:srgbClr val="E65100"/>
            </a:solidFill>
            <a:prstDash val="solid"/>
          </a:ln>
        </p:spPr>
      </p:sp>
      <p:sp>
        <p:nvSpPr>
          <p:cNvPr id="34" name="Text 32"/>
          <p:cNvSpPr/>
          <p:nvPr/>
        </p:nvSpPr>
        <p:spPr>
          <a:xfrm>
            <a:off x="4828032" y="3749040"/>
            <a:ext cx="3950208" cy="256032"/>
          </a:xfrm>
          <a:prstGeom prst="rect">
            <a:avLst/>
          </a:prstGeom>
          <a:noFill/>
          <a:ln/>
        </p:spPr>
        <p:txBody>
          <a:bodyPr wrap="square" lIns="0" tIns="0" rIns="0" bIns="0" rtlCol="0" anchor="ctr"/>
          <a:lstStyle/>
          <a:p>
            <a:pPr indent="0" marL="0">
              <a:buNone/>
            </a:pPr>
            <a:r>
              <a:rPr lang="en-US" sz="1150" b="1" dirty="0">
                <a:solidFill>
                  <a:srgbClr val="06185F"/>
                </a:solidFill>
                <a:latin typeface="Aptos" pitchFamily="34" charset="0"/>
                <a:ea typeface="Aptos" pitchFamily="34" charset="-122"/>
                <a:cs typeface="Aptos" pitchFamily="34" charset="-120"/>
              </a:rPr>
              <a:t>Kafka Connect cluster deployed</a:t>
            </a:r>
            <a:endParaRPr lang="en-US" sz="1150" dirty="0"/>
          </a:p>
        </p:txBody>
      </p:sp>
      <p:sp>
        <p:nvSpPr>
          <p:cNvPr id="35" name="Text 33"/>
          <p:cNvSpPr/>
          <p:nvPr/>
        </p:nvSpPr>
        <p:spPr>
          <a:xfrm>
            <a:off x="4828032" y="4005072"/>
            <a:ext cx="3950208" cy="256032"/>
          </a:xfrm>
          <a:prstGeom prst="rect">
            <a:avLst/>
          </a:prstGeom>
          <a:noFill/>
          <a:ln/>
        </p:spPr>
        <p:txBody>
          <a:bodyPr wrap="square" lIns="0" tIns="0" rIns="0" bIns="0" rtlCol="0" anchor="ctr"/>
          <a:lstStyle/>
          <a:p>
            <a:pPr indent="0" marL="0">
              <a:buNone/>
            </a:pPr>
            <a:r>
              <a:rPr lang="en-US" sz="1000" i="1" dirty="0">
                <a:solidFill>
                  <a:srgbClr val="575A5D"/>
                </a:solidFill>
                <a:latin typeface="Aptos" pitchFamily="34" charset="0"/>
                <a:ea typeface="Aptos" pitchFamily="34" charset="-122"/>
                <a:cs typeface="Aptos" pitchFamily="34" charset="-120"/>
              </a:rPr>
              <a:t>New infra; managed options available (Confluent, MSK)</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185F"/>
        </a:solidFill>
      </p:bgPr>
    </p:bg>
    <p:spTree>
      <p:nvGrpSpPr>
        <p:cNvPr id="1" name=""/>
        <p:cNvGrpSpPr/>
        <p:nvPr/>
      </p:nvGrpSpPr>
      <p:grpSpPr>
        <a:xfrm>
          <a:off x="0" y="0"/>
          <a:ext cx="0" cy="0"/>
          <a:chOff x="0" y="0"/>
          <a:chExt cx="0" cy="0"/>
        </a:xfrm>
      </p:grpSpPr>
      <p:sp>
        <p:nvSpPr>
          <p:cNvPr id="2" name="Shape 0"/>
          <p:cNvSpPr/>
          <p:nvPr/>
        </p:nvSpPr>
        <p:spPr>
          <a:xfrm>
            <a:off x="457200" y="1234440"/>
            <a:ext cx="3657600" cy="45720"/>
          </a:xfrm>
          <a:prstGeom prst="rect">
            <a:avLst/>
          </a:prstGeom>
          <a:solidFill>
            <a:srgbClr val="085CE5"/>
          </a:solidFill>
          <a:ln w="12700">
            <a:solidFill>
              <a:srgbClr val="085CE5"/>
            </a:solidFill>
            <a:prstDash val="solid"/>
          </a:ln>
        </p:spPr>
      </p:sp>
      <p:sp>
        <p:nvSpPr>
          <p:cNvPr id="3" name="Text 1"/>
          <p:cNvSpPr/>
          <p:nvPr/>
        </p:nvSpPr>
        <p:spPr>
          <a:xfrm>
            <a:off x="457200" y="141732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Phase 2: Enterprise CDC</a:t>
            </a:r>
            <a:endParaRPr lang="en-US" sz="4000" dirty="0"/>
          </a:p>
        </p:txBody>
      </p:sp>
      <p:sp>
        <p:nvSpPr>
          <p:cNvPr id="4" name="Text 2"/>
          <p:cNvSpPr/>
          <p:nvPr/>
        </p:nvSpPr>
        <p:spPr>
          <a:xfrm>
            <a:off x="457200" y="2743200"/>
            <a:ext cx="8229600" cy="548640"/>
          </a:xfrm>
          <a:prstGeom prst="rect">
            <a:avLst/>
          </a:prstGeom>
          <a:noFill/>
          <a:ln/>
        </p:spPr>
        <p:txBody>
          <a:bodyPr wrap="square" lIns="0" tIns="0" rIns="0" bIns="0" rtlCol="0" anchor="ctr"/>
          <a:lstStyle/>
          <a:p>
            <a:pPr indent="0" marL="0">
              <a:buNone/>
            </a:pPr>
            <a:r>
              <a:rPr lang="en-US" sz="1700" dirty="0">
                <a:solidFill>
                  <a:srgbClr val="76DCFD"/>
                </a:solidFill>
                <a:latin typeface="Aptos" pitchFamily="34" charset="0"/>
                <a:ea typeface="Aptos" pitchFamily="34" charset="-122"/>
                <a:cs typeface="Aptos" pitchFamily="34" charset="-120"/>
              </a:rPr>
              <a:t>IBM InfoSphere IIDR, Striim, and the path beyond Debezium</a:t>
            </a:r>
            <a:endParaRPr lang="en-US" sz="1700" dirty="0"/>
          </a:p>
        </p:txBody>
      </p:sp>
      <p:sp>
        <p:nvSpPr>
          <p:cNvPr id="5" name="Text 3"/>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Why Move to Enterprise CDC?</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Shape 3"/>
          <p:cNvSpPr/>
          <p:nvPr/>
        </p:nvSpPr>
        <p:spPr>
          <a:xfrm>
            <a:off x="256032" y="960120"/>
            <a:ext cx="4114800" cy="1024128"/>
          </a:xfrm>
          <a:prstGeom prst="rect">
            <a:avLst/>
          </a:prstGeom>
          <a:solidFill>
            <a:srgbClr val="E7ECF0"/>
          </a:solidFill>
          <a:ln w="12700">
            <a:solidFill>
              <a:srgbClr val="B6BBC0"/>
            </a:solidFill>
            <a:prstDash val="solid"/>
          </a:ln>
        </p:spPr>
      </p:sp>
      <p:sp>
        <p:nvSpPr>
          <p:cNvPr id="6" name="Shape 4"/>
          <p:cNvSpPr/>
          <p:nvPr/>
        </p:nvSpPr>
        <p:spPr>
          <a:xfrm>
            <a:off x="256032" y="960120"/>
            <a:ext cx="54864" cy="1024128"/>
          </a:xfrm>
          <a:prstGeom prst="rect">
            <a:avLst/>
          </a:prstGeom>
          <a:solidFill>
            <a:srgbClr val="085CE5"/>
          </a:solidFill>
          <a:ln w="12700">
            <a:solidFill>
              <a:srgbClr val="085CE5"/>
            </a:solidFill>
            <a:prstDash val="solid"/>
          </a:ln>
        </p:spPr>
      </p:sp>
      <p:sp>
        <p:nvSpPr>
          <p:cNvPr id="7" name="Text 5"/>
          <p:cNvSpPr/>
          <p:nvPr/>
        </p:nvSpPr>
        <p:spPr>
          <a:xfrm>
            <a:off x="393192" y="1024128"/>
            <a:ext cx="2606040" cy="292608"/>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Direct Log Reading</a:t>
            </a:r>
            <a:endParaRPr lang="en-US" sz="1100" dirty="0"/>
          </a:p>
        </p:txBody>
      </p:sp>
      <p:sp>
        <p:nvSpPr>
          <p:cNvPr id="8" name="Shape 6"/>
          <p:cNvSpPr/>
          <p:nvPr/>
        </p:nvSpPr>
        <p:spPr>
          <a:xfrm>
            <a:off x="3136392" y="1024128"/>
            <a:ext cx="1161288" cy="292608"/>
          </a:xfrm>
          <a:prstGeom prst="rect">
            <a:avLst/>
          </a:prstGeom>
          <a:solidFill>
            <a:srgbClr val="FFEBEE"/>
          </a:solidFill>
          <a:ln w="12700">
            <a:solidFill>
              <a:srgbClr val="FECACA"/>
            </a:solidFill>
            <a:prstDash val="solid"/>
          </a:ln>
        </p:spPr>
      </p:sp>
      <p:sp>
        <p:nvSpPr>
          <p:cNvPr id="9" name="Text 7"/>
          <p:cNvSpPr/>
          <p:nvPr/>
        </p:nvSpPr>
        <p:spPr>
          <a:xfrm>
            <a:off x="3136392" y="1024128"/>
            <a:ext cx="1161288" cy="292608"/>
          </a:xfrm>
          <a:prstGeom prst="rect">
            <a:avLst/>
          </a:prstGeom>
          <a:noFill/>
          <a:ln/>
        </p:spPr>
        <p:txBody>
          <a:bodyPr wrap="square" lIns="25400" tIns="25400" rIns="25400" bIns="25400" rtlCol="0" anchor="ctr"/>
          <a:lstStyle/>
          <a:p>
            <a:pPr indent="0" marL="0">
              <a:buNone/>
            </a:pPr>
            <a:r>
              <a:rPr lang="en-US" sz="750" dirty="0">
                <a:solidFill>
                  <a:srgbClr val="C62828"/>
                </a:solidFill>
                <a:latin typeface="Aptos" pitchFamily="34" charset="0"/>
                <a:ea typeface="Aptos" pitchFamily="34" charset="-122"/>
                <a:cs typeface="Aptos" pitchFamily="34" charset="-120"/>
              </a:rPr>
              <a:t>Phase 1: CDC tables + SQL Agent req.</a:t>
            </a:r>
            <a:endParaRPr lang="en-US" sz="750" dirty="0"/>
          </a:p>
        </p:txBody>
      </p:sp>
      <p:sp>
        <p:nvSpPr>
          <p:cNvPr id="10" name="Text 8"/>
          <p:cNvSpPr/>
          <p:nvPr/>
        </p:nvSpPr>
        <p:spPr>
          <a:xfrm>
            <a:off x="393192" y="1362456"/>
            <a:ext cx="3886200" cy="566928"/>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Enterprise tools read the SQL Server transaction log directly — no CDC tables, no SQL Agent dependency. The source database is untouched.</a:t>
            </a:r>
            <a:endParaRPr lang="en-US" sz="1000" dirty="0"/>
          </a:p>
        </p:txBody>
      </p:sp>
      <p:sp>
        <p:nvSpPr>
          <p:cNvPr id="11" name="Shape 9"/>
          <p:cNvSpPr/>
          <p:nvPr/>
        </p:nvSpPr>
        <p:spPr>
          <a:xfrm>
            <a:off x="4773168" y="960120"/>
            <a:ext cx="4114800" cy="1024128"/>
          </a:xfrm>
          <a:prstGeom prst="rect">
            <a:avLst/>
          </a:prstGeom>
          <a:solidFill>
            <a:srgbClr val="E7ECF0"/>
          </a:solidFill>
          <a:ln w="12700">
            <a:solidFill>
              <a:srgbClr val="B6BBC0"/>
            </a:solidFill>
            <a:prstDash val="solid"/>
          </a:ln>
        </p:spPr>
      </p:sp>
      <p:sp>
        <p:nvSpPr>
          <p:cNvPr id="12" name="Shape 10"/>
          <p:cNvSpPr/>
          <p:nvPr/>
        </p:nvSpPr>
        <p:spPr>
          <a:xfrm>
            <a:off x="4773168" y="960120"/>
            <a:ext cx="54864" cy="1024128"/>
          </a:xfrm>
          <a:prstGeom prst="rect">
            <a:avLst/>
          </a:prstGeom>
          <a:solidFill>
            <a:srgbClr val="2E7D32"/>
          </a:solidFill>
          <a:ln w="12700">
            <a:solidFill>
              <a:srgbClr val="2E7D32"/>
            </a:solidFill>
            <a:prstDash val="solid"/>
          </a:ln>
        </p:spPr>
      </p:sp>
      <p:sp>
        <p:nvSpPr>
          <p:cNvPr id="13" name="Text 11"/>
          <p:cNvSpPr/>
          <p:nvPr/>
        </p:nvSpPr>
        <p:spPr>
          <a:xfrm>
            <a:off x="4910328" y="1024128"/>
            <a:ext cx="2606040" cy="292608"/>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Automated Schema Evolution</a:t>
            </a:r>
            <a:endParaRPr lang="en-US" sz="1100" dirty="0"/>
          </a:p>
        </p:txBody>
      </p:sp>
      <p:sp>
        <p:nvSpPr>
          <p:cNvPr id="14" name="Shape 12"/>
          <p:cNvSpPr/>
          <p:nvPr/>
        </p:nvSpPr>
        <p:spPr>
          <a:xfrm>
            <a:off x="7653528" y="1024128"/>
            <a:ext cx="1161288" cy="292608"/>
          </a:xfrm>
          <a:prstGeom prst="rect">
            <a:avLst/>
          </a:prstGeom>
          <a:solidFill>
            <a:srgbClr val="FFEBEE"/>
          </a:solidFill>
          <a:ln w="12700">
            <a:solidFill>
              <a:srgbClr val="FECACA"/>
            </a:solidFill>
            <a:prstDash val="solid"/>
          </a:ln>
        </p:spPr>
      </p:sp>
      <p:sp>
        <p:nvSpPr>
          <p:cNvPr id="15" name="Text 13"/>
          <p:cNvSpPr/>
          <p:nvPr/>
        </p:nvSpPr>
        <p:spPr>
          <a:xfrm>
            <a:off x="7653528" y="1024128"/>
            <a:ext cx="1161288" cy="292608"/>
          </a:xfrm>
          <a:prstGeom prst="rect">
            <a:avLst/>
          </a:prstGeom>
          <a:noFill/>
          <a:ln/>
        </p:spPr>
        <p:txBody>
          <a:bodyPr wrap="square" lIns="25400" tIns="25400" rIns="25400" bIns="25400" rtlCol="0" anchor="ctr"/>
          <a:lstStyle/>
          <a:p>
            <a:pPr indent="0" marL="0">
              <a:buNone/>
            </a:pPr>
            <a:r>
              <a:rPr lang="en-US" sz="750" dirty="0">
                <a:solidFill>
                  <a:srgbClr val="C62828"/>
                </a:solidFill>
                <a:latin typeface="Aptos" pitchFamily="34" charset="0"/>
                <a:ea typeface="Aptos" pitchFamily="34" charset="-122"/>
                <a:cs typeface="Aptos" pitchFamily="34" charset="-120"/>
              </a:rPr>
              <a:t>Phase 1: Manual capture instance rotation</a:t>
            </a:r>
            <a:endParaRPr lang="en-US" sz="750" dirty="0"/>
          </a:p>
        </p:txBody>
      </p:sp>
      <p:sp>
        <p:nvSpPr>
          <p:cNvPr id="16" name="Text 14"/>
          <p:cNvSpPr/>
          <p:nvPr/>
        </p:nvSpPr>
        <p:spPr>
          <a:xfrm>
            <a:off x="4910328" y="1362456"/>
            <a:ext cx="3886200" cy="566928"/>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DDL changes are captured in the log and propagated automatically — no capture instance rotation, no consumer interruption, no manual runbook.</a:t>
            </a:r>
            <a:endParaRPr lang="en-US" sz="1000" dirty="0"/>
          </a:p>
        </p:txBody>
      </p:sp>
      <p:sp>
        <p:nvSpPr>
          <p:cNvPr id="17" name="Shape 15"/>
          <p:cNvSpPr/>
          <p:nvPr/>
        </p:nvSpPr>
        <p:spPr>
          <a:xfrm>
            <a:off x="256032" y="2075688"/>
            <a:ext cx="4114800" cy="1024128"/>
          </a:xfrm>
          <a:prstGeom prst="rect">
            <a:avLst/>
          </a:prstGeom>
          <a:solidFill>
            <a:srgbClr val="E7ECF0"/>
          </a:solidFill>
          <a:ln w="12700">
            <a:solidFill>
              <a:srgbClr val="B6BBC0"/>
            </a:solidFill>
            <a:prstDash val="solid"/>
          </a:ln>
        </p:spPr>
      </p:sp>
      <p:sp>
        <p:nvSpPr>
          <p:cNvPr id="18" name="Shape 16"/>
          <p:cNvSpPr/>
          <p:nvPr/>
        </p:nvSpPr>
        <p:spPr>
          <a:xfrm>
            <a:off x="256032" y="2075688"/>
            <a:ext cx="54864" cy="1024128"/>
          </a:xfrm>
          <a:prstGeom prst="rect">
            <a:avLst/>
          </a:prstGeom>
          <a:solidFill>
            <a:srgbClr val="6A1B9A"/>
          </a:solidFill>
          <a:ln w="12700">
            <a:solidFill>
              <a:srgbClr val="6A1B9A"/>
            </a:solidFill>
            <a:prstDash val="solid"/>
          </a:ln>
        </p:spPr>
      </p:sp>
      <p:sp>
        <p:nvSpPr>
          <p:cNvPr id="19" name="Text 17"/>
          <p:cNvSpPr/>
          <p:nvPr/>
        </p:nvSpPr>
        <p:spPr>
          <a:xfrm>
            <a:off x="393192" y="2139696"/>
            <a:ext cx="2606040" cy="292608"/>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Sub-Second Latency</a:t>
            </a:r>
            <a:endParaRPr lang="en-US" sz="1100" dirty="0"/>
          </a:p>
        </p:txBody>
      </p:sp>
      <p:sp>
        <p:nvSpPr>
          <p:cNvPr id="20" name="Shape 18"/>
          <p:cNvSpPr/>
          <p:nvPr/>
        </p:nvSpPr>
        <p:spPr>
          <a:xfrm>
            <a:off x="3136392" y="2139696"/>
            <a:ext cx="1161288" cy="292608"/>
          </a:xfrm>
          <a:prstGeom prst="rect">
            <a:avLst/>
          </a:prstGeom>
          <a:solidFill>
            <a:srgbClr val="FFEBEE"/>
          </a:solidFill>
          <a:ln w="12700">
            <a:solidFill>
              <a:srgbClr val="FECACA"/>
            </a:solidFill>
            <a:prstDash val="solid"/>
          </a:ln>
        </p:spPr>
      </p:sp>
      <p:sp>
        <p:nvSpPr>
          <p:cNvPr id="21" name="Text 19"/>
          <p:cNvSpPr/>
          <p:nvPr/>
        </p:nvSpPr>
        <p:spPr>
          <a:xfrm>
            <a:off x="3136392" y="2139696"/>
            <a:ext cx="1161288" cy="292608"/>
          </a:xfrm>
          <a:prstGeom prst="rect">
            <a:avLst/>
          </a:prstGeom>
          <a:noFill/>
          <a:ln/>
        </p:spPr>
        <p:txBody>
          <a:bodyPr wrap="square" lIns="25400" tIns="25400" rIns="25400" bIns="25400" rtlCol="0" anchor="ctr"/>
          <a:lstStyle/>
          <a:p>
            <a:pPr indent="0" marL="0">
              <a:buNone/>
            </a:pPr>
            <a:r>
              <a:rPr lang="en-US" sz="750" dirty="0">
                <a:solidFill>
                  <a:srgbClr val="C62828"/>
                </a:solidFill>
                <a:latin typeface="Aptos" pitchFamily="34" charset="0"/>
                <a:ea typeface="Aptos" pitchFamily="34" charset="-122"/>
                <a:cs typeface="Aptos" pitchFamily="34" charset="-120"/>
              </a:rPr>
              <a:t>Phase 1: Seconds–tens of seconds (poll)</a:t>
            </a:r>
            <a:endParaRPr lang="en-US" sz="750" dirty="0"/>
          </a:p>
        </p:txBody>
      </p:sp>
      <p:sp>
        <p:nvSpPr>
          <p:cNvPr id="22" name="Text 20"/>
          <p:cNvSpPr/>
          <p:nvPr/>
        </p:nvSpPr>
        <p:spPr>
          <a:xfrm>
            <a:off x="393192" y="2478024"/>
            <a:ext cx="3886200" cy="566928"/>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Direct log streaming without polling intervals delivers millisecond-to-low-second change propagation consistently.</a:t>
            </a:r>
            <a:endParaRPr lang="en-US" sz="1000" dirty="0"/>
          </a:p>
        </p:txBody>
      </p:sp>
      <p:sp>
        <p:nvSpPr>
          <p:cNvPr id="23" name="Shape 21"/>
          <p:cNvSpPr/>
          <p:nvPr/>
        </p:nvSpPr>
        <p:spPr>
          <a:xfrm>
            <a:off x="4773168" y="2075688"/>
            <a:ext cx="4114800" cy="1024128"/>
          </a:xfrm>
          <a:prstGeom prst="rect">
            <a:avLst/>
          </a:prstGeom>
          <a:solidFill>
            <a:srgbClr val="E7ECF0"/>
          </a:solidFill>
          <a:ln w="12700">
            <a:solidFill>
              <a:srgbClr val="B6BBC0"/>
            </a:solidFill>
            <a:prstDash val="solid"/>
          </a:ln>
        </p:spPr>
      </p:sp>
      <p:sp>
        <p:nvSpPr>
          <p:cNvPr id="24" name="Shape 22"/>
          <p:cNvSpPr/>
          <p:nvPr/>
        </p:nvSpPr>
        <p:spPr>
          <a:xfrm>
            <a:off x="4773168" y="2075688"/>
            <a:ext cx="54864" cy="1024128"/>
          </a:xfrm>
          <a:prstGeom prst="rect">
            <a:avLst/>
          </a:prstGeom>
          <a:solidFill>
            <a:srgbClr val="06185F"/>
          </a:solidFill>
          <a:ln w="12700">
            <a:solidFill>
              <a:srgbClr val="06185F"/>
            </a:solidFill>
            <a:prstDash val="solid"/>
          </a:ln>
        </p:spPr>
      </p:sp>
      <p:sp>
        <p:nvSpPr>
          <p:cNvPr id="25" name="Text 23"/>
          <p:cNvSpPr/>
          <p:nvPr/>
        </p:nvSpPr>
        <p:spPr>
          <a:xfrm>
            <a:off x="4910328" y="2139696"/>
            <a:ext cx="2606040" cy="292608"/>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Heterogeneous Sources</a:t>
            </a:r>
            <a:endParaRPr lang="en-US" sz="1100" dirty="0"/>
          </a:p>
        </p:txBody>
      </p:sp>
      <p:sp>
        <p:nvSpPr>
          <p:cNvPr id="26" name="Shape 24"/>
          <p:cNvSpPr/>
          <p:nvPr/>
        </p:nvSpPr>
        <p:spPr>
          <a:xfrm>
            <a:off x="7653528" y="2139696"/>
            <a:ext cx="1161288" cy="292608"/>
          </a:xfrm>
          <a:prstGeom prst="rect">
            <a:avLst/>
          </a:prstGeom>
          <a:solidFill>
            <a:srgbClr val="FFEBEE"/>
          </a:solidFill>
          <a:ln w="12700">
            <a:solidFill>
              <a:srgbClr val="FECACA"/>
            </a:solidFill>
            <a:prstDash val="solid"/>
          </a:ln>
        </p:spPr>
      </p:sp>
      <p:sp>
        <p:nvSpPr>
          <p:cNvPr id="27" name="Text 25"/>
          <p:cNvSpPr/>
          <p:nvPr/>
        </p:nvSpPr>
        <p:spPr>
          <a:xfrm>
            <a:off x="7653528" y="2139696"/>
            <a:ext cx="1161288" cy="292608"/>
          </a:xfrm>
          <a:prstGeom prst="rect">
            <a:avLst/>
          </a:prstGeom>
          <a:noFill/>
          <a:ln/>
        </p:spPr>
        <p:txBody>
          <a:bodyPr wrap="square" lIns="25400" tIns="25400" rIns="25400" bIns="25400" rtlCol="0" anchor="ctr"/>
          <a:lstStyle/>
          <a:p>
            <a:pPr indent="0" marL="0">
              <a:buNone/>
            </a:pPr>
            <a:r>
              <a:rPr lang="en-US" sz="750" dirty="0">
                <a:solidFill>
                  <a:srgbClr val="C62828"/>
                </a:solidFill>
                <a:latin typeface="Aptos" pitchFamily="34" charset="0"/>
                <a:ea typeface="Aptos" pitchFamily="34" charset="-122"/>
                <a:cs typeface="Aptos" pitchFamily="34" charset="-120"/>
              </a:rPr>
              <a:t>Phase 1: SQL Server only</a:t>
            </a:r>
            <a:endParaRPr lang="en-US" sz="750" dirty="0"/>
          </a:p>
        </p:txBody>
      </p:sp>
      <p:sp>
        <p:nvSpPr>
          <p:cNvPr id="28" name="Text 26"/>
          <p:cNvSpPr/>
          <p:nvPr/>
        </p:nvSpPr>
        <p:spPr>
          <a:xfrm>
            <a:off x="4910328" y="2478024"/>
            <a:ext cx="3886200" cy="566928"/>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One platform captures from SQL Server, Oracle, Db2, PostgreSQL, MySQL, and mainframe. Unified events and a single operational console.</a:t>
            </a:r>
            <a:endParaRPr lang="en-US" sz="1000" dirty="0"/>
          </a:p>
        </p:txBody>
      </p:sp>
      <p:sp>
        <p:nvSpPr>
          <p:cNvPr id="29" name="Shape 27"/>
          <p:cNvSpPr/>
          <p:nvPr/>
        </p:nvSpPr>
        <p:spPr>
          <a:xfrm>
            <a:off x="256032" y="3191256"/>
            <a:ext cx="4114800" cy="1024128"/>
          </a:xfrm>
          <a:prstGeom prst="rect">
            <a:avLst/>
          </a:prstGeom>
          <a:solidFill>
            <a:srgbClr val="E7ECF0"/>
          </a:solidFill>
          <a:ln w="12700">
            <a:solidFill>
              <a:srgbClr val="B6BBC0"/>
            </a:solidFill>
            <a:prstDash val="solid"/>
          </a:ln>
        </p:spPr>
      </p:sp>
      <p:sp>
        <p:nvSpPr>
          <p:cNvPr id="30" name="Shape 28"/>
          <p:cNvSpPr/>
          <p:nvPr/>
        </p:nvSpPr>
        <p:spPr>
          <a:xfrm>
            <a:off x="256032" y="3191256"/>
            <a:ext cx="54864" cy="1024128"/>
          </a:xfrm>
          <a:prstGeom prst="rect">
            <a:avLst/>
          </a:prstGeom>
          <a:solidFill>
            <a:srgbClr val="E65100"/>
          </a:solidFill>
          <a:ln w="12700">
            <a:solidFill>
              <a:srgbClr val="E65100"/>
            </a:solidFill>
            <a:prstDash val="solid"/>
          </a:ln>
        </p:spPr>
      </p:sp>
      <p:sp>
        <p:nvSpPr>
          <p:cNvPr id="31" name="Text 29"/>
          <p:cNvSpPr/>
          <p:nvPr/>
        </p:nvSpPr>
        <p:spPr>
          <a:xfrm>
            <a:off x="393192" y="3255264"/>
            <a:ext cx="2606040" cy="292608"/>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AG Failover Awareness</a:t>
            </a:r>
            <a:endParaRPr lang="en-US" sz="1100" dirty="0"/>
          </a:p>
        </p:txBody>
      </p:sp>
      <p:sp>
        <p:nvSpPr>
          <p:cNvPr id="32" name="Shape 30"/>
          <p:cNvSpPr/>
          <p:nvPr/>
        </p:nvSpPr>
        <p:spPr>
          <a:xfrm>
            <a:off x="3136392" y="3255264"/>
            <a:ext cx="1161288" cy="292608"/>
          </a:xfrm>
          <a:prstGeom prst="rect">
            <a:avLst/>
          </a:prstGeom>
          <a:solidFill>
            <a:srgbClr val="FFEBEE"/>
          </a:solidFill>
          <a:ln w="12700">
            <a:solidFill>
              <a:srgbClr val="FECACA"/>
            </a:solidFill>
            <a:prstDash val="solid"/>
          </a:ln>
        </p:spPr>
      </p:sp>
      <p:sp>
        <p:nvSpPr>
          <p:cNvPr id="33" name="Text 31"/>
          <p:cNvSpPr/>
          <p:nvPr/>
        </p:nvSpPr>
        <p:spPr>
          <a:xfrm>
            <a:off x="3136392" y="3255264"/>
            <a:ext cx="1161288" cy="292608"/>
          </a:xfrm>
          <a:prstGeom prst="rect">
            <a:avLst/>
          </a:prstGeom>
          <a:noFill/>
          <a:ln/>
        </p:spPr>
        <p:txBody>
          <a:bodyPr wrap="square" lIns="25400" tIns="25400" rIns="25400" bIns="25400" rtlCol="0" anchor="ctr"/>
          <a:lstStyle/>
          <a:p>
            <a:pPr indent="0" marL="0">
              <a:buNone/>
            </a:pPr>
            <a:r>
              <a:rPr lang="en-US" sz="750" dirty="0">
                <a:solidFill>
                  <a:srgbClr val="C62828"/>
                </a:solidFill>
                <a:latin typeface="Aptos" pitchFamily="34" charset="0"/>
                <a:ea typeface="Aptos" pitchFamily="34" charset="-122"/>
                <a:cs typeface="Aptos" pitchFamily="34" charset="-120"/>
              </a:rPr>
              <a:t>Phase 1: Manual re-sync after failover</a:t>
            </a:r>
            <a:endParaRPr lang="en-US" sz="750" dirty="0"/>
          </a:p>
        </p:txBody>
      </p:sp>
      <p:sp>
        <p:nvSpPr>
          <p:cNvPr id="34" name="Text 32"/>
          <p:cNvSpPr/>
          <p:nvPr/>
        </p:nvSpPr>
        <p:spPr>
          <a:xfrm>
            <a:off x="393192" y="3593592"/>
            <a:ext cx="3886200" cy="566928"/>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Enterprise tools understand Always On AG topologies. Failover is handled automatically — capture resumes on the new primary with no manual steps.</a:t>
            </a:r>
            <a:endParaRPr lang="en-US" sz="1000" dirty="0"/>
          </a:p>
        </p:txBody>
      </p:sp>
      <p:sp>
        <p:nvSpPr>
          <p:cNvPr id="35" name="Shape 33"/>
          <p:cNvSpPr/>
          <p:nvPr/>
        </p:nvSpPr>
        <p:spPr>
          <a:xfrm>
            <a:off x="4773168" y="3191256"/>
            <a:ext cx="4114800" cy="1024128"/>
          </a:xfrm>
          <a:prstGeom prst="rect">
            <a:avLst/>
          </a:prstGeom>
          <a:solidFill>
            <a:srgbClr val="E7ECF0"/>
          </a:solidFill>
          <a:ln w="12700">
            <a:solidFill>
              <a:srgbClr val="B6BBC0"/>
            </a:solidFill>
            <a:prstDash val="solid"/>
          </a:ln>
        </p:spPr>
      </p:sp>
      <p:sp>
        <p:nvSpPr>
          <p:cNvPr id="36" name="Shape 34"/>
          <p:cNvSpPr/>
          <p:nvPr/>
        </p:nvSpPr>
        <p:spPr>
          <a:xfrm>
            <a:off x="4773168" y="3191256"/>
            <a:ext cx="54864" cy="1024128"/>
          </a:xfrm>
          <a:prstGeom prst="rect">
            <a:avLst/>
          </a:prstGeom>
          <a:solidFill>
            <a:srgbClr val="1565C0"/>
          </a:solidFill>
          <a:ln w="12700">
            <a:solidFill>
              <a:srgbClr val="1565C0"/>
            </a:solidFill>
            <a:prstDash val="solid"/>
          </a:ln>
        </p:spPr>
      </p:sp>
      <p:sp>
        <p:nvSpPr>
          <p:cNvPr id="37" name="Text 35"/>
          <p:cNvSpPr/>
          <p:nvPr/>
        </p:nvSpPr>
        <p:spPr>
          <a:xfrm>
            <a:off x="4910328" y="3255264"/>
            <a:ext cx="2606040" cy="292608"/>
          </a:xfrm>
          <a:prstGeom prst="rect">
            <a:avLst/>
          </a:prstGeom>
          <a:noFill/>
          <a:ln/>
        </p:spPr>
        <p:txBody>
          <a:bodyPr wrap="square" lIns="0" tIns="0" rIns="0" bIns="0" rtlCol="0" anchor="ctr"/>
          <a:lstStyle/>
          <a:p>
            <a:pPr indent="0" marL="0">
              <a:buNone/>
            </a:pPr>
            <a:r>
              <a:rPr lang="en-US" sz="1100" b="1" dirty="0">
                <a:solidFill>
                  <a:srgbClr val="06185F"/>
                </a:solidFill>
                <a:latin typeface="Aptos Display" pitchFamily="34" charset="0"/>
                <a:ea typeface="Aptos Display" pitchFamily="34" charset="-122"/>
                <a:cs typeface="Aptos Display" pitchFamily="34" charset="-120"/>
              </a:rPr>
              <a:t>Enterprise Support &amp; SLAs</a:t>
            </a:r>
            <a:endParaRPr lang="en-US" sz="1100" dirty="0"/>
          </a:p>
        </p:txBody>
      </p:sp>
      <p:sp>
        <p:nvSpPr>
          <p:cNvPr id="38" name="Shape 36"/>
          <p:cNvSpPr/>
          <p:nvPr/>
        </p:nvSpPr>
        <p:spPr>
          <a:xfrm>
            <a:off x="7653528" y="3255264"/>
            <a:ext cx="1161288" cy="292608"/>
          </a:xfrm>
          <a:prstGeom prst="rect">
            <a:avLst/>
          </a:prstGeom>
          <a:solidFill>
            <a:srgbClr val="FFEBEE"/>
          </a:solidFill>
          <a:ln w="12700">
            <a:solidFill>
              <a:srgbClr val="FECACA"/>
            </a:solidFill>
            <a:prstDash val="solid"/>
          </a:ln>
        </p:spPr>
      </p:sp>
      <p:sp>
        <p:nvSpPr>
          <p:cNvPr id="39" name="Text 37"/>
          <p:cNvSpPr/>
          <p:nvPr/>
        </p:nvSpPr>
        <p:spPr>
          <a:xfrm>
            <a:off x="7653528" y="3255264"/>
            <a:ext cx="1161288" cy="292608"/>
          </a:xfrm>
          <a:prstGeom prst="rect">
            <a:avLst/>
          </a:prstGeom>
          <a:noFill/>
          <a:ln/>
        </p:spPr>
        <p:txBody>
          <a:bodyPr wrap="square" lIns="25400" tIns="25400" rIns="25400" bIns="25400" rtlCol="0" anchor="ctr"/>
          <a:lstStyle/>
          <a:p>
            <a:pPr indent="0" marL="0">
              <a:buNone/>
            </a:pPr>
            <a:r>
              <a:rPr lang="en-US" sz="750" dirty="0">
                <a:solidFill>
                  <a:srgbClr val="C62828"/>
                </a:solidFill>
                <a:latin typeface="Aptos" pitchFamily="34" charset="0"/>
                <a:ea typeface="Aptos" pitchFamily="34" charset="-122"/>
                <a:cs typeface="Aptos" pitchFamily="34" charset="-120"/>
              </a:rPr>
              <a:t>Phase 1: Community support only</a:t>
            </a:r>
            <a:endParaRPr lang="en-US" sz="750" dirty="0"/>
          </a:p>
        </p:txBody>
      </p:sp>
      <p:sp>
        <p:nvSpPr>
          <p:cNvPr id="40" name="Text 38"/>
          <p:cNvSpPr/>
          <p:nvPr/>
        </p:nvSpPr>
        <p:spPr>
          <a:xfrm>
            <a:off x="4910328" y="3593592"/>
            <a:ext cx="3886200" cy="566928"/>
          </a:xfrm>
          <a:prstGeom prst="rect">
            <a:avLst/>
          </a:prstGeom>
          <a:noFill/>
          <a:ln/>
        </p:spPr>
        <p:txBody>
          <a:bodyPr wrap="square" lIns="0" tIns="0" rIns="0" bIns="0" rtlCol="0" anchor="ctr"/>
          <a:lstStyle/>
          <a:p>
            <a:pPr indent="0" marL="0">
              <a:buNone/>
            </a:pPr>
            <a:r>
              <a:rPr lang="en-US" sz="1000" dirty="0">
                <a:solidFill>
                  <a:srgbClr val="575A5D"/>
                </a:solidFill>
                <a:latin typeface="Aptos" pitchFamily="34" charset="0"/>
                <a:ea typeface="Aptos" pitchFamily="34" charset="-122"/>
                <a:cs typeface="Aptos" pitchFamily="34" charset="-120"/>
              </a:rPr>
              <a:t>Commercial support contracts, certified version matrices, regulated-environment compliance documentation, and vendor accountability.</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IBM InfoSphere Data Replication (IIDR)</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Text 3"/>
          <p:cNvSpPr/>
          <p:nvPr/>
        </p:nvSpPr>
        <p:spPr>
          <a:xfrm>
            <a:off x="256032" y="932688"/>
            <a:ext cx="5120640" cy="329184"/>
          </a:xfrm>
          <a:prstGeom prst="rect">
            <a:avLst/>
          </a:prstGeom>
          <a:noFill/>
          <a:ln/>
        </p:spPr>
        <p:txBody>
          <a:bodyPr wrap="square" lIns="0" tIns="0" rIns="0" bIns="0" rtlCol="0" anchor="ctr"/>
          <a:lstStyle/>
          <a:p>
            <a:pPr indent="0" marL="0">
              <a:buNone/>
            </a:pPr>
            <a:r>
              <a:rPr lang="en-US" sz="1100" i="1" dirty="0">
                <a:solidFill>
                  <a:srgbClr val="B6BBC0"/>
                </a:solidFill>
                <a:latin typeface="Aptos" pitchFamily="34" charset="0"/>
                <a:ea typeface="Aptos" pitchFamily="34" charset="-122"/>
                <a:cs typeface="Aptos" pitchFamily="34" charset="-120"/>
              </a:rPr>
              <a:t>Enterprise CDC Platform — acquired from DataMirror (2007). Deployed across large IBM enterprise accounts globally.</a:t>
            </a:r>
            <a:endParaRPr lang="en-US" sz="1100" dirty="0"/>
          </a:p>
        </p:txBody>
      </p:sp>
      <p:sp>
        <p:nvSpPr>
          <p:cNvPr id="6" name="Shape 4"/>
          <p:cNvSpPr/>
          <p:nvPr/>
        </p:nvSpPr>
        <p:spPr>
          <a:xfrm>
            <a:off x="256032" y="1316736"/>
            <a:ext cx="5120640" cy="420624"/>
          </a:xfrm>
          <a:prstGeom prst="rect">
            <a:avLst/>
          </a:prstGeom>
          <a:solidFill>
            <a:srgbClr val="E7ECF0"/>
          </a:solidFill>
          <a:ln w="12700">
            <a:solidFill>
              <a:srgbClr val="B6BBC0"/>
            </a:solidFill>
            <a:prstDash val="solid"/>
          </a:ln>
        </p:spPr>
      </p:sp>
      <p:sp>
        <p:nvSpPr>
          <p:cNvPr id="7" name="Text 5"/>
          <p:cNvSpPr/>
          <p:nvPr/>
        </p:nvSpPr>
        <p:spPr>
          <a:xfrm>
            <a:off x="329184" y="1389888"/>
            <a:ext cx="1143000" cy="274320"/>
          </a:xfrm>
          <a:prstGeom prst="rect">
            <a:avLst/>
          </a:prstGeom>
          <a:noFill/>
          <a:ln/>
        </p:spPr>
        <p:txBody>
          <a:bodyPr wrap="square" lIns="0" tIns="0" rIns="0" bIns="0" rtlCol="0" anchor="ctr"/>
          <a:lstStyle/>
          <a:p>
            <a:pPr indent="0" marL="0">
              <a:buNone/>
            </a:pPr>
            <a:r>
              <a:rPr lang="en-US" sz="1050" b="1" dirty="0">
                <a:solidFill>
                  <a:srgbClr val="1565C0"/>
                </a:solidFill>
                <a:latin typeface="Aptos" pitchFamily="34" charset="0"/>
                <a:ea typeface="Aptos" pitchFamily="34" charset="-122"/>
                <a:cs typeface="Aptos" pitchFamily="34" charset="-120"/>
              </a:rPr>
              <a:t>Log Reading</a:t>
            </a:r>
            <a:endParaRPr lang="en-US" sz="1050" dirty="0"/>
          </a:p>
        </p:txBody>
      </p:sp>
      <p:sp>
        <p:nvSpPr>
          <p:cNvPr id="8" name="Text 6"/>
          <p:cNvSpPr/>
          <p:nvPr/>
        </p:nvSpPr>
        <p:spPr>
          <a:xfrm>
            <a:off x="1554480" y="1389888"/>
            <a:ext cx="373075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Direct SQL Server transaction log reading — no native CDC or SQL Agent required</a:t>
            </a:r>
            <a:endParaRPr lang="en-US" sz="1050" dirty="0"/>
          </a:p>
        </p:txBody>
      </p:sp>
      <p:sp>
        <p:nvSpPr>
          <p:cNvPr id="9" name="Shape 7"/>
          <p:cNvSpPr/>
          <p:nvPr/>
        </p:nvSpPr>
        <p:spPr>
          <a:xfrm>
            <a:off x="256032" y="1737360"/>
            <a:ext cx="5120640" cy="420624"/>
          </a:xfrm>
          <a:prstGeom prst="rect">
            <a:avLst/>
          </a:prstGeom>
          <a:solidFill>
            <a:srgbClr val="FFFFFF"/>
          </a:solidFill>
          <a:ln w="12700">
            <a:solidFill>
              <a:srgbClr val="B6BBC0"/>
            </a:solidFill>
            <a:prstDash val="solid"/>
          </a:ln>
        </p:spPr>
      </p:sp>
      <p:sp>
        <p:nvSpPr>
          <p:cNvPr id="10" name="Text 8"/>
          <p:cNvSpPr/>
          <p:nvPr/>
        </p:nvSpPr>
        <p:spPr>
          <a:xfrm>
            <a:off x="329184" y="1810512"/>
            <a:ext cx="1143000" cy="274320"/>
          </a:xfrm>
          <a:prstGeom prst="rect">
            <a:avLst/>
          </a:prstGeom>
          <a:noFill/>
          <a:ln/>
        </p:spPr>
        <p:txBody>
          <a:bodyPr wrap="square" lIns="0" tIns="0" rIns="0" bIns="0" rtlCol="0" anchor="ctr"/>
          <a:lstStyle/>
          <a:p>
            <a:pPr indent="0" marL="0">
              <a:buNone/>
            </a:pPr>
            <a:r>
              <a:rPr lang="en-US" sz="1050" b="1" dirty="0">
                <a:solidFill>
                  <a:srgbClr val="1565C0"/>
                </a:solidFill>
                <a:latin typeface="Aptos" pitchFamily="34" charset="0"/>
                <a:ea typeface="Aptos" pitchFamily="34" charset="-122"/>
                <a:cs typeface="Aptos" pitchFamily="34" charset="-120"/>
              </a:rPr>
              <a:t>Sources</a:t>
            </a:r>
            <a:endParaRPr lang="en-US" sz="1050" dirty="0"/>
          </a:p>
        </p:txBody>
      </p:sp>
      <p:sp>
        <p:nvSpPr>
          <p:cNvPr id="11" name="Text 9"/>
          <p:cNvSpPr/>
          <p:nvPr/>
        </p:nvSpPr>
        <p:spPr>
          <a:xfrm>
            <a:off x="1554480" y="1810512"/>
            <a:ext cx="373075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SQL Server, Oracle, Db2, IMS, VSAM, PostgreSQL, MySQL, SAP HANA</a:t>
            </a:r>
            <a:endParaRPr lang="en-US" sz="1050" dirty="0"/>
          </a:p>
        </p:txBody>
      </p:sp>
      <p:sp>
        <p:nvSpPr>
          <p:cNvPr id="12" name="Shape 10"/>
          <p:cNvSpPr/>
          <p:nvPr/>
        </p:nvSpPr>
        <p:spPr>
          <a:xfrm>
            <a:off x="256032" y="2157984"/>
            <a:ext cx="5120640" cy="420624"/>
          </a:xfrm>
          <a:prstGeom prst="rect">
            <a:avLst/>
          </a:prstGeom>
          <a:solidFill>
            <a:srgbClr val="E7ECF0"/>
          </a:solidFill>
          <a:ln w="12700">
            <a:solidFill>
              <a:srgbClr val="B6BBC0"/>
            </a:solidFill>
            <a:prstDash val="solid"/>
          </a:ln>
        </p:spPr>
      </p:sp>
      <p:sp>
        <p:nvSpPr>
          <p:cNvPr id="13" name="Text 11"/>
          <p:cNvSpPr/>
          <p:nvPr/>
        </p:nvSpPr>
        <p:spPr>
          <a:xfrm>
            <a:off x="329184" y="2231136"/>
            <a:ext cx="1143000" cy="274320"/>
          </a:xfrm>
          <a:prstGeom prst="rect">
            <a:avLst/>
          </a:prstGeom>
          <a:noFill/>
          <a:ln/>
        </p:spPr>
        <p:txBody>
          <a:bodyPr wrap="square" lIns="0" tIns="0" rIns="0" bIns="0" rtlCol="0" anchor="ctr"/>
          <a:lstStyle/>
          <a:p>
            <a:pPr indent="0" marL="0">
              <a:buNone/>
            </a:pPr>
            <a:r>
              <a:rPr lang="en-US" sz="1050" b="1" dirty="0">
                <a:solidFill>
                  <a:srgbClr val="1565C0"/>
                </a:solidFill>
                <a:latin typeface="Aptos" pitchFamily="34" charset="0"/>
                <a:ea typeface="Aptos" pitchFamily="34" charset="-122"/>
                <a:cs typeface="Aptos" pitchFamily="34" charset="-120"/>
              </a:rPr>
              <a:t>Targets</a:t>
            </a:r>
            <a:endParaRPr lang="en-US" sz="1050" dirty="0"/>
          </a:p>
        </p:txBody>
      </p:sp>
      <p:sp>
        <p:nvSpPr>
          <p:cNvPr id="14" name="Text 12"/>
          <p:cNvSpPr/>
          <p:nvPr/>
        </p:nvSpPr>
        <p:spPr>
          <a:xfrm>
            <a:off x="1554480" y="2231136"/>
            <a:ext cx="373075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Kafka (IBM Event Streams / Apache), Db2, JDBC, flat files, IBM DataStage pipelines</a:t>
            </a:r>
            <a:endParaRPr lang="en-US" sz="1050" dirty="0"/>
          </a:p>
        </p:txBody>
      </p:sp>
      <p:sp>
        <p:nvSpPr>
          <p:cNvPr id="15" name="Shape 13"/>
          <p:cNvSpPr/>
          <p:nvPr/>
        </p:nvSpPr>
        <p:spPr>
          <a:xfrm>
            <a:off x="256032" y="2578608"/>
            <a:ext cx="5120640" cy="420624"/>
          </a:xfrm>
          <a:prstGeom prst="rect">
            <a:avLst/>
          </a:prstGeom>
          <a:solidFill>
            <a:srgbClr val="FFFFFF"/>
          </a:solidFill>
          <a:ln w="12700">
            <a:solidFill>
              <a:srgbClr val="B6BBC0"/>
            </a:solidFill>
            <a:prstDash val="solid"/>
          </a:ln>
        </p:spPr>
      </p:sp>
      <p:sp>
        <p:nvSpPr>
          <p:cNvPr id="16" name="Text 14"/>
          <p:cNvSpPr/>
          <p:nvPr/>
        </p:nvSpPr>
        <p:spPr>
          <a:xfrm>
            <a:off x="329184" y="2651760"/>
            <a:ext cx="1143000" cy="274320"/>
          </a:xfrm>
          <a:prstGeom prst="rect">
            <a:avLst/>
          </a:prstGeom>
          <a:noFill/>
          <a:ln/>
        </p:spPr>
        <p:txBody>
          <a:bodyPr wrap="square" lIns="0" tIns="0" rIns="0" bIns="0" rtlCol="0" anchor="ctr"/>
          <a:lstStyle/>
          <a:p>
            <a:pPr indent="0" marL="0">
              <a:buNone/>
            </a:pPr>
            <a:r>
              <a:rPr lang="en-US" sz="1050" b="1" dirty="0">
                <a:solidFill>
                  <a:srgbClr val="1565C0"/>
                </a:solidFill>
                <a:latin typeface="Aptos" pitchFamily="34" charset="0"/>
                <a:ea typeface="Aptos" pitchFamily="34" charset="-122"/>
                <a:cs typeface="Aptos" pitchFamily="34" charset="-120"/>
              </a:rPr>
              <a:t>Schema Evolution</a:t>
            </a:r>
            <a:endParaRPr lang="en-US" sz="1050" dirty="0"/>
          </a:p>
        </p:txBody>
      </p:sp>
      <p:sp>
        <p:nvSpPr>
          <p:cNvPr id="17" name="Text 15"/>
          <p:cNvSpPr/>
          <p:nvPr/>
        </p:nvSpPr>
        <p:spPr>
          <a:xfrm>
            <a:off x="1554480" y="2651760"/>
            <a:ext cx="373075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Automated DDL propagation with configurable handling — hold, skip, or apply to target</a:t>
            </a:r>
            <a:endParaRPr lang="en-US" sz="1050" dirty="0"/>
          </a:p>
        </p:txBody>
      </p:sp>
      <p:sp>
        <p:nvSpPr>
          <p:cNvPr id="18" name="Shape 16"/>
          <p:cNvSpPr/>
          <p:nvPr/>
        </p:nvSpPr>
        <p:spPr>
          <a:xfrm>
            <a:off x="256032" y="2999232"/>
            <a:ext cx="5120640" cy="420624"/>
          </a:xfrm>
          <a:prstGeom prst="rect">
            <a:avLst/>
          </a:prstGeom>
          <a:solidFill>
            <a:srgbClr val="E7ECF0"/>
          </a:solidFill>
          <a:ln w="12700">
            <a:solidFill>
              <a:srgbClr val="B6BBC0"/>
            </a:solidFill>
            <a:prstDash val="solid"/>
          </a:ln>
        </p:spPr>
      </p:sp>
      <p:sp>
        <p:nvSpPr>
          <p:cNvPr id="19" name="Text 17"/>
          <p:cNvSpPr/>
          <p:nvPr/>
        </p:nvSpPr>
        <p:spPr>
          <a:xfrm>
            <a:off x="329184" y="3072384"/>
            <a:ext cx="1143000" cy="274320"/>
          </a:xfrm>
          <a:prstGeom prst="rect">
            <a:avLst/>
          </a:prstGeom>
          <a:noFill/>
          <a:ln/>
        </p:spPr>
        <p:txBody>
          <a:bodyPr wrap="square" lIns="0" tIns="0" rIns="0" bIns="0" rtlCol="0" anchor="ctr"/>
          <a:lstStyle/>
          <a:p>
            <a:pPr indent="0" marL="0">
              <a:buNone/>
            </a:pPr>
            <a:r>
              <a:rPr lang="en-US" sz="1050" b="1" dirty="0">
                <a:solidFill>
                  <a:srgbClr val="1565C0"/>
                </a:solidFill>
                <a:latin typeface="Aptos" pitchFamily="34" charset="0"/>
                <a:ea typeface="Aptos" pitchFamily="34" charset="-122"/>
                <a:cs typeface="Aptos" pitchFamily="34" charset="-120"/>
              </a:rPr>
              <a:t>AG Support</a:t>
            </a:r>
            <a:endParaRPr lang="en-US" sz="1050" dirty="0"/>
          </a:p>
        </p:txBody>
      </p:sp>
      <p:sp>
        <p:nvSpPr>
          <p:cNvPr id="20" name="Text 18"/>
          <p:cNvSpPr/>
          <p:nvPr/>
        </p:nvSpPr>
        <p:spPr>
          <a:xfrm>
            <a:off x="1554480" y="3072384"/>
            <a:ext cx="373075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Always On AG topology awareness; automatic failover follow to new primary</a:t>
            </a:r>
            <a:endParaRPr lang="en-US" sz="1050" dirty="0"/>
          </a:p>
        </p:txBody>
      </p:sp>
      <p:sp>
        <p:nvSpPr>
          <p:cNvPr id="21" name="Shape 19"/>
          <p:cNvSpPr/>
          <p:nvPr/>
        </p:nvSpPr>
        <p:spPr>
          <a:xfrm>
            <a:off x="256032" y="3419856"/>
            <a:ext cx="5120640" cy="420624"/>
          </a:xfrm>
          <a:prstGeom prst="rect">
            <a:avLst/>
          </a:prstGeom>
          <a:solidFill>
            <a:srgbClr val="FFFFFF"/>
          </a:solidFill>
          <a:ln w="12700">
            <a:solidFill>
              <a:srgbClr val="B6BBC0"/>
            </a:solidFill>
            <a:prstDash val="solid"/>
          </a:ln>
        </p:spPr>
      </p:sp>
      <p:sp>
        <p:nvSpPr>
          <p:cNvPr id="22" name="Text 20"/>
          <p:cNvSpPr/>
          <p:nvPr/>
        </p:nvSpPr>
        <p:spPr>
          <a:xfrm>
            <a:off x="329184" y="3493008"/>
            <a:ext cx="1143000" cy="274320"/>
          </a:xfrm>
          <a:prstGeom prst="rect">
            <a:avLst/>
          </a:prstGeom>
          <a:noFill/>
          <a:ln/>
        </p:spPr>
        <p:txBody>
          <a:bodyPr wrap="square" lIns="0" tIns="0" rIns="0" bIns="0" rtlCol="0" anchor="ctr"/>
          <a:lstStyle/>
          <a:p>
            <a:pPr indent="0" marL="0">
              <a:buNone/>
            </a:pPr>
            <a:r>
              <a:rPr lang="en-US" sz="1050" b="1" dirty="0">
                <a:solidFill>
                  <a:srgbClr val="1565C0"/>
                </a:solidFill>
                <a:latin typeface="Aptos" pitchFamily="34" charset="0"/>
                <a:ea typeface="Aptos" pitchFamily="34" charset="-122"/>
                <a:cs typeface="Aptos" pitchFamily="34" charset="-120"/>
              </a:rPr>
              <a:t>Latency</a:t>
            </a:r>
            <a:endParaRPr lang="en-US" sz="1050" dirty="0"/>
          </a:p>
        </p:txBody>
      </p:sp>
      <p:sp>
        <p:nvSpPr>
          <p:cNvPr id="23" name="Text 21"/>
          <p:cNvSpPr/>
          <p:nvPr/>
        </p:nvSpPr>
        <p:spPr>
          <a:xfrm>
            <a:off x="1554480" y="3493008"/>
            <a:ext cx="373075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Sub-second change propagation from source to target</a:t>
            </a:r>
            <a:endParaRPr lang="en-US" sz="1050" dirty="0"/>
          </a:p>
        </p:txBody>
      </p:sp>
      <p:sp>
        <p:nvSpPr>
          <p:cNvPr id="24" name="Shape 22"/>
          <p:cNvSpPr/>
          <p:nvPr/>
        </p:nvSpPr>
        <p:spPr>
          <a:xfrm>
            <a:off x="256032" y="3840480"/>
            <a:ext cx="5120640" cy="420624"/>
          </a:xfrm>
          <a:prstGeom prst="rect">
            <a:avLst/>
          </a:prstGeom>
          <a:solidFill>
            <a:srgbClr val="E7ECF0"/>
          </a:solidFill>
          <a:ln w="12700">
            <a:solidFill>
              <a:srgbClr val="B6BBC0"/>
            </a:solidFill>
            <a:prstDash val="solid"/>
          </a:ln>
        </p:spPr>
      </p:sp>
      <p:sp>
        <p:nvSpPr>
          <p:cNvPr id="25" name="Text 23"/>
          <p:cNvSpPr/>
          <p:nvPr/>
        </p:nvSpPr>
        <p:spPr>
          <a:xfrm>
            <a:off x="329184" y="3913632"/>
            <a:ext cx="1143000" cy="274320"/>
          </a:xfrm>
          <a:prstGeom prst="rect">
            <a:avLst/>
          </a:prstGeom>
          <a:noFill/>
          <a:ln/>
        </p:spPr>
        <p:txBody>
          <a:bodyPr wrap="square" lIns="0" tIns="0" rIns="0" bIns="0" rtlCol="0" anchor="ctr"/>
          <a:lstStyle/>
          <a:p>
            <a:pPr indent="0" marL="0">
              <a:buNone/>
            </a:pPr>
            <a:r>
              <a:rPr lang="en-US" sz="1050" b="1" dirty="0">
                <a:solidFill>
                  <a:srgbClr val="1565C0"/>
                </a:solidFill>
                <a:latin typeface="Aptos" pitchFamily="34" charset="0"/>
                <a:ea typeface="Aptos" pitchFamily="34" charset="-122"/>
                <a:cs typeface="Aptos" pitchFamily="34" charset="-120"/>
              </a:rPr>
              <a:t>Management</a:t>
            </a:r>
            <a:endParaRPr lang="en-US" sz="1050" dirty="0"/>
          </a:p>
        </p:txBody>
      </p:sp>
      <p:sp>
        <p:nvSpPr>
          <p:cNvPr id="26" name="Text 24"/>
          <p:cNvSpPr/>
          <p:nvPr/>
        </p:nvSpPr>
        <p:spPr>
          <a:xfrm>
            <a:off x="1554480" y="3913632"/>
            <a:ext cx="373075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IBM CDC Management Console; integrates with IBM DataStage and IBM Cloud Pak for Data</a:t>
            </a:r>
            <a:endParaRPr lang="en-US" sz="1050" dirty="0"/>
          </a:p>
        </p:txBody>
      </p:sp>
      <p:sp>
        <p:nvSpPr>
          <p:cNvPr id="27" name="Shape 25"/>
          <p:cNvSpPr/>
          <p:nvPr/>
        </p:nvSpPr>
        <p:spPr>
          <a:xfrm>
            <a:off x="256032" y="4261104"/>
            <a:ext cx="5120640" cy="420624"/>
          </a:xfrm>
          <a:prstGeom prst="rect">
            <a:avLst/>
          </a:prstGeom>
          <a:solidFill>
            <a:srgbClr val="FFFFFF"/>
          </a:solidFill>
          <a:ln w="12700">
            <a:solidFill>
              <a:srgbClr val="B6BBC0"/>
            </a:solidFill>
            <a:prstDash val="solid"/>
          </a:ln>
        </p:spPr>
      </p:sp>
      <p:sp>
        <p:nvSpPr>
          <p:cNvPr id="28" name="Text 26"/>
          <p:cNvSpPr/>
          <p:nvPr/>
        </p:nvSpPr>
        <p:spPr>
          <a:xfrm>
            <a:off x="329184" y="4334256"/>
            <a:ext cx="1143000" cy="274320"/>
          </a:xfrm>
          <a:prstGeom prst="rect">
            <a:avLst/>
          </a:prstGeom>
          <a:noFill/>
          <a:ln/>
        </p:spPr>
        <p:txBody>
          <a:bodyPr wrap="square" lIns="0" tIns="0" rIns="0" bIns="0" rtlCol="0" anchor="ctr"/>
          <a:lstStyle/>
          <a:p>
            <a:pPr indent="0" marL="0">
              <a:buNone/>
            </a:pPr>
            <a:r>
              <a:rPr lang="en-US" sz="1050" b="1" dirty="0">
                <a:solidFill>
                  <a:srgbClr val="1565C0"/>
                </a:solidFill>
                <a:latin typeface="Aptos" pitchFamily="34" charset="0"/>
                <a:ea typeface="Aptos" pitchFamily="34" charset="-122"/>
                <a:cs typeface="Aptos" pitchFamily="34" charset="-120"/>
              </a:rPr>
              <a:t>Licensing</a:t>
            </a:r>
            <a:endParaRPr lang="en-US" sz="1050" dirty="0"/>
          </a:p>
        </p:txBody>
      </p:sp>
      <p:sp>
        <p:nvSpPr>
          <p:cNvPr id="29" name="Text 27"/>
          <p:cNvSpPr/>
          <p:nvPr/>
        </p:nvSpPr>
        <p:spPr>
          <a:xfrm>
            <a:off x="1554480" y="4334256"/>
            <a:ext cx="373075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Commercial, per-source pricing. Strong value in existing IBM enterprise agreements</a:t>
            </a:r>
            <a:endParaRPr lang="en-US" sz="1050" dirty="0"/>
          </a:p>
        </p:txBody>
      </p:sp>
      <p:sp>
        <p:nvSpPr>
          <p:cNvPr id="30" name="Shape 28"/>
          <p:cNvSpPr/>
          <p:nvPr/>
        </p:nvSpPr>
        <p:spPr>
          <a:xfrm>
            <a:off x="5650992" y="932688"/>
            <a:ext cx="3236976" cy="1828800"/>
          </a:xfrm>
          <a:prstGeom prst="rect">
            <a:avLst/>
          </a:prstGeom>
          <a:solidFill>
            <a:srgbClr val="E8F5E9"/>
          </a:solidFill>
          <a:ln w="12700">
            <a:solidFill>
              <a:srgbClr val="2E7D32"/>
            </a:solidFill>
            <a:prstDash val="solid"/>
          </a:ln>
        </p:spPr>
      </p:sp>
      <p:sp>
        <p:nvSpPr>
          <p:cNvPr id="31" name="Text 29"/>
          <p:cNvSpPr/>
          <p:nvPr/>
        </p:nvSpPr>
        <p:spPr>
          <a:xfrm>
            <a:off x="5742432" y="969264"/>
            <a:ext cx="3017520" cy="292608"/>
          </a:xfrm>
          <a:prstGeom prst="rect">
            <a:avLst/>
          </a:prstGeom>
          <a:noFill/>
          <a:ln/>
        </p:spPr>
        <p:txBody>
          <a:bodyPr wrap="square" lIns="0" tIns="0" rIns="0" bIns="0" rtlCol="0" anchor="ctr"/>
          <a:lstStyle/>
          <a:p>
            <a:pPr indent="0" marL="0">
              <a:buNone/>
            </a:pPr>
            <a:r>
              <a:rPr lang="en-US" sz="1200" b="1" dirty="0">
                <a:solidFill>
                  <a:srgbClr val="2E7D32"/>
                </a:solidFill>
                <a:latin typeface="Aptos Display" pitchFamily="34" charset="0"/>
                <a:ea typeface="Aptos Display" pitchFamily="34" charset="-122"/>
                <a:cs typeface="Aptos Display" pitchFamily="34" charset="-120"/>
              </a:rPr>
              <a:t>Best fit when:</a:t>
            </a:r>
            <a:endParaRPr lang="en-US" sz="1200" dirty="0"/>
          </a:p>
        </p:txBody>
      </p:sp>
      <p:sp>
        <p:nvSpPr>
          <p:cNvPr id="32" name="Shape 30"/>
          <p:cNvSpPr/>
          <p:nvPr/>
        </p:nvSpPr>
        <p:spPr>
          <a:xfrm>
            <a:off x="5696712" y="1371600"/>
            <a:ext cx="45720" cy="246888"/>
          </a:xfrm>
          <a:prstGeom prst="rect">
            <a:avLst/>
          </a:prstGeom>
          <a:solidFill>
            <a:srgbClr val="2E7D32"/>
          </a:solidFill>
          <a:ln w="12700">
            <a:solidFill>
              <a:srgbClr val="2E7D32"/>
            </a:solidFill>
            <a:prstDash val="solid"/>
          </a:ln>
        </p:spPr>
      </p:sp>
      <p:sp>
        <p:nvSpPr>
          <p:cNvPr id="33" name="Text 31"/>
          <p:cNvSpPr/>
          <p:nvPr/>
        </p:nvSpPr>
        <p:spPr>
          <a:xfrm>
            <a:off x="5833872" y="1316736"/>
            <a:ext cx="2962656" cy="347472"/>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Existing IBM enterprise licensing in place</a:t>
            </a:r>
            <a:endParaRPr lang="en-US" sz="1050" dirty="0"/>
          </a:p>
        </p:txBody>
      </p:sp>
      <p:sp>
        <p:nvSpPr>
          <p:cNvPr id="34" name="Shape 32"/>
          <p:cNvSpPr/>
          <p:nvPr/>
        </p:nvSpPr>
        <p:spPr>
          <a:xfrm>
            <a:off x="5696712" y="1755648"/>
            <a:ext cx="45720" cy="246888"/>
          </a:xfrm>
          <a:prstGeom prst="rect">
            <a:avLst/>
          </a:prstGeom>
          <a:solidFill>
            <a:srgbClr val="2E7D32"/>
          </a:solidFill>
          <a:ln w="12700">
            <a:solidFill>
              <a:srgbClr val="2E7D32"/>
            </a:solidFill>
            <a:prstDash val="solid"/>
          </a:ln>
        </p:spPr>
      </p:sp>
      <p:sp>
        <p:nvSpPr>
          <p:cNvPr id="35" name="Text 33"/>
          <p:cNvSpPr/>
          <p:nvPr/>
        </p:nvSpPr>
        <p:spPr>
          <a:xfrm>
            <a:off x="5833872" y="1700784"/>
            <a:ext cx="2962656" cy="347472"/>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IBM DataStage or Cloud Pak for Data deployed</a:t>
            </a:r>
            <a:endParaRPr lang="en-US" sz="1050" dirty="0"/>
          </a:p>
        </p:txBody>
      </p:sp>
      <p:sp>
        <p:nvSpPr>
          <p:cNvPr id="36" name="Shape 34"/>
          <p:cNvSpPr/>
          <p:nvPr/>
        </p:nvSpPr>
        <p:spPr>
          <a:xfrm>
            <a:off x="5696712" y="2139696"/>
            <a:ext cx="45720" cy="246888"/>
          </a:xfrm>
          <a:prstGeom prst="rect">
            <a:avLst/>
          </a:prstGeom>
          <a:solidFill>
            <a:srgbClr val="2E7D32"/>
          </a:solidFill>
          <a:ln w="12700">
            <a:solidFill>
              <a:srgbClr val="2E7D32"/>
            </a:solidFill>
            <a:prstDash val="solid"/>
          </a:ln>
        </p:spPr>
      </p:sp>
      <p:sp>
        <p:nvSpPr>
          <p:cNvPr id="37" name="Text 35"/>
          <p:cNvSpPr/>
          <p:nvPr/>
        </p:nvSpPr>
        <p:spPr>
          <a:xfrm>
            <a:off x="5833872" y="2084832"/>
            <a:ext cx="2962656" cy="347472"/>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Mainframe sources (IMS/VSAM/Db2) in scope</a:t>
            </a:r>
            <a:endParaRPr lang="en-US" sz="1050" dirty="0"/>
          </a:p>
        </p:txBody>
      </p:sp>
      <p:sp>
        <p:nvSpPr>
          <p:cNvPr id="38" name="Shape 36"/>
          <p:cNvSpPr/>
          <p:nvPr/>
        </p:nvSpPr>
        <p:spPr>
          <a:xfrm>
            <a:off x="5696712" y="2523744"/>
            <a:ext cx="45720" cy="246888"/>
          </a:xfrm>
          <a:prstGeom prst="rect">
            <a:avLst/>
          </a:prstGeom>
          <a:solidFill>
            <a:srgbClr val="2E7D32"/>
          </a:solidFill>
          <a:ln w="12700">
            <a:solidFill>
              <a:srgbClr val="2E7D32"/>
            </a:solidFill>
            <a:prstDash val="solid"/>
          </a:ln>
        </p:spPr>
      </p:sp>
      <p:sp>
        <p:nvSpPr>
          <p:cNvPr id="39" name="Text 37"/>
          <p:cNvSpPr/>
          <p:nvPr/>
        </p:nvSpPr>
        <p:spPr>
          <a:xfrm>
            <a:off x="5833872" y="2468880"/>
            <a:ext cx="2962656" cy="347472"/>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Enterprise support relationship with IBM required</a:t>
            </a:r>
            <a:endParaRPr lang="en-US" sz="1050" dirty="0"/>
          </a:p>
        </p:txBody>
      </p:sp>
      <p:sp>
        <p:nvSpPr>
          <p:cNvPr id="40" name="Shape 38"/>
          <p:cNvSpPr/>
          <p:nvPr/>
        </p:nvSpPr>
        <p:spPr>
          <a:xfrm>
            <a:off x="5650992" y="2898648"/>
            <a:ext cx="3236976" cy="1920240"/>
          </a:xfrm>
          <a:prstGeom prst="rect">
            <a:avLst/>
          </a:prstGeom>
          <a:solidFill>
            <a:srgbClr val="FFF3E0"/>
          </a:solidFill>
          <a:ln w="12700">
            <a:solidFill>
              <a:srgbClr val="E65100"/>
            </a:solidFill>
            <a:prstDash val="solid"/>
          </a:ln>
        </p:spPr>
      </p:sp>
      <p:sp>
        <p:nvSpPr>
          <p:cNvPr id="41" name="Text 39"/>
          <p:cNvSpPr/>
          <p:nvPr/>
        </p:nvSpPr>
        <p:spPr>
          <a:xfrm>
            <a:off x="5742432" y="2935224"/>
            <a:ext cx="3017520" cy="292608"/>
          </a:xfrm>
          <a:prstGeom prst="rect">
            <a:avLst/>
          </a:prstGeom>
          <a:noFill/>
          <a:ln/>
        </p:spPr>
        <p:txBody>
          <a:bodyPr wrap="square" lIns="0" tIns="0" rIns="0" bIns="0" rtlCol="0" anchor="ctr"/>
          <a:lstStyle/>
          <a:p>
            <a:pPr indent="0" marL="0">
              <a:buNone/>
            </a:pPr>
            <a:r>
              <a:rPr lang="en-US" sz="1200" b="1" dirty="0">
                <a:solidFill>
                  <a:srgbClr val="E65100"/>
                </a:solidFill>
                <a:latin typeface="Aptos Display" pitchFamily="34" charset="0"/>
                <a:ea typeface="Aptos Display" pitchFamily="34" charset="-122"/>
                <a:cs typeface="Aptos Display" pitchFamily="34" charset="-120"/>
              </a:rPr>
              <a:t>Consider carefully:</a:t>
            </a:r>
            <a:endParaRPr lang="en-US" sz="1200" dirty="0"/>
          </a:p>
        </p:txBody>
      </p:sp>
      <p:sp>
        <p:nvSpPr>
          <p:cNvPr id="42" name="Shape 40"/>
          <p:cNvSpPr/>
          <p:nvPr/>
        </p:nvSpPr>
        <p:spPr>
          <a:xfrm>
            <a:off x="5696712" y="3328416"/>
            <a:ext cx="45720" cy="246888"/>
          </a:xfrm>
          <a:prstGeom prst="rect">
            <a:avLst/>
          </a:prstGeom>
          <a:solidFill>
            <a:srgbClr val="E65100"/>
          </a:solidFill>
          <a:ln w="12700">
            <a:solidFill>
              <a:srgbClr val="E65100"/>
            </a:solidFill>
            <a:prstDash val="solid"/>
          </a:ln>
        </p:spPr>
      </p:sp>
      <p:sp>
        <p:nvSpPr>
          <p:cNvPr id="43" name="Text 41"/>
          <p:cNvSpPr/>
          <p:nvPr/>
        </p:nvSpPr>
        <p:spPr>
          <a:xfrm>
            <a:off x="5833872" y="3273552"/>
            <a:ext cx="2962656" cy="347472"/>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Management console UI reflects enterprise/legacy lineage</a:t>
            </a:r>
            <a:endParaRPr lang="en-US" sz="1050" dirty="0"/>
          </a:p>
        </p:txBody>
      </p:sp>
      <p:sp>
        <p:nvSpPr>
          <p:cNvPr id="44" name="Shape 42"/>
          <p:cNvSpPr/>
          <p:nvPr/>
        </p:nvSpPr>
        <p:spPr>
          <a:xfrm>
            <a:off x="5696712" y="3712464"/>
            <a:ext cx="45720" cy="246888"/>
          </a:xfrm>
          <a:prstGeom prst="rect">
            <a:avLst/>
          </a:prstGeom>
          <a:solidFill>
            <a:srgbClr val="E65100"/>
          </a:solidFill>
          <a:ln w="12700">
            <a:solidFill>
              <a:srgbClr val="E65100"/>
            </a:solidFill>
            <a:prstDash val="solid"/>
          </a:ln>
        </p:spPr>
      </p:sp>
      <p:sp>
        <p:nvSpPr>
          <p:cNvPr id="45" name="Text 43"/>
          <p:cNvSpPr/>
          <p:nvPr/>
        </p:nvSpPr>
        <p:spPr>
          <a:xfrm>
            <a:off x="5833872" y="3657600"/>
            <a:ext cx="2962656" cy="347472"/>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Pricing complex outside IBM account structures</a:t>
            </a:r>
            <a:endParaRPr lang="en-US" sz="1050" dirty="0"/>
          </a:p>
        </p:txBody>
      </p:sp>
      <p:sp>
        <p:nvSpPr>
          <p:cNvPr id="46" name="Shape 44"/>
          <p:cNvSpPr/>
          <p:nvPr/>
        </p:nvSpPr>
        <p:spPr>
          <a:xfrm>
            <a:off x="5696712" y="4096512"/>
            <a:ext cx="45720" cy="246888"/>
          </a:xfrm>
          <a:prstGeom prst="rect">
            <a:avLst/>
          </a:prstGeom>
          <a:solidFill>
            <a:srgbClr val="E65100"/>
          </a:solidFill>
          <a:ln w="12700">
            <a:solidFill>
              <a:srgbClr val="E65100"/>
            </a:solidFill>
            <a:prstDash val="solid"/>
          </a:ln>
        </p:spPr>
      </p:sp>
      <p:sp>
        <p:nvSpPr>
          <p:cNvPr id="47" name="Text 45"/>
          <p:cNvSpPr/>
          <p:nvPr/>
        </p:nvSpPr>
        <p:spPr>
          <a:xfrm>
            <a:off x="5833872" y="4041648"/>
            <a:ext cx="2962656" cy="347472"/>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Smaller community ecosystem vs. Debezium or Qlik</a:t>
            </a:r>
            <a:endParaRPr lang="en-US" sz="1050" dirty="0"/>
          </a:p>
        </p:txBody>
      </p:sp>
      <p:sp>
        <p:nvSpPr>
          <p:cNvPr id="48" name="Shape 46"/>
          <p:cNvSpPr/>
          <p:nvPr/>
        </p:nvSpPr>
        <p:spPr>
          <a:xfrm>
            <a:off x="5696712" y="4480560"/>
            <a:ext cx="45720" cy="246888"/>
          </a:xfrm>
          <a:prstGeom prst="rect">
            <a:avLst/>
          </a:prstGeom>
          <a:solidFill>
            <a:srgbClr val="E65100"/>
          </a:solidFill>
          <a:ln w="12700">
            <a:solidFill>
              <a:srgbClr val="E65100"/>
            </a:solidFill>
            <a:prstDash val="solid"/>
          </a:ln>
        </p:spPr>
      </p:sp>
      <p:sp>
        <p:nvSpPr>
          <p:cNvPr id="49" name="Text 47"/>
          <p:cNvSpPr/>
          <p:nvPr/>
        </p:nvSpPr>
        <p:spPr>
          <a:xfrm>
            <a:off x="5833872" y="4425696"/>
            <a:ext cx="2962656" cy="347472"/>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Cloud-native deployment story still maturing</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Striim — Real-Time Data Integration Platform</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Text 3"/>
          <p:cNvSpPr/>
          <p:nvPr/>
        </p:nvSpPr>
        <p:spPr>
          <a:xfrm>
            <a:off x="256032" y="932688"/>
            <a:ext cx="5120640" cy="329184"/>
          </a:xfrm>
          <a:prstGeom prst="rect">
            <a:avLst/>
          </a:prstGeom>
          <a:noFill/>
          <a:ln/>
        </p:spPr>
        <p:txBody>
          <a:bodyPr wrap="square" lIns="0" tIns="0" rIns="0" bIns="0" rtlCol="0" anchor="ctr"/>
          <a:lstStyle/>
          <a:p>
            <a:pPr indent="0" marL="0">
              <a:buNone/>
            </a:pPr>
            <a:r>
              <a:rPr lang="en-US" sz="1100" i="1" dirty="0">
                <a:solidFill>
                  <a:srgbClr val="B6BBC0"/>
                </a:solidFill>
                <a:latin typeface="Aptos" pitchFamily="34" charset="0"/>
                <a:ea typeface="Aptos" pitchFamily="34" charset="-122"/>
                <a:cs typeface="Aptos" pitchFamily="34" charset="-120"/>
              </a:rPr>
              <a:t>Founded 2012. Purpose-built for streaming integration with built-in in-flight processing via a streaming SQL engine.</a:t>
            </a:r>
            <a:endParaRPr lang="en-US" sz="1100" dirty="0"/>
          </a:p>
        </p:txBody>
      </p:sp>
      <p:sp>
        <p:nvSpPr>
          <p:cNvPr id="6" name="Shape 4"/>
          <p:cNvSpPr/>
          <p:nvPr/>
        </p:nvSpPr>
        <p:spPr>
          <a:xfrm>
            <a:off x="256032" y="1316736"/>
            <a:ext cx="5120640" cy="420624"/>
          </a:xfrm>
          <a:prstGeom prst="rect">
            <a:avLst/>
          </a:prstGeom>
          <a:solidFill>
            <a:srgbClr val="E7ECF0"/>
          </a:solidFill>
          <a:ln w="12700">
            <a:solidFill>
              <a:srgbClr val="B6BBC0"/>
            </a:solidFill>
            <a:prstDash val="solid"/>
          </a:ln>
        </p:spPr>
      </p:sp>
      <p:sp>
        <p:nvSpPr>
          <p:cNvPr id="7" name="Text 5"/>
          <p:cNvSpPr/>
          <p:nvPr/>
        </p:nvSpPr>
        <p:spPr>
          <a:xfrm>
            <a:off x="329184" y="1389888"/>
            <a:ext cx="1280160" cy="274320"/>
          </a:xfrm>
          <a:prstGeom prst="rect">
            <a:avLst/>
          </a:prstGeom>
          <a:noFill/>
          <a:ln/>
        </p:spPr>
        <p:txBody>
          <a:bodyPr wrap="square" lIns="0" tIns="0" rIns="0" bIns="0" rtlCol="0" anchor="ctr"/>
          <a:lstStyle/>
          <a:p>
            <a:pPr indent="0" marL="0">
              <a:buNone/>
            </a:pPr>
            <a:r>
              <a:rPr lang="en-US" sz="1050" b="1" dirty="0">
                <a:solidFill>
                  <a:srgbClr val="2E7D32"/>
                </a:solidFill>
                <a:latin typeface="Aptos" pitchFamily="34" charset="0"/>
                <a:ea typeface="Aptos" pitchFamily="34" charset="-122"/>
                <a:cs typeface="Aptos" pitchFamily="34" charset="-120"/>
              </a:rPr>
              <a:t>Log Reading</a:t>
            </a:r>
            <a:endParaRPr lang="en-US" sz="1050" dirty="0"/>
          </a:p>
        </p:txBody>
      </p:sp>
      <p:sp>
        <p:nvSpPr>
          <p:cNvPr id="8" name="Text 6"/>
          <p:cNvSpPr/>
          <p:nvPr/>
        </p:nvSpPr>
        <p:spPr>
          <a:xfrm>
            <a:off x="1691640" y="1389888"/>
            <a:ext cx="359359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Direct SQL Server transaction log reading — no native CDC or SQL Agent required</a:t>
            </a:r>
            <a:endParaRPr lang="en-US" sz="1050" dirty="0"/>
          </a:p>
        </p:txBody>
      </p:sp>
      <p:sp>
        <p:nvSpPr>
          <p:cNvPr id="9" name="Shape 7"/>
          <p:cNvSpPr/>
          <p:nvPr/>
        </p:nvSpPr>
        <p:spPr>
          <a:xfrm>
            <a:off x="256032" y="1737360"/>
            <a:ext cx="5120640" cy="420624"/>
          </a:xfrm>
          <a:prstGeom prst="rect">
            <a:avLst/>
          </a:prstGeom>
          <a:solidFill>
            <a:srgbClr val="FFFFFF"/>
          </a:solidFill>
          <a:ln w="12700">
            <a:solidFill>
              <a:srgbClr val="B6BBC0"/>
            </a:solidFill>
            <a:prstDash val="solid"/>
          </a:ln>
        </p:spPr>
      </p:sp>
      <p:sp>
        <p:nvSpPr>
          <p:cNvPr id="10" name="Text 8"/>
          <p:cNvSpPr/>
          <p:nvPr/>
        </p:nvSpPr>
        <p:spPr>
          <a:xfrm>
            <a:off x="329184" y="1810512"/>
            <a:ext cx="1280160" cy="274320"/>
          </a:xfrm>
          <a:prstGeom prst="rect">
            <a:avLst/>
          </a:prstGeom>
          <a:noFill/>
          <a:ln/>
        </p:spPr>
        <p:txBody>
          <a:bodyPr wrap="square" lIns="0" tIns="0" rIns="0" bIns="0" rtlCol="0" anchor="ctr"/>
          <a:lstStyle/>
          <a:p>
            <a:pPr indent="0" marL="0">
              <a:buNone/>
            </a:pPr>
            <a:r>
              <a:rPr lang="en-US" sz="1050" b="1" dirty="0">
                <a:solidFill>
                  <a:srgbClr val="2E7D32"/>
                </a:solidFill>
                <a:latin typeface="Aptos" pitchFamily="34" charset="0"/>
                <a:ea typeface="Aptos" pitchFamily="34" charset="-122"/>
                <a:cs typeface="Aptos" pitchFamily="34" charset="-120"/>
              </a:rPr>
              <a:t>Sources</a:t>
            </a:r>
            <a:endParaRPr lang="en-US" sz="1050" dirty="0"/>
          </a:p>
        </p:txBody>
      </p:sp>
      <p:sp>
        <p:nvSpPr>
          <p:cNvPr id="11" name="Text 9"/>
          <p:cNvSpPr/>
          <p:nvPr/>
        </p:nvSpPr>
        <p:spPr>
          <a:xfrm>
            <a:off x="1691640" y="1810512"/>
            <a:ext cx="359359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SQL Server, Oracle, MySQL, PostgreSQL, SAP, Kafka, messaging systems, files</a:t>
            </a:r>
            <a:endParaRPr lang="en-US" sz="1050" dirty="0"/>
          </a:p>
        </p:txBody>
      </p:sp>
      <p:sp>
        <p:nvSpPr>
          <p:cNvPr id="12" name="Shape 10"/>
          <p:cNvSpPr/>
          <p:nvPr/>
        </p:nvSpPr>
        <p:spPr>
          <a:xfrm>
            <a:off x="256032" y="2157984"/>
            <a:ext cx="5120640" cy="420624"/>
          </a:xfrm>
          <a:prstGeom prst="rect">
            <a:avLst/>
          </a:prstGeom>
          <a:solidFill>
            <a:srgbClr val="E7ECF0"/>
          </a:solidFill>
          <a:ln w="12700">
            <a:solidFill>
              <a:srgbClr val="B6BBC0"/>
            </a:solidFill>
            <a:prstDash val="solid"/>
          </a:ln>
        </p:spPr>
      </p:sp>
      <p:sp>
        <p:nvSpPr>
          <p:cNvPr id="13" name="Text 11"/>
          <p:cNvSpPr/>
          <p:nvPr/>
        </p:nvSpPr>
        <p:spPr>
          <a:xfrm>
            <a:off x="329184" y="2231136"/>
            <a:ext cx="1280160" cy="274320"/>
          </a:xfrm>
          <a:prstGeom prst="rect">
            <a:avLst/>
          </a:prstGeom>
          <a:noFill/>
          <a:ln/>
        </p:spPr>
        <p:txBody>
          <a:bodyPr wrap="square" lIns="0" tIns="0" rIns="0" bIns="0" rtlCol="0" anchor="ctr"/>
          <a:lstStyle/>
          <a:p>
            <a:pPr indent="0" marL="0">
              <a:buNone/>
            </a:pPr>
            <a:r>
              <a:rPr lang="en-US" sz="1050" b="1" dirty="0">
                <a:solidFill>
                  <a:srgbClr val="2E7D32"/>
                </a:solidFill>
                <a:latin typeface="Aptos" pitchFamily="34" charset="0"/>
                <a:ea typeface="Aptos" pitchFamily="34" charset="-122"/>
                <a:cs typeface="Aptos" pitchFamily="34" charset="-120"/>
              </a:rPr>
              <a:t>Targets</a:t>
            </a:r>
            <a:endParaRPr lang="en-US" sz="1050" dirty="0"/>
          </a:p>
        </p:txBody>
      </p:sp>
      <p:sp>
        <p:nvSpPr>
          <p:cNvPr id="14" name="Text 12"/>
          <p:cNvSpPr/>
          <p:nvPr/>
        </p:nvSpPr>
        <p:spPr>
          <a:xfrm>
            <a:off x="1691640" y="2231136"/>
            <a:ext cx="359359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Snowflake, BigQuery, Redshift, Databricks, Kafka, Azure Event Hubs, Synapse, JDBC</a:t>
            </a:r>
            <a:endParaRPr lang="en-US" sz="1050" dirty="0"/>
          </a:p>
        </p:txBody>
      </p:sp>
      <p:sp>
        <p:nvSpPr>
          <p:cNvPr id="15" name="Shape 13"/>
          <p:cNvSpPr/>
          <p:nvPr/>
        </p:nvSpPr>
        <p:spPr>
          <a:xfrm>
            <a:off x="256032" y="2578608"/>
            <a:ext cx="5120640" cy="420624"/>
          </a:xfrm>
          <a:prstGeom prst="rect">
            <a:avLst/>
          </a:prstGeom>
          <a:solidFill>
            <a:srgbClr val="FFFFFF"/>
          </a:solidFill>
          <a:ln w="12700">
            <a:solidFill>
              <a:srgbClr val="B6BBC0"/>
            </a:solidFill>
            <a:prstDash val="solid"/>
          </a:ln>
        </p:spPr>
      </p:sp>
      <p:sp>
        <p:nvSpPr>
          <p:cNvPr id="16" name="Text 14"/>
          <p:cNvSpPr/>
          <p:nvPr/>
        </p:nvSpPr>
        <p:spPr>
          <a:xfrm>
            <a:off x="329184" y="2651760"/>
            <a:ext cx="1280160" cy="274320"/>
          </a:xfrm>
          <a:prstGeom prst="rect">
            <a:avLst/>
          </a:prstGeom>
          <a:noFill/>
          <a:ln/>
        </p:spPr>
        <p:txBody>
          <a:bodyPr wrap="square" lIns="0" tIns="0" rIns="0" bIns="0" rtlCol="0" anchor="ctr"/>
          <a:lstStyle/>
          <a:p>
            <a:pPr indent="0" marL="0">
              <a:buNone/>
            </a:pPr>
            <a:r>
              <a:rPr lang="en-US" sz="1050" b="1" dirty="0">
                <a:solidFill>
                  <a:srgbClr val="2E7D32"/>
                </a:solidFill>
                <a:latin typeface="Aptos" pitchFamily="34" charset="0"/>
                <a:ea typeface="Aptos" pitchFamily="34" charset="-122"/>
                <a:cs typeface="Aptos" pitchFamily="34" charset="-120"/>
              </a:rPr>
              <a:t>Key Differentiator</a:t>
            </a:r>
            <a:endParaRPr lang="en-US" sz="1050" dirty="0"/>
          </a:p>
        </p:txBody>
      </p:sp>
      <p:sp>
        <p:nvSpPr>
          <p:cNvPr id="17" name="Text 15"/>
          <p:cNvSpPr/>
          <p:nvPr/>
        </p:nvSpPr>
        <p:spPr>
          <a:xfrm>
            <a:off x="1691640" y="2651760"/>
            <a:ext cx="359359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Built-in streaming SQL engine — transform, enrich, filter, and join change streams in-flight before delivery</a:t>
            </a:r>
            <a:endParaRPr lang="en-US" sz="1050" dirty="0"/>
          </a:p>
        </p:txBody>
      </p:sp>
      <p:sp>
        <p:nvSpPr>
          <p:cNvPr id="18" name="Shape 16"/>
          <p:cNvSpPr/>
          <p:nvPr/>
        </p:nvSpPr>
        <p:spPr>
          <a:xfrm>
            <a:off x="256032" y="2999232"/>
            <a:ext cx="5120640" cy="420624"/>
          </a:xfrm>
          <a:prstGeom prst="rect">
            <a:avLst/>
          </a:prstGeom>
          <a:solidFill>
            <a:srgbClr val="E7ECF0"/>
          </a:solidFill>
          <a:ln w="12700">
            <a:solidFill>
              <a:srgbClr val="B6BBC0"/>
            </a:solidFill>
            <a:prstDash val="solid"/>
          </a:ln>
        </p:spPr>
      </p:sp>
      <p:sp>
        <p:nvSpPr>
          <p:cNvPr id="19" name="Text 17"/>
          <p:cNvSpPr/>
          <p:nvPr/>
        </p:nvSpPr>
        <p:spPr>
          <a:xfrm>
            <a:off x="329184" y="3072384"/>
            <a:ext cx="1280160" cy="274320"/>
          </a:xfrm>
          <a:prstGeom prst="rect">
            <a:avLst/>
          </a:prstGeom>
          <a:noFill/>
          <a:ln/>
        </p:spPr>
        <p:txBody>
          <a:bodyPr wrap="square" lIns="0" tIns="0" rIns="0" bIns="0" rtlCol="0" anchor="ctr"/>
          <a:lstStyle/>
          <a:p>
            <a:pPr indent="0" marL="0">
              <a:buNone/>
            </a:pPr>
            <a:r>
              <a:rPr lang="en-US" sz="1050" b="1" dirty="0">
                <a:solidFill>
                  <a:srgbClr val="2E7D32"/>
                </a:solidFill>
                <a:latin typeface="Aptos" pitchFamily="34" charset="0"/>
                <a:ea typeface="Aptos" pitchFamily="34" charset="-122"/>
                <a:cs typeface="Aptos" pitchFamily="34" charset="-120"/>
              </a:rPr>
              <a:t>Schema Evolution</a:t>
            </a:r>
            <a:endParaRPr lang="en-US" sz="1050" dirty="0"/>
          </a:p>
        </p:txBody>
      </p:sp>
      <p:sp>
        <p:nvSpPr>
          <p:cNvPr id="20" name="Text 18"/>
          <p:cNvSpPr/>
          <p:nvPr/>
        </p:nvSpPr>
        <p:spPr>
          <a:xfrm>
            <a:off x="1691640" y="3072384"/>
            <a:ext cx="359359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Automated DDL capture and propagation with configurable target handling</a:t>
            </a:r>
            <a:endParaRPr lang="en-US" sz="1050" dirty="0"/>
          </a:p>
        </p:txBody>
      </p:sp>
      <p:sp>
        <p:nvSpPr>
          <p:cNvPr id="21" name="Shape 19"/>
          <p:cNvSpPr/>
          <p:nvPr/>
        </p:nvSpPr>
        <p:spPr>
          <a:xfrm>
            <a:off x="256032" y="3419856"/>
            <a:ext cx="5120640" cy="420624"/>
          </a:xfrm>
          <a:prstGeom prst="rect">
            <a:avLst/>
          </a:prstGeom>
          <a:solidFill>
            <a:srgbClr val="FFFFFF"/>
          </a:solidFill>
          <a:ln w="12700">
            <a:solidFill>
              <a:srgbClr val="B6BBC0"/>
            </a:solidFill>
            <a:prstDash val="solid"/>
          </a:ln>
        </p:spPr>
      </p:sp>
      <p:sp>
        <p:nvSpPr>
          <p:cNvPr id="22" name="Text 20"/>
          <p:cNvSpPr/>
          <p:nvPr/>
        </p:nvSpPr>
        <p:spPr>
          <a:xfrm>
            <a:off x="329184" y="3493008"/>
            <a:ext cx="1280160" cy="274320"/>
          </a:xfrm>
          <a:prstGeom prst="rect">
            <a:avLst/>
          </a:prstGeom>
          <a:noFill/>
          <a:ln/>
        </p:spPr>
        <p:txBody>
          <a:bodyPr wrap="square" lIns="0" tIns="0" rIns="0" bIns="0" rtlCol="0" anchor="ctr"/>
          <a:lstStyle/>
          <a:p>
            <a:pPr indent="0" marL="0">
              <a:buNone/>
            </a:pPr>
            <a:r>
              <a:rPr lang="en-US" sz="1050" b="1" dirty="0">
                <a:solidFill>
                  <a:srgbClr val="2E7D32"/>
                </a:solidFill>
                <a:latin typeface="Aptos" pitchFamily="34" charset="0"/>
                <a:ea typeface="Aptos" pitchFamily="34" charset="-122"/>
                <a:cs typeface="Aptos" pitchFamily="34" charset="-120"/>
              </a:rPr>
              <a:t>AG Support</a:t>
            </a:r>
            <a:endParaRPr lang="en-US" sz="1050" dirty="0"/>
          </a:p>
        </p:txBody>
      </p:sp>
      <p:sp>
        <p:nvSpPr>
          <p:cNvPr id="23" name="Text 21"/>
          <p:cNvSpPr/>
          <p:nvPr/>
        </p:nvSpPr>
        <p:spPr>
          <a:xfrm>
            <a:off x="1691640" y="3493008"/>
            <a:ext cx="359359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Always On AG topology awareness; automatic failover handling</a:t>
            </a:r>
            <a:endParaRPr lang="en-US" sz="1050" dirty="0"/>
          </a:p>
        </p:txBody>
      </p:sp>
      <p:sp>
        <p:nvSpPr>
          <p:cNvPr id="24" name="Shape 22"/>
          <p:cNvSpPr/>
          <p:nvPr/>
        </p:nvSpPr>
        <p:spPr>
          <a:xfrm>
            <a:off x="256032" y="3840480"/>
            <a:ext cx="5120640" cy="420624"/>
          </a:xfrm>
          <a:prstGeom prst="rect">
            <a:avLst/>
          </a:prstGeom>
          <a:solidFill>
            <a:srgbClr val="E7ECF0"/>
          </a:solidFill>
          <a:ln w="12700">
            <a:solidFill>
              <a:srgbClr val="B6BBC0"/>
            </a:solidFill>
            <a:prstDash val="solid"/>
          </a:ln>
        </p:spPr>
      </p:sp>
      <p:sp>
        <p:nvSpPr>
          <p:cNvPr id="25" name="Text 23"/>
          <p:cNvSpPr/>
          <p:nvPr/>
        </p:nvSpPr>
        <p:spPr>
          <a:xfrm>
            <a:off x="329184" y="3913632"/>
            <a:ext cx="1280160" cy="274320"/>
          </a:xfrm>
          <a:prstGeom prst="rect">
            <a:avLst/>
          </a:prstGeom>
          <a:noFill/>
          <a:ln/>
        </p:spPr>
        <p:txBody>
          <a:bodyPr wrap="square" lIns="0" tIns="0" rIns="0" bIns="0" rtlCol="0" anchor="ctr"/>
          <a:lstStyle/>
          <a:p>
            <a:pPr indent="0" marL="0">
              <a:buNone/>
            </a:pPr>
            <a:r>
              <a:rPr lang="en-US" sz="1050" b="1" dirty="0">
                <a:solidFill>
                  <a:srgbClr val="2E7D32"/>
                </a:solidFill>
                <a:latin typeface="Aptos" pitchFamily="34" charset="0"/>
                <a:ea typeface="Aptos" pitchFamily="34" charset="-122"/>
                <a:cs typeface="Aptos" pitchFamily="34" charset="-120"/>
              </a:rPr>
              <a:t>Latency</a:t>
            </a:r>
            <a:endParaRPr lang="en-US" sz="1050" dirty="0"/>
          </a:p>
        </p:txBody>
      </p:sp>
      <p:sp>
        <p:nvSpPr>
          <p:cNvPr id="26" name="Text 24"/>
          <p:cNvSpPr/>
          <p:nvPr/>
        </p:nvSpPr>
        <p:spPr>
          <a:xfrm>
            <a:off x="1691640" y="3913632"/>
            <a:ext cx="359359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Sub-second continuous delivery through in-memory processing pipeline</a:t>
            </a:r>
            <a:endParaRPr lang="en-US" sz="1050" dirty="0"/>
          </a:p>
        </p:txBody>
      </p:sp>
      <p:sp>
        <p:nvSpPr>
          <p:cNvPr id="27" name="Shape 25"/>
          <p:cNvSpPr/>
          <p:nvPr/>
        </p:nvSpPr>
        <p:spPr>
          <a:xfrm>
            <a:off x="256032" y="4261104"/>
            <a:ext cx="5120640" cy="420624"/>
          </a:xfrm>
          <a:prstGeom prst="rect">
            <a:avLst/>
          </a:prstGeom>
          <a:solidFill>
            <a:srgbClr val="FFFFFF"/>
          </a:solidFill>
          <a:ln w="12700">
            <a:solidFill>
              <a:srgbClr val="B6BBC0"/>
            </a:solidFill>
            <a:prstDash val="solid"/>
          </a:ln>
        </p:spPr>
      </p:sp>
      <p:sp>
        <p:nvSpPr>
          <p:cNvPr id="28" name="Text 26"/>
          <p:cNvSpPr/>
          <p:nvPr/>
        </p:nvSpPr>
        <p:spPr>
          <a:xfrm>
            <a:off x="329184" y="4334256"/>
            <a:ext cx="1280160" cy="274320"/>
          </a:xfrm>
          <a:prstGeom prst="rect">
            <a:avLst/>
          </a:prstGeom>
          <a:noFill/>
          <a:ln/>
        </p:spPr>
        <p:txBody>
          <a:bodyPr wrap="square" lIns="0" tIns="0" rIns="0" bIns="0" rtlCol="0" anchor="ctr"/>
          <a:lstStyle/>
          <a:p>
            <a:pPr indent="0" marL="0">
              <a:buNone/>
            </a:pPr>
            <a:r>
              <a:rPr lang="en-US" sz="1050" b="1" dirty="0">
                <a:solidFill>
                  <a:srgbClr val="2E7D32"/>
                </a:solidFill>
                <a:latin typeface="Aptos" pitchFamily="34" charset="0"/>
                <a:ea typeface="Aptos" pitchFamily="34" charset="-122"/>
                <a:cs typeface="Aptos" pitchFamily="34" charset="-120"/>
              </a:rPr>
              <a:t>Deployment</a:t>
            </a:r>
            <a:endParaRPr lang="en-US" sz="1050" dirty="0"/>
          </a:p>
        </p:txBody>
      </p:sp>
      <p:sp>
        <p:nvSpPr>
          <p:cNvPr id="29" name="Text 27"/>
          <p:cNvSpPr/>
          <p:nvPr/>
        </p:nvSpPr>
        <p:spPr>
          <a:xfrm>
            <a:off x="1691640" y="4334256"/>
            <a:ext cx="3593592"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Cloud-native SaaS, managed cloud, or on-premises. Certified connectors for major cloud DWs.</a:t>
            </a:r>
            <a:endParaRPr lang="en-US" sz="1050" dirty="0"/>
          </a:p>
        </p:txBody>
      </p:sp>
      <p:sp>
        <p:nvSpPr>
          <p:cNvPr id="30" name="Shape 28"/>
          <p:cNvSpPr/>
          <p:nvPr/>
        </p:nvSpPr>
        <p:spPr>
          <a:xfrm>
            <a:off x="5650992" y="932688"/>
            <a:ext cx="3236976" cy="1938528"/>
          </a:xfrm>
          <a:prstGeom prst="rect">
            <a:avLst/>
          </a:prstGeom>
          <a:solidFill>
            <a:srgbClr val="E8F5E9"/>
          </a:solidFill>
          <a:ln w="12700">
            <a:solidFill>
              <a:srgbClr val="2E7D32"/>
            </a:solidFill>
            <a:prstDash val="solid"/>
          </a:ln>
        </p:spPr>
      </p:sp>
      <p:sp>
        <p:nvSpPr>
          <p:cNvPr id="31" name="Text 29"/>
          <p:cNvSpPr/>
          <p:nvPr/>
        </p:nvSpPr>
        <p:spPr>
          <a:xfrm>
            <a:off x="5742432" y="969264"/>
            <a:ext cx="3017520" cy="292608"/>
          </a:xfrm>
          <a:prstGeom prst="rect">
            <a:avLst/>
          </a:prstGeom>
          <a:noFill/>
          <a:ln/>
        </p:spPr>
        <p:txBody>
          <a:bodyPr wrap="square" lIns="0" tIns="0" rIns="0" bIns="0" rtlCol="0" anchor="ctr"/>
          <a:lstStyle/>
          <a:p>
            <a:pPr indent="0" marL="0">
              <a:buNone/>
            </a:pPr>
            <a:r>
              <a:rPr lang="en-US" sz="1200" b="1" dirty="0">
                <a:solidFill>
                  <a:srgbClr val="2E7D32"/>
                </a:solidFill>
                <a:latin typeface="Aptos Display" pitchFamily="34" charset="0"/>
                <a:ea typeface="Aptos Display" pitchFamily="34" charset="-122"/>
                <a:cs typeface="Aptos Display" pitchFamily="34" charset="-120"/>
              </a:rPr>
              <a:t>Best fit when:</a:t>
            </a:r>
            <a:endParaRPr lang="en-US" sz="1200" dirty="0"/>
          </a:p>
        </p:txBody>
      </p:sp>
      <p:sp>
        <p:nvSpPr>
          <p:cNvPr id="32" name="Shape 30"/>
          <p:cNvSpPr/>
          <p:nvPr/>
        </p:nvSpPr>
        <p:spPr>
          <a:xfrm>
            <a:off x="5696712" y="1371600"/>
            <a:ext cx="45720" cy="246888"/>
          </a:xfrm>
          <a:prstGeom prst="rect">
            <a:avLst/>
          </a:prstGeom>
          <a:solidFill>
            <a:srgbClr val="2E7D32"/>
          </a:solidFill>
          <a:ln w="12700">
            <a:solidFill>
              <a:srgbClr val="2E7D32"/>
            </a:solidFill>
            <a:prstDash val="solid"/>
          </a:ln>
        </p:spPr>
      </p:sp>
      <p:sp>
        <p:nvSpPr>
          <p:cNvPr id="33" name="Text 31"/>
          <p:cNvSpPr/>
          <p:nvPr/>
        </p:nvSpPr>
        <p:spPr>
          <a:xfrm>
            <a:off x="5833872" y="1316736"/>
            <a:ext cx="2962656" cy="384048"/>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Cloud data warehouse is primary target (Snowflake, BigQuery, Databricks)</a:t>
            </a:r>
            <a:endParaRPr lang="en-US" sz="1050" dirty="0"/>
          </a:p>
        </p:txBody>
      </p:sp>
      <p:sp>
        <p:nvSpPr>
          <p:cNvPr id="34" name="Shape 32"/>
          <p:cNvSpPr/>
          <p:nvPr/>
        </p:nvSpPr>
        <p:spPr>
          <a:xfrm>
            <a:off x="5696712" y="1773936"/>
            <a:ext cx="45720" cy="246888"/>
          </a:xfrm>
          <a:prstGeom prst="rect">
            <a:avLst/>
          </a:prstGeom>
          <a:solidFill>
            <a:srgbClr val="2E7D32"/>
          </a:solidFill>
          <a:ln w="12700">
            <a:solidFill>
              <a:srgbClr val="2E7D32"/>
            </a:solidFill>
            <a:prstDash val="solid"/>
          </a:ln>
        </p:spPr>
      </p:sp>
      <p:sp>
        <p:nvSpPr>
          <p:cNvPr id="35" name="Text 33"/>
          <p:cNvSpPr/>
          <p:nvPr/>
        </p:nvSpPr>
        <p:spPr>
          <a:xfrm>
            <a:off x="5833872" y="1719072"/>
            <a:ext cx="2962656" cy="384048"/>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In-flight transformation or enrichment is required</a:t>
            </a:r>
            <a:endParaRPr lang="en-US" sz="1050" dirty="0"/>
          </a:p>
        </p:txBody>
      </p:sp>
      <p:sp>
        <p:nvSpPr>
          <p:cNvPr id="36" name="Shape 34"/>
          <p:cNvSpPr/>
          <p:nvPr/>
        </p:nvSpPr>
        <p:spPr>
          <a:xfrm>
            <a:off x="5696712" y="2176272"/>
            <a:ext cx="45720" cy="246888"/>
          </a:xfrm>
          <a:prstGeom prst="rect">
            <a:avLst/>
          </a:prstGeom>
          <a:solidFill>
            <a:srgbClr val="2E7D32"/>
          </a:solidFill>
          <a:ln w="12700">
            <a:solidFill>
              <a:srgbClr val="2E7D32"/>
            </a:solidFill>
            <a:prstDash val="solid"/>
          </a:ln>
        </p:spPr>
      </p:sp>
      <p:sp>
        <p:nvSpPr>
          <p:cNvPr id="37" name="Text 35"/>
          <p:cNvSpPr/>
          <p:nvPr/>
        </p:nvSpPr>
        <p:spPr>
          <a:xfrm>
            <a:off x="5833872" y="2121408"/>
            <a:ext cx="2962656" cy="384048"/>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Operational integration use cases (cache updates, API triggers)</a:t>
            </a:r>
            <a:endParaRPr lang="en-US" sz="1050" dirty="0"/>
          </a:p>
        </p:txBody>
      </p:sp>
      <p:sp>
        <p:nvSpPr>
          <p:cNvPr id="38" name="Shape 36"/>
          <p:cNvSpPr/>
          <p:nvPr/>
        </p:nvSpPr>
        <p:spPr>
          <a:xfrm>
            <a:off x="5696712" y="2578608"/>
            <a:ext cx="45720" cy="246888"/>
          </a:xfrm>
          <a:prstGeom prst="rect">
            <a:avLst/>
          </a:prstGeom>
          <a:solidFill>
            <a:srgbClr val="2E7D32"/>
          </a:solidFill>
          <a:ln w="12700">
            <a:solidFill>
              <a:srgbClr val="2E7D32"/>
            </a:solidFill>
            <a:prstDash val="solid"/>
          </a:ln>
        </p:spPr>
      </p:sp>
      <p:sp>
        <p:nvSpPr>
          <p:cNvPr id="39" name="Text 37"/>
          <p:cNvSpPr/>
          <p:nvPr/>
        </p:nvSpPr>
        <p:spPr>
          <a:xfrm>
            <a:off x="5833872" y="2523744"/>
            <a:ext cx="2962656" cy="384048"/>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Modern cloud-native deployment preferred</a:t>
            </a:r>
            <a:endParaRPr lang="en-US" sz="1050" dirty="0"/>
          </a:p>
        </p:txBody>
      </p:sp>
      <p:sp>
        <p:nvSpPr>
          <p:cNvPr id="40" name="Shape 38"/>
          <p:cNvSpPr/>
          <p:nvPr/>
        </p:nvSpPr>
        <p:spPr>
          <a:xfrm>
            <a:off x="5650992" y="2999232"/>
            <a:ext cx="3236976" cy="2103120"/>
          </a:xfrm>
          <a:prstGeom prst="rect">
            <a:avLst/>
          </a:prstGeom>
          <a:solidFill>
            <a:srgbClr val="FFF3E0"/>
          </a:solidFill>
          <a:ln w="12700">
            <a:solidFill>
              <a:srgbClr val="E65100"/>
            </a:solidFill>
            <a:prstDash val="solid"/>
          </a:ln>
        </p:spPr>
      </p:sp>
      <p:sp>
        <p:nvSpPr>
          <p:cNvPr id="41" name="Text 39"/>
          <p:cNvSpPr/>
          <p:nvPr/>
        </p:nvSpPr>
        <p:spPr>
          <a:xfrm>
            <a:off x="5742432" y="3035808"/>
            <a:ext cx="3017520" cy="292608"/>
          </a:xfrm>
          <a:prstGeom prst="rect">
            <a:avLst/>
          </a:prstGeom>
          <a:noFill/>
          <a:ln/>
        </p:spPr>
        <p:txBody>
          <a:bodyPr wrap="square" lIns="0" tIns="0" rIns="0" bIns="0" rtlCol="0" anchor="ctr"/>
          <a:lstStyle/>
          <a:p>
            <a:pPr indent="0" marL="0">
              <a:buNone/>
            </a:pPr>
            <a:r>
              <a:rPr lang="en-US" sz="1200" b="1" dirty="0">
                <a:solidFill>
                  <a:srgbClr val="E65100"/>
                </a:solidFill>
                <a:latin typeface="Aptos Display" pitchFamily="34" charset="0"/>
                <a:ea typeface="Aptos Display" pitchFamily="34" charset="-122"/>
                <a:cs typeface="Aptos Display" pitchFamily="34" charset="-120"/>
              </a:rPr>
              <a:t>Consider carefully:</a:t>
            </a:r>
            <a:endParaRPr lang="en-US" sz="1200" dirty="0"/>
          </a:p>
        </p:txBody>
      </p:sp>
      <p:sp>
        <p:nvSpPr>
          <p:cNvPr id="42" name="Shape 40"/>
          <p:cNvSpPr/>
          <p:nvPr/>
        </p:nvSpPr>
        <p:spPr>
          <a:xfrm>
            <a:off x="5696712" y="3419856"/>
            <a:ext cx="45720" cy="246888"/>
          </a:xfrm>
          <a:prstGeom prst="rect">
            <a:avLst/>
          </a:prstGeom>
          <a:solidFill>
            <a:srgbClr val="E65100"/>
          </a:solidFill>
          <a:ln w="12700">
            <a:solidFill>
              <a:srgbClr val="E65100"/>
            </a:solidFill>
            <a:prstDash val="solid"/>
          </a:ln>
        </p:spPr>
      </p:sp>
      <p:sp>
        <p:nvSpPr>
          <p:cNvPr id="43" name="Text 41"/>
          <p:cNvSpPr/>
          <p:nvPr/>
        </p:nvSpPr>
        <p:spPr>
          <a:xfrm>
            <a:off x="5833872" y="3364992"/>
            <a:ext cx="2962656" cy="347472"/>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Streaming SQL platform has a learning curve beyond pure CDC</a:t>
            </a:r>
            <a:endParaRPr lang="en-US" sz="1050" dirty="0"/>
          </a:p>
        </p:txBody>
      </p:sp>
      <p:sp>
        <p:nvSpPr>
          <p:cNvPr id="44" name="Shape 42"/>
          <p:cNvSpPr/>
          <p:nvPr/>
        </p:nvSpPr>
        <p:spPr>
          <a:xfrm>
            <a:off x="5696712" y="3803904"/>
            <a:ext cx="45720" cy="246888"/>
          </a:xfrm>
          <a:prstGeom prst="rect">
            <a:avLst/>
          </a:prstGeom>
          <a:solidFill>
            <a:srgbClr val="E65100"/>
          </a:solidFill>
          <a:ln w="12700">
            <a:solidFill>
              <a:srgbClr val="E65100"/>
            </a:solidFill>
            <a:prstDash val="solid"/>
          </a:ln>
        </p:spPr>
      </p:sp>
      <p:sp>
        <p:nvSpPr>
          <p:cNvPr id="45" name="Text 43"/>
          <p:cNvSpPr/>
          <p:nvPr/>
        </p:nvSpPr>
        <p:spPr>
          <a:xfrm>
            <a:off x="5833872" y="3749040"/>
            <a:ext cx="2962656" cy="347472"/>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Pricing tiers can increase with data volume at scale</a:t>
            </a:r>
            <a:endParaRPr lang="en-US" sz="1050" dirty="0"/>
          </a:p>
        </p:txBody>
      </p:sp>
      <p:sp>
        <p:nvSpPr>
          <p:cNvPr id="46" name="Shape 44"/>
          <p:cNvSpPr/>
          <p:nvPr/>
        </p:nvSpPr>
        <p:spPr>
          <a:xfrm>
            <a:off x="5696712" y="4187952"/>
            <a:ext cx="45720" cy="246888"/>
          </a:xfrm>
          <a:prstGeom prst="rect">
            <a:avLst/>
          </a:prstGeom>
          <a:solidFill>
            <a:srgbClr val="E65100"/>
          </a:solidFill>
          <a:ln w="12700">
            <a:solidFill>
              <a:srgbClr val="E65100"/>
            </a:solidFill>
            <a:prstDash val="solid"/>
          </a:ln>
        </p:spPr>
      </p:sp>
      <p:sp>
        <p:nvSpPr>
          <p:cNvPr id="47" name="Text 45"/>
          <p:cNvSpPr/>
          <p:nvPr/>
        </p:nvSpPr>
        <p:spPr>
          <a:xfrm>
            <a:off x="5833872" y="4133088"/>
            <a:ext cx="2962656" cy="347472"/>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Less established in mainframe / legacy source scenarios</a:t>
            </a:r>
            <a:endParaRPr lang="en-US" sz="1050" dirty="0"/>
          </a:p>
        </p:txBody>
      </p:sp>
      <p:sp>
        <p:nvSpPr>
          <p:cNvPr id="48" name="Shape 46"/>
          <p:cNvSpPr/>
          <p:nvPr/>
        </p:nvSpPr>
        <p:spPr>
          <a:xfrm>
            <a:off x="5696712" y="4572000"/>
            <a:ext cx="45720" cy="246888"/>
          </a:xfrm>
          <a:prstGeom prst="rect">
            <a:avLst/>
          </a:prstGeom>
          <a:solidFill>
            <a:srgbClr val="E65100"/>
          </a:solidFill>
          <a:ln w="12700">
            <a:solidFill>
              <a:srgbClr val="E65100"/>
            </a:solidFill>
            <a:prstDash val="solid"/>
          </a:ln>
        </p:spPr>
      </p:sp>
      <p:sp>
        <p:nvSpPr>
          <p:cNvPr id="49" name="Text 47"/>
          <p:cNvSpPr/>
          <p:nvPr/>
        </p:nvSpPr>
        <p:spPr>
          <a:xfrm>
            <a:off x="5833872" y="4517136"/>
            <a:ext cx="2962656" cy="347472"/>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Transformation power may be underutilised in simple CDC use cases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Qlik Replicate — Data Replication &amp; Ingestion Platform</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Text 3"/>
          <p:cNvSpPr/>
          <p:nvPr/>
        </p:nvSpPr>
        <p:spPr>
          <a:xfrm>
            <a:off x="256032" y="932688"/>
            <a:ext cx="5120640" cy="329184"/>
          </a:xfrm>
          <a:prstGeom prst="rect">
            <a:avLst/>
          </a:prstGeom>
          <a:noFill/>
          <a:ln/>
        </p:spPr>
        <p:txBody>
          <a:bodyPr wrap="square" lIns="0" tIns="0" rIns="0" bIns="0" rtlCol="0" anchor="ctr"/>
          <a:lstStyle/>
          <a:p>
            <a:pPr indent="0" marL="0">
              <a:buNone/>
            </a:pPr>
            <a:r>
              <a:rPr lang="en-US" sz="1100" i="1" dirty="0">
                <a:solidFill>
                  <a:srgbClr val="B6BBC0"/>
                </a:solidFill>
                <a:latin typeface="Aptos" pitchFamily="34" charset="0"/>
                <a:ea typeface="Aptos" pitchFamily="34" charset="-122"/>
                <a:cs typeface="Aptos" pitchFamily="34" charset="-120"/>
              </a:rPr>
              <a:t>Formerly Attunity Replicate, acquired by Qlik 2019. One of the most widely deployed enterprise CDC platforms globally.</a:t>
            </a:r>
            <a:endParaRPr lang="en-US" sz="1100" dirty="0"/>
          </a:p>
        </p:txBody>
      </p:sp>
      <p:sp>
        <p:nvSpPr>
          <p:cNvPr id="6" name="Shape 4"/>
          <p:cNvSpPr/>
          <p:nvPr/>
        </p:nvSpPr>
        <p:spPr>
          <a:xfrm>
            <a:off x="256032" y="1316736"/>
            <a:ext cx="5120640" cy="420624"/>
          </a:xfrm>
          <a:prstGeom prst="rect">
            <a:avLst/>
          </a:prstGeom>
          <a:solidFill>
            <a:srgbClr val="E7ECF0"/>
          </a:solidFill>
          <a:ln w="12700">
            <a:solidFill>
              <a:srgbClr val="B6BBC0"/>
            </a:solidFill>
            <a:prstDash val="solid"/>
          </a:ln>
        </p:spPr>
      </p:sp>
      <p:sp>
        <p:nvSpPr>
          <p:cNvPr id="7" name="Text 5"/>
          <p:cNvSpPr/>
          <p:nvPr/>
        </p:nvSpPr>
        <p:spPr>
          <a:xfrm>
            <a:off x="329184" y="1389888"/>
            <a:ext cx="1234440" cy="274320"/>
          </a:xfrm>
          <a:prstGeom prst="rect">
            <a:avLst/>
          </a:prstGeom>
          <a:noFill/>
          <a:ln/>
        </p:spPr>
        <p:txBody>
          <a:bodyPr wrap="square" lIns="0" tIns="0" rIns="0" bIns="0" rtlCol="0" anchor="ctr"/>
          <a:lstStyle/>
          <a:p>
            <a:pPr indent="0" marL="0">
              <a:buNone/>
            </a:pPr>
            <a:r>
              <a:rPr lang="en-US" sz="1050" b="1" dirty="0">
                <a:solidFill>
                  <a:srgbClr val="00796B"/>
                </a:solidFill>
                <a:latin typeface="Aptos" pitchFamily="34" charset="0"/>
                <a:ea typeface="Aptos" pitchFamily="34" charset="-122"/>
                <a:cs typeface="Aptos" pitchFamily="34" charset="-120"/>
              </a:rPr>
              <a:t>Log Reading</a:t>
            </a:r>
            <a:endParaRPr lang="en-US" sz="1050" dirty="0"/>
          </a:p>
        </p:txBody>
      </p:sp>
      <p:sp>
        <p:nvSpPr>
          <p:cNvPr id="8" name="Text 6"/>
          <p:cNvSpPr/>
          <p:nvPr/>
        </p:nvSpPr>
        <p:spPr>
          <a:xfrm>
            <a:off x="1664208" y="1389888"/>
            <a:ext cx="3621024"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Direct SQL Server transaction log reading — no native CDC or SQL Agent required</a:t>
            </a:r>
            <a:endParaRPr lang="en-US" sz="1050" dirty="0"/>
          </a:p>
        </p:txBody>
      </p:sp>
      <p:sp>
        <p:nvSpPr>
          <p:cNvPr id="9" name="Shape 7"/>
          <p:cNvSpPr/>
          <p:nvPr/>
        </p:nvSpPr>
        <p:spPr>
          <a:xfrm>
            <a:off x="256032" y="1737360"/>
            <a:ext cx="5120640" cy="420624"/>
          </a:xfrm>
          <a:prstGeom prst="rect">
            <a:avLst/>
          </a:prstGeom>
          <a:solidFill>
            <a:srgbClr val="FFFFFF"/>
          </a:solidFill>
          <a:ln w="12700">
            <a:solidFill>
              <a:srgbClr val="B6BBC0"/>
            </a:solidFill>
            <a:prstDash val="solid"/>
          </a:ln>
        </p:spPr>
      </p:sp>
      <p:sp>
        <p:nvSpPr>
          <p:cNvPr id="10" name="Text 8"/>
          <p:cNvSpPr/>
          <p:nvPr/>
        </p:nvSpPr>
        <p:spPr>
          <a:xfrm>
            <a:off x="329184" y="1810512"/>
            <a:ext cx="1234440" cy="274320"/>
          </a:xfrm>
          <a:prstGeom prst="rect">
            <a:avLst/>
          </a:prstGeom>
          <a:noFill/>
          <a:ln/>
        </p:spPr>
        <p:txBody>
          <a:bodyPr wrap="square" lIns="0" tIns="0" rIns="0" bIns="0" rtlCol="0" anchor="ctr"/>
          <a:lstStyle/>
          <a:p>
            <a:pPr indent="0" marL="0">
              <a:buNone/>
            </a:pPr>
            <a:r>
              <a:rPr lang="en-US" sz="1050" b="1" dirty="0">
                <a:solidFill>
                  <a:srgbClr val="00796B"/>
                </a:solidFill>
                <a:latin typeface="Aptos" pitchFamily="34" charset="0"/>
                <a:ea typeface="Aptos" pitchFamily="34" charset="-122"/>
                <a:cs typeface="Aptos" pitchFamily="34" charset="-120"/>
              </a:rPr>
              <a:t>Sources</a:t>
            </a:r>
            <a:endParaRPr lang="en-US" sz="1050" dirty="0"/>
          </a:p>
        </p:txBody>
      </p:sp>
      <p:sp>
        <p:nvSpPr>
          <p:cNvPr id="11" name="Text 9"/>
          <p:cNvSpPr/>
          <p:nvPr/>
        </p:nvSpPr>
        <p:spPr>
          <a:xfrm>
            <a:off x="1664208" y="1810512"/>
            <a:ext cx="3621024"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SQL Server, Oracle, MySQL, PostgreSQL, SAP, Db2, Teradata, MongoDB, files, and more</a:t>
            </a:r>
            <a:endParaRPr lang="en-US" sz="1050" dirty="0"/>
          </a:p>
        </p:txBody>
      </p:sp>
      <p:sp>
        <p:nvSpPr>
          <p:cNvPr id="12" name="Shape 10"/>
          <p:cNvSpPr/>
          <p:nvPr/>
        </p:nvSpPr>
        <p:spPr>
          <a:xfrm>
            <a:off x="256032" y="2157984"/>
            <a:ext cx="5120640" cy="420624"/>
          </a:xfrm>
          <a:prstGeom prst="rect">
            <a:avLst/>
          </a:prstGeom>
          <a:solidFill>
            <a:srgbClr val="E7ECF0"/>
          </a:solidFill>
          <a:ln w="12700">
            <a:solidFill>
              <a:srgbClr val="B6BBC0"/>
            </a:solidFill>
            <a:prstDash val="solid"/>
          </a:ln>
        </p:spPr>
      </p:sp>
      <p:sp>
        <p:nvSpPr>
          <p:cNvPr id="13" name="Text 11"/>
          <p:cNvSpPr/>
          <p:nvPr/>
        </p:nvSpPr>
        <p:spPr>
          <a:xfrm>
            <a:off x="329184" y="2231136"/>
            <a:ext cx="1234440" cy="274320"/>
          </a:xfrm>
          <a:prstGeom prst="rect">
            <a:avLst/>
          </a:prstGeom>
          <a:noFill/>
          <a:ln/>
        </p:spPr>
        <p:txBody>
          <a:bodyPr wrap="square" lIns="0" tIns="0" rIns="0" bIns="0" rtlCol="0" anchor="ctr"/>
          <a:lstStyle/>
          <a:p>
            <a:pPr indent="0" marL="0">
              <a:buNone/>
            </a:pPr>
            <a:r>
              <a:rPr lang="en-US" sz="1050" b="1" dirty="0">
                <a:solidFill>
                  <a:srgbClr val="00796B"/>
                </a:solidFill>
                <a:latin typeface="Aptos" pitchFamily="34" charset="0"/>
                <a:ea typeface="Aptos" pitchFamily="34" charset="-122"/>
                <a:cs typeface="Aptos" pitchFamily="34" charset="-120"/>
              </a:rPr>
              <a:t>Targets</a:t>
            </a:r>
            <a:endParaRPr lang="en-US" sz="1050" dirty="0"/>
          </a:p>
        </p:txBody>
      </p:sp>
      <p:sp>
        <p:nvSpPr>
          <p:cNvPr id="14" name="Text 12"/>
          <p:cNvSpPr/>
          <p:nvPr/>
        </p:nvSpPr>
        <p:spPr>
          <a:xfrm>
            <a:off x="1664208" y="2231136"/>
            <a:ext cx="3621024"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Snowflake, Redshift, BigQuery, Databricks, S3, Azure Data Lake, Kafka, JDBC targets</a:t>
            </a:r>
            <a:endParaRPr lang="en-US" sz="1050" dirty="0"/>
          </a:p>
        </p:txBody>
      </p:sp>
      <p:sp>
        <p:nvSpPr>
          <p:cNvPr id="15" name="Shape 13"/>
          <p:cNvSpPr/>
          <p:nvPr/>
        </p:nvSpPr>
        <p:spPr>
          <a:xfrm>
            <a:off x="256032" y="2578608"/>
            <a:ext cx="5120640" cy="420624"/>
          </a:xfrm>
          <a:prstGeom prst="rect">
            <a:avLst/>
          </a:prstGeom>
          <a:solidFill>
            <a:srgbClr val="FFFFFF"/>
          </a:solidFill>
          <a:ln w="12700">
            <a:solidFill>
              <a:srgbClr val="B6BBC0"/>
            </a:solidFill>
            <a:prstDash val="solid"/>
          </a:ln>
        </p:spPr>
      </p:sp>
      <p:sp>
        <p:nvSpPr>
          <p:cNvPr id="16" name="Text 14"/>
          <p:cNvSpPr/>
          <p:nvPr/>
        </p:nvSpPr>
        <p:spPr>
          <a:xfrm>
            <a:off x="329184" y="2651760"/>
            <a:ext cx="1234440" cy="274320"/>
          </a:xfrm>
          <a:prstGeom prst="rect">
            <a:avLst/>
          </a:prstGeom>
          <a:noFill/>
          <a:ln/>
        </p:spPr>
        <p:txBody>
          <a:bodyPr wrap="square" lIns="0" tIns="0" rIns="0" bIns="0" rtlCol="0" anchor="ctr"/>
          <a:lstStyle/>
          <a:p>
            <a:pPr indent="0" marL="0">
              <a:buNone/>
            </a:pPr>
            <a:r>
              <a:rPr lang="en-US" sz="1050" b="1" dirty="0">
                <a:solidFill>
                  <a:srgbClr val="00796B"/>
                </a:solidFill>
                <a:latin typeface="Aptos" pitchFamily="34" charset="0"/>
                <a:ea typeface="Aptos" pitchFamily="34" charset="-122"/>
                <a:cs typeface="Aptos" pitchFamily="34" charset="-120"/>
              </a:rPr>
              <a:t>Key Differentiator</a:t>
            </a:r>
            <a:endParaRPr lang="en-US" sz="1050" dirty="0"/>
          </a:p>
        </p:txBody>
      </p:sp>
      <p:sp>
        <p:nvSpPr>
          <p:cNvPr id="17" name="Text 15"/>
          <p:cNvSpPr/>
          <p:nvPr/>
        </p:nvSpPr>
        <p:spPr>
          <a:xfrm>
            <a:off x="1664208" y="2651760"/>
            <a:ext cx="3621024"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Extremely broad source/target matrix; modern web-based task management console; strong DW loading optimisation</a:t>
            </a:r>
            <a:endParaRPr lang="en-US" sz="1050" dirty="0"/>
          </a:p>
        </p:txBody>
      </p:sp>
      <p:sp>
        <p:nvSpPr>
          <p:cNvPr id="18" name="Shape 16"/>
          <p:cNvSpPr/>
          <p:nvPr/>
        </p:nvSpPr>
        <p:spPr>
          <a:xfrm>
            <a:off x="256032" y="2999232"/>
            <a:ext cx="5120640" cy="420624"/>
          </a:xfrm>
          <a:prstGeom prst="rect">
            <a:avLst/>
          </a:prstGeom>
          <a:solidFill>
            <a:srgbClr val="E7ECF0"/>
          </a:solidFill>
          <a:ln w="12700">
            <a:solidFill>
              <a:srgbClr val="B6BBC0"/>
            </a:solidFill>
            <a:prstDash val="solid"/>
          </a:ln>
        </p:spPr>
      </p:sp>
      <p:sp>
        <p:nvSpPr>
          <p:cNvPr id="19" name="Text 17"/>
          <p:cNvSpPr/>
          <p:nvPr/>
        </p:nvSpPr>
        <p:spPr>
          <a:xfrm>
            <a:off x="329184" y="3072384"/>
            <a:ext cx="1234440" cy="274320"/>
          </a:xfrm>
          <a:prstGeom prst="rect">
            <a:avLst/>
          </a:prstGeom>
          <a:noFill/>
          <a:ln/>
        </p:spPr>
        <p:txBody>
          <a:bodyPr wrap="square" lIns="0" tIns="0" rIns="0" bIns="0" rtlCol="0" anchor="ctr"/>
          <a:lstStyle/>
          <a:p>
            <a:pPr indent="0" marL="0">
              <a:buNone/>
            </a:pPr>
            <a:r>
              <a:rPr lang="en-US" sz="1050" b="1" dirty="0">
                <a:solidFill>
                  <a:srgbClr val="00796B"/>
                </a:solidFill>
                <a:latin typeface="Aptos" pitchFamily="34" charset="0"/>
                <a:ea typeface="Aptos" pitchFamily="34" charset="-122"/>
                <a:cs typeface="Aptos" pitchFamily="34" charset="-120"/>
              </a:rPr>
              <a:t>Schema Evolution</a:t>
            </a:r>
            <a:endParaRPr lang="en-US" sz="1050" dirty="0"/>
          </a:p>
        </p:txBody>
      </p:sp>
      <p:sp>
        <p:nvSpPr>
          <p:cNvPr id="20" name="Text 18"/>
          <p:cNvSpPr/>
          <p:nvPr/>
        </p:nvSpPr>
        <p:spPr>
          <a:xfrm>
            <a:off x="1664208" y="3072384"/>
            <a:ext cx="3621024"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Managed DDL support — propagates most schema changes; some DDL requires task reconfiguration</a:t>
            </a:r>
            <a:endParaRPr lang="en-US" sz="1050" dirty="0"/>
          </a:p>
        </p:txBody>
      </p:sp>
      <p:sp>
        <p:nvSpPr>
          <p:cNvPr id="21" name="Shape 19"/>
          <p:cNvSpPr/>
          <p:nvPr/>
        </p:nvSpPr>
        <p:spPr>
          <a:xfrm>
            <a:off x="256032" y="3419856"/>
            <a:ext cx="5120640" cy="420624"/>
          </a:xfrm>
          <a:prstGeom prst="rect">
            <a:avLst/>
          </a:prstGeom>
          <a:solidFill>
            <a:srgbClr val="FFFFFF"/>
          </a:solidFill>
          <a:ln w="12700">
            <a:solidFill>
              <a:srgbClr val="B6BBC0"/>
            </a:solidFill>
            <a:prstDash val="solid"/>
          </a:ln>
        </p:spPr>
      </p:sp>
      <p:sp>
        <p:nvSpPr>
          <p:cNvPr id="22" name="Text 20"/>
          <p:cNvSpPr/>
          <p:nvPr/>
        </p:nvSpPr>
        <p:spPr>
          <a:xfrm>
            <a:off x="329184" y="3493008"/>
            <a:ext cx="1234440" cy="274320"/>
          </a:xfrm>
          <a:prstGeom prst="rect">
            <a:avLst/>
          </a:prstGeom>
          <a:noFill/>
          <a:ln/>
        </p:spPr>
        <p:txBody>
          <a:bodyPr wrap="square" lIns="0" tIns="0" rIns="0" bIns="0" rtlCol="0" anchor="ctr"/>
          <a:lstStyle/>
          <a:p>
            <a:pPr indent="0" marL="0">
              <a:buNone/>
            </a:pPr>
            <a:r>
              <a:rPr lang="en-US" sz="1050" b="1" dirty="0">
                <a:solidFill>
                  <a:srgbClr val="00796B"/>
                </a:solidFill>
                <a:latin typeface="Aptos" pitchFamily="34" charset="0"/>
                <a:ea typeface="Aptos" pitchFamily="34" charset="-122"/>
                <a:cs typeface="Aptos" pitchFamily="34" charset="-120"/>
              </a:rPr>
              <a:t>AG Support</a:t>
            </a:r>
            <a:endParaRPr lang="en-US" sz="1050" dirty="0"/>
          </a:p>
        </p:txBody>
      </p:sp>
      <p:sp>
        <p:nvSpPr>
          <p:cNvPr id="23" name="Text 21"/>
          <p:cNvSpPr/>
          <p:nvPr/>
        </p:nvSpPr>
        <p:spPr>
          <a:xfrm>
            <a:off x="1664208" y="3493008"/>
            <a:ext cx="3621024"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Always On AG topology awareness; automatic failover handling</a:t>
            </a:r>
            <a:endParaRPr lang="en-US" sz="1050" dirty="0"/>
          </a:p>
        </p:txBody>
      </p:sp>
      <p:sp>
        <p:nvSpPr>
          <p:cNvPr id="24" name="Shape 22"/>
          <p:cNvSpPr/>
          <p:nvPr/>
        </p:nvSpPr>
        <p:spPr>
          <a:xfrm>
            <a:off x="256032" y="3840480"/>
            <a:ext cx="5120640" cy="420624"/>
          </a:xfrm>
          <a:prstGeom prst="rect">
            <a:avLst/>
          </a:prstGeom>
          <a:solidFill>
            <a:srgbClr val="E7ECF0"/>
          </a:solidFill>
          <a:ln w="12700">
            <a:solidFill>
              <a:srgbClr val="B6BBC0"/>
            </a:solidFill>
            <a:prstDash val="solid"/>
          </a:ln>
        </p:spPr>
      </p:sp>
      <p:sp>
        <p:nvSpPr>
          <p:cNvPr id="25" name="Text 23"/>
          <p:cNvSpPr/>
          <p:nvPr/>
        </p:nvSpPr>
        <p:spPr>
          <a:xfrm>
            <a:off x="329184" y="3913632"/>
            <a:ext cx="1234440" cy="274320"/>
          </a:xfrm>
          <a:prstGeom prst="rect">
            <a:avLst/>
          </a:prstGeom>
          <a:noFill/>
          <a:ln/>
        </p:spPr>
        <p:txBody>
          <a:bodyPr wrap="square" lIns="0" tIns="0" rIns="0" bIns="0" rtlCol="0" anchor="ctr"/>
          <a:lstStyle/>
          <a:p>
            <a:pPr indent="0" marL="0">
              <a:buNone/>
            </a:pPr>
            <a:r>
              <a:rPr lang="en-US" sz="1050" b="1" dirty="0">
                <a:solidFill>
                  <a:srgbClr val="00796B"/>
                </a:solidFill>
                <a:latin typeface="Aptos" pitchFamily="34" charset="0"/>
                <a:ea typeface="Aptos" pitchFamily="34" charset="-122"/>
                <a:cs typeface="Aptos" pitchFamily="34" charset="-120"/>
              </a:rPr>
              <a:t>Latency</a:t>
            </a:r>
            <a:endParaRPr lang="en-US" sz="1050" dirty="0"/>
          </a:p>
        </p:txBody>
      </p:sp>
      <p:sp>
        <p:nvSpPr>
          <p:cNvPr id="26" name="Text 24"/>
          <p:cNvSpPr/>
          <p:nvPr/>
        </p:nvSpPr>
        <p:spPr>
          <a:xfrm>
            <a:off x="1664208" y="3913632"/>
            <a:ext cx="3621024"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Low-latency; typically sub-second to low single-digit seconds in standard configuration</a:t>
            </a:r>
            <a:endParaRPr lang="en-US" sz="1050" dirty="0"/>
          </a:p>
        </p:txBody>
      </p:sp>
      <p:sp>
        <p:nvSpPr>
          <p:cNvPr id="27" name="Shape 25"/>
          <p:cNvSpPr/>
          <p:nvPr/>
        </p:nvSpPr>
        <p:spPr>
          <a:xfrm>
            <a:off x="256032" y="4261104"/>
            <a:ext cx="5120640" cy="420624"/>
          </a:xfrm>
          <a:prstGeom prst="rect">
            <a:avLst/>
          </a:prstGeom>
          <a:solidFill>
            <a:srgbClr val="FFFFFF"/>
          </a:solidFill>
          <a:ln w="12700">
            <a:solidFill>
              <a:srgbClr val="B6BBC0"/>
            </a:solidFill>
            <a:prstDash val="solid"/>
          </a:ln>
        </p:spPr>
      </p:sp>
      <p:sp>
        <p:nvSpPr>
          <p:cNvPr id="28" name="Text 26"/>
          <p:cNvSpPr/>
          <p:nvPr/>
        </p:nvSpPr>
        <p:spPr>
          <a:xfrm>
            <a:off x="329184" y="4334256"/>
            <a:ext cx="1234440" cy="274320"/>
          </a:xfrm>
          <a:prstGeom prst="rect">
            <a:avLst/>
          </a:prstGeom>
          <a:noFill/>
          <a:ln/>
        </p:spPr>
        <p:txBody>
          <a:bodyPr wrap="square" lIns="0" tIns="0" rIns="0" bIns="0" rtlCol="0" anchor="ctr"/>
          <a:lstStyle/>
          <a:p>
            <a:pPr indent="0" marL="0">
              <a:buNone/>
            </a:pPr>
            <a:r>
              <a:rPr lang="en-US" sz="1050" b="1" dirty="0">
                <a:solidFill>
                  <a:srgbClr val="00796B"/>
                </a:solidFill>
                <a:latin typeface="Aptos" pitchFamily="34" charset="0"/>
                <a:ea typeface="Aptos" pitchFamily="34" charset="-122"/>
                <a:cs typeface="Aptos" pitchFamily="34" charset="-120"/>
              </a:rPr>
              <a:t>Deployment</a:t>
            </a:r>
            <a:endParaRPr lang="en-US" sz="1050" dirty="0"/>
          </a:p>
        </p:txBody>
      </p:sp>
      <p:sp>
        <p:nvSpPr>
          <p:cNvPr id="29" name="Text 27"/>
          <p:cNvSpPr/>
          <p:nvPr/>
        </p:nvSpPr>
        <p:spPr>
          <a:xfrm>
            <a:off x="1664208" y="4334256"/>
            <a:ext cx="3621024" cy="274320"/>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On-premises server or cloud VM; cloud-hosted options available; no SaaS-native tier</a:t>
            </a:r>
            <a:endParaRPr lang="en-US" sz="1050" dirty="0"/>
          </a:p>
        </p:txBody>
      </p:sp>
      <p:sp>
        <p:nvSpPr>
          <p:cNvPr id="30" name="Shape 28"/>
          <p:cNvSpPr/>
          <p:nvPr/>
        </p:nvSpPr>
        <p:spPr>
          <a:xfrm>
            <a:off x="5650992" y="932688"/>
            <a:ext cx="3236976" cy="1828800"/>
          </a:xfrm>
          <a:prstGeom prst="rect">
            <a:avLst/>
          </a:prstGeom>
          <a:solidFill>
            <a:srgbClr val="E8F5E9"/>
          </a:solidFill>
          <a:ln w="12700">
            <a:solidFill>
              <a:srgbClr val="2E7D32"/>
            </a:solidFill>
            <a:prstDash val="solid"/>
          </a:ln>
        </p:spPr>
      </p:sp>
      <p:sp>
        <p:nvSpPr>
          <p:cNvPr id="31" name="Text 29"/>
          <p:cNvSpPr/>
          <p:nvPr/>
        </p:nvSpPr>
        <p:spPr>
          <a:xfrm>
            <a:off x="5742432" y="969264"/>
            <a:ext cx="3017520" cy="292608"/>
          </a:xfrm>
          <a:prstGeom prst="rect">
            <a:avLst/>
          </a:prstGeom>
          <a:noFill/>
          <a:ln/>
        </p:spPr>
        <p:txBody>
          <a:bodyPr wrap="square" lIns="0" tIns="0" rIns="0" bIns="0" rtlCol="0" anchor="ctr"/>
          <a:lstStyle/>
          <a:p>
            <a:pPr indent="0" marL="0">
              <a:buNone/>
            </a:pPr>
            <a:r>
              <a:rPr lang="en-US" sz="1200" b="1" dirty="0">
                <a:solidFill>
                  <a:srgbClr val="2E7D32"/>
                </a:solidFill>
                <a:latin typeface="Aptos Display" pitchFamily="34" charset="0"/>
                <a:ea typeface="Aptos Display" pitchFamily="34" charset="-122"/>
                <a:cs typeface="Aptos Display" pitchFamily="34" charset="-120"/>
              </a:rPr>
              <a:t>Best fit when:</a:t>
            </a:r>
            <a:endParaRPr lang="en-US" sz="1200" dirty="0"/>
          </a:p>
        </p:txBody>
      </p:sp>
      <p:sp>
        <p:nvSpPr>
          <p:cNvPr id="32" name="Shape 30"/>
          <p:cNvSpPr/>
          <p:nvPr/>
        </p:nvSpPr>
        <p:spPr>
          <a:xfrm>
            <a:off x="5696712" y="1371600"/>
            <a:ext cx="45720" cy="246888"/>
          </a:xfrm>
          <a:prstGeom prst="rect">
            <a:avLst/>
          </a:prstGeom>
          <a:solidFill>
            <a:srgbClr val="2E7D32"/>
          </a:solidFill>
          <a:ln w="12700">
            <a:solidFill>
              <a:srgbClr val="2E7D32"/>
            </a:solidFill>
            <a:prstDash val="solid"/>
          </a:ln>
        </p:spPr>
      </p:sp>
      <p:sp>
        <p:nvSpPr>
          <p:cNvPr id="33" name="Text 31"/>
          <p:cNvSpPr/>
          <p:nvPr/>
        </p:nvSpPr>
        <p:spPr>
          <a:xfrm>
            <a:off x="5833872" y="1316736"/>
            <a:ext cx="2962656" cy="384048"/>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Broadest possible source/target matrix is the priority</a:t>
            </a:r>
            <a:endParaRPr lang="en-US" sz="1050" dirty="0"/>
          </a:p>
        </p:txBody>
      </p:sp>
      <p:sp>
        <p:nvSpPr>
          <p:cNvPr id="34" name="Shape 32"/>
          <p:cNvSpPr/>
          <p:nvPr/>
        </p:nvSpPr>
        <p:spPr>
          <a:xfrm>
            <a:off x="5696712" y="1773936"/>
            <a:ext cx="45720" cy="246888"/>
          </a:xfrm>
          <a:prstGeom prst="rect">
            <a:avLst/>
          </a:prstGeom>
          <a:solidFill>
            <a:srgbClr val="2E7D32"/>
          </a:solidFill>
          <a:ln w="12700">
            <a:solidFill>
              <a:srgbClr val="2E7D32"/>
            </a:solidFill>
            <a:prstDash val="solid"/>
          </a:ln>
        </p:spPr>
      </p:sp>
      <p:sp>
        <p:nvSpPr>
          <p:cNvPr id="35" name="Text 33"/>
          <p:cNvSpPr/>
          <p:nvPr/>
        </p:nvSpPr>
        <p:spPr>
          <a:xfrm>
            <a:off x="5833872" y="1719072"/>
            <a:ext cx="2962656" cy="384048"/>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Primary use case is data warehouse or data lake loading</a:t>
            </a:r>
            <a:endParaRPr lang="en-US" sz="1050" dirty="0"/>
          </a:p>
        </p:txBody>
      </p:sp>
      <p:sp>
        <p:nvSpPr>
          <p:cNvPr id="36" name="Shape 34"/>
          <p:cNvSpPr/>
          <p:nvPr/>
        </p:nvSpPr>
        <p:spPr>
          <a:xfrm>
            <a:off x="5696712" y="2176272"/>
            <a:ext cx="45720" cy="246888"/>
          </a:xfrm>
          <a:prstGeom prst="rect">
            <a:avLst/>
          </a:prstGeom>
          <a:solidFill>
            <a:srgbClr val="2E7D32"/>
          </a:solidFill>
          <a:ln w="12700">
            <a:solidFill>
              <a:srgbClr val="2E7D32"/>
            </a:solidFill>
            <a:prstDash val="solid"/>
          </a:ln>
        </p:spPr>
      </p:sp>
      <p:sp>
        <p:nvSpPr>
          <p:cNvPr id="37" name="Text 35"/>
          <p:cNvSpPr/>
          <p:nvPr/>
        </p:nvSpPr>
        <p:spPr>
          <a:xfrm>
            <a:off x="5833872" y="2121408"/>
            <a:ext cx="2962656" cy="384048"/>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Modern, intuitive task-based management console is valued</a:t>
            </a:r>
            <a:endParaRPr lang="en-US" sz="1050" dirty="0"/>
          </a:p>
        </p:txBody>
      </p:sp>
      <p:sp>
        <p:nvSpPr>
          <p:cNvPr id="38" name="Shape 36"/>
          <p:cNvSpPr/>
          <p:nvPr/>
        </p:nvSpPr>
        <p:spPr>
          <a:xfrm>
            <a:off x="5696712" y="2578608"/>
            <a:ext cx="45720" cy="246888"/>
          </a:xfrm>
          <a:prstGeom prst="rect">
            <a:avLst/>
          </a:prstGeom>
          <a:solidFill>
            <a:srgbClr val="2E7D32"/>
          </a:solidFill>
          <a:ln w="12700">
            <a:solidFill>
              <a:srgbClr val="2E7D32"/>
            </a:solidFill>
            <a:prstDash val="solid"/>
          </a:ln>
        </p:spPr>
      </p:sp>
      <p:sp>
        <p:nvSpPr>
          <p:cNvPr id="39" name="Text 37"/>
          <p:cNvSpPr/>
          <p:nvPr/>
        </p:nvSpPr>
        <p:spPr>
          <a:xfrm>
            <a:off x="5833872" y="2523744"/>
            <a:ext cx="2962656" cy="384048"/>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Not IBM-centric; streaming SQL capability not needed</a:t>
            </a:r>
            <a:endParaRPr lang="en-US" sz="1050" dirty="0"/>
          </a:p>
        </p:txBody>
      </p:sp>
      <p:sp>
        <p:nvSpPr>
          <p:cNvPr id="40" name="Shape 38"/>
          <p:cNvSpPr/>
          <p:nvPr/>
        </p:nvSpPr>
        <p:spPr>
          <a:xfrm>
            <a:off x="5650992" y="2898648"/>
            <a:ext cx="3236976" cy="1920240"/>
          </a:xfrm>
          <a:prstGeom prst="rect">
            <a:avLst/>
          </a:prstGeom>
          <a:solidFill>
            <a:srgbClr val="FFF3E0"/>
          </a:solidFill>
          <a:ln w="12700">
            <a:solidFill>
              <a:srgbClr val="E65100"/>
            </a:solidFill>
            <a:prstDash val="solid"/>
          </a:ln>
        </p:spPr>
      </p:sp>
      <p:sp>
        <p:nvSpPr>
          <p:cNvPr id="41" name="Text 39"/>
          <p:cNvSpPr/>
          <p:nvPr/>
        </p:nvSpPr>
        <p:spPr>
          <a:xfrm>
            <a:off x="5742432" y="2935224"/>
            <a:ext cx="3017520" cy="292608"/>
          </a:xfrm>
          <a:prstGeom prst="rect">
            <a:avLst/>
          </a:prstGeom>
          <a:noFill/>
          <a:ln/>
        </p:spPr>
        <p:txBody>
          <a:bodyPr wrap="square" lIns="0" tIns="0" rIns="0" bIns="0" rtlCol="0" anchor="ctr"/>
          <a:lstStyle/>
          <a:p>
            <a:pPr indent="0" marL="0">
              <a:buNone/>
            </a:pPr>
            <a:r>
              <a:rPr lang="en-US" sz="1200" b="1" dirty="0">
                <a:solidFill>
                  <a:srgbClr val="E65100"/>
                </a:solidFill>
                <a:latin typeface="Aptos Display" pitchFamily="34" charset="0"/>
                <a:ea typeface="Aptos Display" pitchFamily="34" charset="-122"/>
                <a:cs typeface="Aptos Display" pitchFamily="34" charset="-120"/>
              </a:rPr>
              <a:t>Consider carefully:</a:t>
            </a:r>
            <a:endParaRPr lang="en-US" sz="1200" dirty="0"/>
          </a:p>
        </p:txBody>
      </p:sp>
      <p:sp>
        <p:nvSpPr>
          <p:cNvPr id="42" name="Shape 40"/>
          <p:cNvSpPr/>
          <p:nvPr/>
        </p:nvSpPr>
        <p:spPr>
          <a:xfrm>
            <a:off x="5696712" y="3328416"/>
            <a:ext cx="45720" cy="246888"/>
          </a:xfrm>
          <a:prstGeom prst="rect">
            <a:avLst/>
          </a:prstGeom>
          <a:solidFill>
            <a:srgbClr val="E65100"/>
          </a:solidFill>
          <a:ln w="12700">
            <a:solidFill>
              <a:srgbClr val="E65100"/>
            </a:solidFill>
            <a:prstDash val="solid"/>
          </a:ln>
        </p:spPr>
      </p:sp>
      <p:sp>
        <p:nvSpPr>
          <p:cNvPr id="43" name="Text 41"/>
          <p:cNvSpPr/>
          <p:nvPr/>
        </p:nvSpPr>
        <p:spPr>
          <a:xfrm>
            <a:off x="5833872" y="3273552"/>
            <a:ext cx="2962656" cy="384048"/>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Schema evolution less automated than IIDR or Striim — some DDL requires manual attention</a:t>
            </a:r>
            <a:endParaRPr lang="en-US" sz="1050" dirty="0"/>
          </a:p>
        </p:txBody>
      </p:sp>
      <p:sp>
        <p:nvSpPr>
          <p:cNvPr id="44" name="Shape 42"/>
          <p:cNvSpPr/>
          <p:nvPr/>
        </p:nvSpPr>
        <p:spPr>
          <a:xfrm>
            <a:off x="5696712" y="3730752"/>
            <a:ext cx="45720" cy="246888"/>
          </a:xfrm>
          <a:prstGeom prst="rect">
            <a:avLst/>
          </a:prstGeom>
          <a:solidFill>
            <a:srgbClr val="E65100"/>
          </a:solidFill>
          <a:ln w="12700">
            <a:solidFill>
              <a:srgbClr val="E65100"/>
            </a:solidFill>
            <a:prstDash val="solid"/>
          </a:ln>
        </p:spPr>
      </p:sp>
      <p:sp>
        <p:nvSpPr>
          <p:cNvPr id="45" name="Text 43"/>
          <p:cNvSpPr/>
          <p:nvPr/>
        </p:nvSpPr>
        <p:spPr>
          <a:xfrm>
            <a:off x="5833872" y="3675888"/>
            <a:ext cx="2962656" cy="384048"/>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In-flight transformation capability limited vs. Striim</a:t>
            </a:r>
            <a:endParaRPr lang="en-US" sz="1050" dirty="0"/>
          </a:p>
        </p:txBody>
      </p:sp>
      <p:sp>
        <p:nvSpPr>
          <p:cNvPr id="46" name="Shape 44"/>
          <p:cNvSpPr/>
          <p:nvPr/>
        </p:nvSpPr>
        <p:spPr>
          <a:xfrm>
            <a:off x="5696712" y="4133088"/>
            <a:ext cx="45720" cy="246888"/>
          </a:xfrm>
          <a:prstGeom prst="rect">
            <a:avLst/>
          </a:prstGeom>
          <a:solidFill>
            <a:srgbClr val="E65100"/>
          </a:solidFill>
          <a:ln w="12700">
            <a:solidFill>
              <a:srgbClr val="E65100"/>
            </a:solidFill>
            <a:prstDash val="solid"/>
          </a:ln>
        </p:spPr>
      </p:sp>
      <p:sp>
        <p:nvSpPr>
          <p:cNvPr id="47" name="Text 45"/>
          <p:cNvSpPr/>
          <p:nvPr/>
        </p:nvSpPr>
        <p:spPr>
          <a:xfrm>
            <a:off x="5833872" y="4078224"/>
            <a:ext cx="2962656" cy="384048"/>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Mainframe source support weaker than IBM IIDR</a:t>
            </a:r>
            <a:endParaRPr lang="en-US" sz="1050" dirty="0"/>
          </a:p>
        </p:txBody>
      </p:sp>
      <p:sp>
        <p:nvSpPr>
          <p:cNvPr id="48" name="Shape 46"/>
          <p:cNvSpPr/>
          <p:nvPr/>
        </p:nvSpPr>
        <p:spPr>
          <a:xfrm>
            <a:off x="5696712" y="4535424"/>
            <a:ext cx="45720" cy="246888"/>
          </a:xfrm>
          <a:prstGeom prst="rect">
            <a:avLst/>
          </a:prstGeom>
          <a:solidFill>
            <a:srgbClr val="E65100"/>
          </a:solidFill>
          <a:ln w="12700">
            <a:solidFill>
              <a:srgbClr val="E65100"/>
            </a:solidFill>
            <a:prstDash val="solid"/>
          </a:ln>
        </p:spPr>
      </p:sp>
      <p:sp>
        <p:nvSpPr>
          <p:cNvPr id="49" name="Text 47"/>
          <p:cNvSpPr/>
          <p:nvPr/>
        </p:nvSpPr>
        <p:spPr>
          <a:xfrm>
            <a:off x="5833872" y="4480560"/>
            <a:ext cx="2962656" cy="384048"/>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No true SaaS tier; infrastructure required</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Vendor Comparison</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Shape 3"/>
          <p:cNvSpPr/>
          <p:nvPr/>
        </p:nvSpPr>
        <p:spPr>
          <a:xfrm>
            <a:off x="228600" y="841248"/>
            <a:ext cx="1828800" cy="402336"/>
          </a:xfrm>
          <a:prstGeom prst="rect">
            <a:avLst/>
          </a:prstGeom>
          <a:solidFill>
            <a:srgbClr val="37474F"/>
          </a:solidFill>
          <a:ln w="12700">
            <a:solidFill>
              <a:srgbClr val="37474F"/>
            </a:solidFill>
            <a:prstDash val="solid"/>
          </a:ln>
        </p:spPr>
      </p:sp>
      <p:sp>
        <p:nvSpPr>
          <p:cNvPr id="6" name="Text 4"/>
          <p:cNvSpPr/>
          <p:nvPr/>
        </p:nvSpPr>
        <p:spPr>
          <a:xfrm>
            <a:off x="256032" y="841248"/>
            <a:ext cx="1773936"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Aptos Display" pitchFamily="34" charset="0"/>
                <a:ea typeface="Aptos Display" pitchFamily="34" charset="-122"/>
                <a:cs typeface="Aptos Display" pitchFamily="34" charset="-120"/>
              </a:rPr>
              <a:t>Capability</a:t>
            </a:r>
            <a:endParaRPr lang="en-US" sz="950" dirty="0"/>
          </a:p>
        </p:txBody>
      </p:sp>
      <p:sp>
        <p:nvSpPr>
          <p:cNvPr id="7" name="Shape 5"/>
          <p:cNvSpPr/>
          <p:nvPr/>
        </p:nvSpPr>
        <p:spPr>
          <a:xfrm>
            <a:off x="2057400" y="841248"/>
            <a:ext cx="1737360" cy="402336"/>
          </a:xfrm>
          <a:prstGeom prst="rect">
            <a:avLst/>
          </a:prstGeom>
          <a:solidFill>
            <a:srgbClr val="6A1B9A"/>
          </a:solidFill>
          <a:ln w="12700">
            <a:solidFill>
              <a:srgbClr val="6A1B9A"/>
            </a:solidFill>
            <a:prstDash val="solid"/>
          </a:ln>
        </p:spPr>
      </p:sp>
      <p:sp>
        <p:nvSpPr>
          <p:cNvPr id="8" name="Text 6"/>
          <p:cNvSpPr/>
          <p:nvPr/>
        </p:nvSpPr>
        <p:spPr>
          <a:xfrm>
            <a:off x="2084832" y="841248"/>
            <a:ext cx="1682496"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Aptos Display" pitchFamily="34" charset="0"/>
                <a:ea typeface="Aptos Display" pitchFamily="34" charset="-122"/>
                <a:cs typeface="Aptos Display" pitchFamily="34" charset="-120"/>
              </a:rPr>
              <a:t>Native CDC</a:t>
            </a:r>
            <a:endParaRPr lang="en-US" sz="950" dirty="0"/>
          </a:p>
          <a:p>
            <a:pPr algn="ctr" indent="0" marL="0">
              <a:buNone/>
            </a:pPr>
            <a:r>
              <a:rPr lang="en-US" sz="950" b="1" dirty="0">
                <a:solidFill>
                  <a:srgbClr val="FFFFFF"/>
                </a:solidFill>
                <a:latin typeface="Aptos Display" pitchFamily="34" charset="0"/>
                <a:ea typeface="Aptos Display" pitchFamily="34" charset="-122"/>
                <a:cs typeface="Aptos Display" pitchFamily="34" charset="-120"/>
              </a:rPr>
              <a:t>+ Debezium</a:t>
            </a:r>
            <a:endParaRPr lang="en-US" sz="950" dirty="0"/>
          </a:p>
        </p:txBody>
      </p:sp>
      <p:sp>
        <p:nvSpPr>
          <p:cNvPr id="9" name="Shape 7"/>
          <p:cNvSpPr/>
          <p:nvPr/>
        </p:nvSpPr>
        <p:spPr>
          <a:xfrm>
            <a:off x="3794760" y="841248"/>
            <a:ext cx="1600200" cy="402336"/>
          </a:xfrm>
          <a:prstGeom prst="rect">
            <a:avLst/>
          </a:prstGeom>
          <a:solidFill>
            <a:srgbClr val="1565C0"/>
          </a:solidFill>
          <a:ln w="12700">
            <a:solidFill>
              <a:srgbClr val="1565C0"/>
            </a:solidFill>
            <a:prstDash val="solid"/>
          </a:ln>
        </p:spPr>
      </p:sp>
      <p:sp>
        <p:nvSpPr>
          <p:cNvPr id="10" name="Text 8"/>
          <p:cNvSpPr/>
          <p:nvPr/>
        </p:nvSpPr>
        <p:spPr>
          <a:xfrm>
            <a:off x="3822192" y="841248"/>
            <a:ext cx="1545336"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Aptos Display" pitchFamily="34" charset="0"/>
                <a:ea typeface="Aptos Display" pitchFamily="34" charset="-122"/>
                <a:cs typeface="Aptos Display" pitchFamily="34" charset="-120"/>
              </a:rPr>
              <a:t>IBM IIDR</a:t>
            </a:r>
            <a:endParaRPr lang="en-US" sz="950" dirty="0"/>
          </a:p>
        </p:txBody>
      </p:sp>
      <p:sp>
        <p:nvSpPr>
          <p:cNvPr id="11" name="Shape 9"/>
          <p:cNvSpPr/>
          <p:nvPr/>
        </p:nvSpPr>
        <p:spPr>
          <a:xfrm>
            <a:off x="5394960" y="841248"/>
            <a:ext cx="1600200" cy="402336"/>
          </a:xfrm>
          <a:prstGeom prst="rect">
            <a:avLst/>
          </a:prstGeom>
          <a:solidFill>
            <a:srgbClr val="2E7D32"/>
          </a:solidFill>
          <a:ln w="12700">
            <a:solidFill>
              <a:srgbClr val="2E7D32"/>
            </a:solidFill>
            <a:prstDash val="solid"/>
          </a:ln>
        </p:spPr>
      </p:sp>
      <p:sp>
        <p:nvSpPr>
          <p:cNvPr id="12" name="Text 10"/>
          <p:cNvSpPr/>
          <p:nvPr/>
        </p:nvSpPr>
        <p:spPr>
          <a:xfrm>
            <a:off x="5422392" y="841248"/>
            <a:ext cx="1545336"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Aptos Display" pitchFamily="34" charset="0"/>
                <a:ea typeface="Aptos Display" pitchFamily="34" charset="-122"/>
                <a:cs typeface="Aptos Display" pitchFamily="34" charset="-120"/>
              </a:rPr>
              <a:t>Striim</a:t>
            </a:r>
            <a:endParaRPr lang="en-US" sz="950" dirty="0"/>
          </a:p>
        </p:txBody>
      </p:sp>
      <p:sp>
        <p:nvSpPr>
          <p:cNvPr id="13" name="Shape 11"/>
          <p:cNvSpPr/>
          <p:nvPr/>
        </p:nvSpPr>
        <p:spPr>
          <a:xfrm>
            <a:off x="6995160" y="841248"/>
            <a:ext cx="1691640" cy="402336"/>
          </a:xfrm>
          <a:prstGeom prst="rect">
            <a:avLst/>
          </a:prstGeom>
          <a:solidFill>
            <a:srgbClr val="00796B"/>
          </a:solidFill>
          <a:ln w="12700">
            <a:solidFill>
              <a:srgbClr val="00796B"/>
            </a:solidFill>
            <a:prstDash val="solid"/>
          </a:ln>
        </p:spPr>
      </p:sp>
      <p:sp>
        <p:nvSpPr>
          <p:cNvPr id="14" name="Text 12"/>
          <p:cNvSpPr/>
          <p:nvPr/>
        </p:nvSpPr>
        <p:spPr>
          <a:xfrm>
            <a:off x="7022592" y="841248"/>
            <a:ext cx="1636776"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Aptos Display" pitchFamily="34" charset="0"/>
                <a:ea typeface="Aptos Display" pitchFamily="34" charset="-122"/>
                <a:cs typeface="Aptos Display" pitchFamily="34" charset="-120"/>
              </a:rPr>
              <a:t>Qlik Replicate</a:t>
            </a:r>
            <a:endParaRPr lang="en-US" sz="950" dirty="0"/>
          </a:p>
        </p:txBody>
      </p:sp>
      <p:sp>
        <p:nvSpPr>
          <p:cNvPr id="15" name="Shape 13"/>
          <p:cNvSpPr/>
          <p:nvPr/>
        </p:nvSpPr>
        <p:spPr>
          <a:xfrm>
            <a:off x="228600" y="1243584"/>
            <a:ext cx="1828800" cy="292608"/>
          </a:xfrm>
          <a:prstGeom prst="rect">
            <a:avLst/>
          </a:prstGeom>
          <a:solidFill>
            <a:srgbClr val="E7ECF0"/>
          </a:solidFill>
          <a:ln w="6350">
            <a:solidFill>
              <a:srgbClr val="B6BBC0"/>
            </a:solidFill>
            <a:prstDash val="solid"/>
          </a:ln>
        </p:spPr>
      </p:sp>
      <p:sp>
        <p:nvSpPr>
          <p:cNvPr id="16" name="Text 14"/>
          <p:cNvSpPr/>
          <p:nvPr/>
        </p:nvSpPr>
        <p:spPr>
          <a:xfrm>
            <a:off x="265176" y="1271016"/>
            <a:ext cx="1755648" cy="237744"/>
          </a:xfrm>
          <a:prstGeom prst="rect">
            <a:avLst/>
          </a:prstGeom>
          <a:noFill/>
          <a:ln/>
        </p:spPr>
        <p:txBody>
          <a:bodyPr wrap="square" lIns="0" tIns="0" rIns="0" bIns="0" rtlCol="0" anchor="ctr"/>
          <a:lstStyle/>
          <a:p>
            <a:pPr algn="l" indent="0" marL="0">
              <a:buNone/>
            </a:pPr>
            <a:r>
              <a:rPr lang="en-US" sz="950" b="1" dirty="0">
                <a:solidFill>
                  <a:srgbClr val="575A5D"/>
                </a:solidFill>
                <a:latin typeface="Aptos" pitchFamily="34" charset="0"/>
                <a:ea typeface="Aptos" pitchFamily="34" charset="-122"/>
                <a:cs typeface="Aptos" pitchFamily="34" charset="-120"/>
              </a:rPr>
              <a:t>Direct log reading (no SQL Agent)</a:t>
            </a:r>
            <a:endParaRPr lang="en-US" sz="950" dirty="0"/>
          </a:p>
        </p:txBody>
      </p:sp>
      <p:sp>
        <p:nvSpPr>
          <p:cNvPr id="17" name="Shape 15"/>
          <p:cNvSpPr/>
          <p:nvPr/>
        </p:nvSpPr>
        <p:spPr>
          <a:xfrm>
            <a:off x="2057400" y="1243584"/>
            <a:ext cx="1737360" cy="292608"/>
          </a:xfrm>
          <a:prstGeom prst="rect">
            <a:avLst/>
          </a:prstGeom>
          <a:solidFill>
            <a:srgbClr val="E7ECF0"/>
          </a:solidFill>
          <a:ln w="6350">
            <a:solidFill>
              <a:srgbClr val="B6BBC0"/>
            </a:solidFill>
            <a:prstDash val="solid"/>
          </a:ln>
        </p:spPr>
      </p:sp>
      <p:sp>
        <p:nvSpPr>
          <p:cNvPr id="18" name="Text 16"/>
          <p:cNvSpPr/>
          <p:nvPr/>
        </p:nvSpPr>
        <p:spPr>
          <a:xfrm>
            <a:off x="2093976" y="1271016"/>
            <a:ext cx="1664208" cy="237744"/>
          </a:xfrm>
          <a:prstGeom prst="rect">
            <a:avLst/>
          </a:prstGeom>
          <a:noFill/>
          <a:ln/>
        </p:spPr>
        <p:txBody>
          <a:bodyPr wrap="square" lIns="0" tIns="0" rIns="0" bIns="0" rtlCol="0" anchor="ctr"/>
          <a:lstStyle/>
          <a:p>
            <a:pPr algn="ctr" indent="0" marL="0">
              <a:buNone/>
            </a:pPr>
            <a:r>
              <a:rPr lang="en-US" sz="950" dirty="0">
                <a:solidFill>
                  <a:srgbClr val="C62828"/>
                </a:solidFill>
                <a:latin typeface="Aptos" pitchFamily="34" charset="0"/>
                <a:ea typeface="Aptos" pitchFamily="34" charset="-122"/>
                <a:cs typeface="Aptos" pitchFamily="34" charset="-120"/>
              </a:rPr>
              <a:t>✗  Via CDC tables</a:t>
            </a:r>
            <a:endParaRPr lang="en-US" sz="950" dirty="0"/>
          </a:p>
        </p:txBody>
      </p:sp>
      <p:sp>
        <p:nvSpPr>
          <p:cNvPr id="19" name="Shape 17"/>
          <p:cNvSpPr/>
          <p:nvPr/>
        </p:nvSpPr>
        <p:spPr>
          <a:xfrm>
            <a:off x="3794760" y="1243584"/>
            <a:ext cx="1600200" cy="292608"/>
          </a:xfrm>
          <a:prstGeom prst="rect">
            <a:avLst/>
          </a:prstGeom>
          <a:solidFill>
            <a:srgbClr val="E7ECF0"/>
          </a:solidFill>
          <a:ln w="6350">
            <a:solidFill>
              <a:srgbClr val="B6BBC0"/>
            </a:solidFill>
            <a:prstDash val="solid"/>
          </a:ln>
        </p:spPr>
      </p:sp>
      <p:sp>
        <p:nvSpPr>
          <p:cNvPr id="20" name="Text 18"/>
          <p:cNvSpPr/>
          <p:nvPr/>
        </p:nvSpPr>
        <p:spPr>
          <a:xfrm>
            <a:off x="3831336" y="1271016"/>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Direct</a:t>
            </a:r>
            <a:endParaRPr lang="en-US" sz="950" dirty="0"/>
          </a:p>
        </p:txBody>
      </p:sp>
      <p:sp>
        <p:nvSpPr>
          <p:cNvPr id="21" name="Shape 19"/>
          <p:cNvSpPr/>
          <p:nvPr/>
        </p:nvSpPr>
        <p:spPr>
          <a:xfrm>
            <a:off x="5394960" y="1243584"/>
            <a:ext cx="1600200" cy="292608"/>
          </a:xfrm>
          <a:prstGeom prst="rect">
            <a:avLst/>
          </a:prstGeom>
          <a:solidFill>
            <a:srgbClr val="E7ECF0"/>
          </a:solidFill>
          <a:ln w="6350">
            <a:solidFill>
              <a:srgbClr val="B6BBC0"/>
            </a:solidFill>
            <a:prstDash val="solid"/>
          </a:ln>
        </p:spPr>
      </p:sp>
      <p:sp>
        <p:nvSpPr>
          <p:cNvPr id="22" name="Text 20"/>
          <p:cNvSpPr/>
          <p:nvPr/>
        </p:nvSpPr>
        <p:spPr>
          <a:xfrm>
            <a:off x="5431536" y="1271016"/>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Direct</a:t>
            </a:r>
            <a:endParaRPr lang="en-US" sz="950" dirty="0"/>
          </a:p>
        </p:txBody>
      </p:sp>
      <p:sp>
        <p:nvSpPr>
          <p:cNvPr id="23" name="Shape 21"/>
          <p:cNvSpPr/>
          <p:nvPr/>
        </p:nvSpPr>
        <p:spPr>
          <a:xfrm>
            <a:off x="6995160" y="1243584"/>
            <a:ext cx="1691640" cy="292608"/>
          </a:xfrm>
          <a:prstGeom prst="rect">
            <a:avLst/>
          </a:prstGeom>
          <a:solidFill>
            <a:srgbClr val="E7ECF0"/>
          </a:solidFill>
          <a:ln w="6350">
            <a:solidFill>
              <a:srgbClr val="B6BBC0"/>
            </a:solidFill>
            <a:prstDash val="solid"/>
          </a:ln>
        </p:spPr>
      </p:sp>
      <p:sp>
        <p:nvSpPr>
          <p:cNvPr id="24" name="Text 22"/>
          <p:cNvSpPr/>
          <p:nvPr/>
        </p:nvSpPr>
        <p:spPr>
          <a:xfrm>
            <a:off x="7031736" y="1271016"/>
            <a:ext cx="161848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Direct</a:t>
            </a:r>
            <a:endParaRPr lang="en-US" sz="950" dirty="0"/>
          </a:p>
        </p:txBody>
      </p:sp>
      <p:sp>
        <p:nvSpPr>
          <p:cNvPr id="25" name="Shape 23"/>
          <p:cNvSpPr/>
          <p:nvPr/>
        </p:nvSpPr>
        <p:spPr>
          <a:xfrm>
            <a:off x="228600" y="1536192"/>
            <a:ext cx="1828800" cy="292608"/>
          </a:xfrm>
          <a:prstGeom prst="rect">
            <a:avLst/>
          </a:prstGeom>
          <a:solidFill>
            <a:srgbClr val="FFFFFF"/>
          </a:solidFill>
          <a:ln w="6350">
            <a:solidFill>
              <a:srgbClr val="B6BBC0"/>
            </a:solidFill>
            <a:prstDash val="solid"/>
          </a:ln>
        </p:spPr>
      </p:sp>
      <p:sp>
        <p:nvSpPr>
          <p:cNvPr id="26" name="Text 24"/>
          <p:cNvSpPr/>
          <p:nvPr/>
        </p:nvSpPr>
        <p:spPr>
          <a:xfrm>
            <a:off x="265176" y="1563624"/>
            <a:ext cx="1755648" cy="237744"/>
          </a:xfrm>
          <a:prstGeom prst="rect">
            <a:avLst/>
          </a:prstGeom>
          <a:noFill/>
          <a:ln/>
        </p:spPr>
        <p:txBody>
          <a:bodyPr wrap="square" lIns="0" tIns="0" rIns="0" bIns="0" rtlCol="0" anchor="ctr"/>
          <a:lstStyle/>
          <a:p>
            <a:pPr algn="l" indent="0" marL="0">
              <a:buNone/>
            </a:pPr>
            <a:r>
              <a:rPr lang="en-US" sz="950" b="1" dirty="0">
                <a:solidFill>
                  <a:srgbClr val="575A5D"/>
                </a:solidFill>
                <a:latin typeface="Aptos" pitchFamily="34" charset="0"/>
                <a:ea typeface="Aptos" pitchFamily="34" charset="-122"/>
                <a:cs typeface="Aptos" pitchFamily="34" charset="-120"/>
              </a:rPr>
              <a:t>Schema change automation</a:t>
            </a:r>
            <a:endParaRPr lang="en-US" sz="950" dirty="0"/>
          </a:p>
        </p:txBody>
      </p:sp>
      <p:sp>
        <p:nvSpPr>
          <p:cNvPr id="27" name="Shape 25"/>
          <p:cNvSpPr/>
          <p:nvPr/>
        </p:nvSpPr>
        <p:spPr>
          <a:xfrm>
            <a:off x="2057400" y="1536192"/>
            <a:ext cx="1737360" cy="292608"/>
          </a:xfrm>
          <a:prstGeom prst="rect">
            <a:avLst/>
          </a:prstGeom>
          <a:solidFill>
            <a:srgbClr val="FFFFFF"/>
          </a:solidFill>
          <a:ln w="6350">
            <a:solidFill>
              <a:srgbClr val="B6BBC0"/>
            </a:solidFill>
            <a:prstDash val="solid"/>
          </a:ln>
        </p:spPr>
      </p:sp>
      <p:sp>
        <p:nvSpPr>
          <p:cNvPr id="28" name="Text 26"/>
          <p:cNvSpPr/>
          <p:nvPr/>
        </p:nvSpPr>
        <p:spPr>
          <a:xfrm>
            <a:off x="2093976" y="1563624"/>
            <a:ext cx="1664208" cy="237744"/>
          </a:xfrm>
          <a:prstGeom prst="rect">
            <a:avLst/>
          </a:prstGeom>
          <a:noFill/>
          <a:ln/>
        </p:spPr>
        <p:txBody>
          <a:bodyPr wrap="square" lIns="0" tIns="0" rIns="0" bIns="0" rtlCol="0" anchor="ctr"/>
          <a:lstStyle/>
          <a:p>
            <a:pPr algn="ctr" indent="0" marL="0">
              <a:buNone/>
            </a:pPr>
            <a:r>
              <a:rPr lang="en-US" sz="950" dirty="0">
                <a:solidFill>
                  <a:srgbClr val="C62828"/>
                </a:solidFill>
                <a:latin typeface="Aptos" pitchFamily="34" charset="0"/>
                <a:ea typeface="Aptos" pitchFamily="34" charset="-122"/>
                <a:cs typeface="Aptos" pitchFamily="34" charset="-120"/>
              </a:rPr>
              <a:t>✗  Manual rotation</a:t>
            </a:r>
            <a:endParaRPr lang="en-US" sz="950" dirty="0"/>
          </a:p>
        </p:txBody>
      </p:sp>
      <p:sp>
        <p:nvSpPr>
          <p:cNvPr id="29" name="Shape 27"/>
          <p:cNvSpPr/>
          <p:nvPr/>
        </p:nvSpPr>
        <p:spPr>
          <a:xfrm>
            <a:off x="3794760" y="1536192"/>
            <a:ext cx="1600200" cy="292608"/>
          </a:xfrm>
          <a:prstGeom prst="rect">
            <a:avLst/>
          </a:prstGeom>
          <a:solidFill>
            <a:srgbClr val="FFFFFF"/>
          </a:solidFill>
          <a:ln w="6350">
            <a:solidFill>
              <a:srgbClr val="B6BBC0"/>
            </a:solidFill>
            <a:prstDash val="solid"/>
          </a:ln>
        </p:spPr>
      </p:sp>
      <p:sp>
        <p:nvSpPr>
          <p:cNvPr id="30" name="Text 28"/>
          <p:cNvSpPr/>
          <p:nvPr/>
        </p:nvSpPr>
        <p:spPr>
          <a:xfrm>
            <a:off x="3831336" y="1563624"/>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Automated</a:t>
            </a:r>
            <a:endParaRPr lang="en-US" sz="950" dirty="0"/>
          </a:p>
        </p:txBody>
      </p:sp>
      <p:sp>
        <p:nvSpPr>
          <p:cNvPr id="31" name="Shape 29"/>
          <p:cNvSpPr/>
          <p:nvPr/>
        </p:nvSpPr>
        <p:spPr>
          <a:xfrm>
            <a:off x="5394960" y="1536192"/>
            <a:ext cx="1600200" cy="292608"/>
          </a:xfrm>
          <a:prstGeom prst="rect">
            <a:avLst/>
          </a:prstGeom>
          <a:solidFill>
            <a:srgbClr val="FFFFFF"/>
          </a:solidFill>
          <a:ln w="6350">
            <a:solidFill>
              <a:srgbClr val="B6BBC0"/>
            </a:solidFill>
            <a:prstDash val="solid"/>
          </a:ln>
        </p:spPr>
      </p:sp>
      <p:sp>
        <p:nvSpPr>
          <p:cNvPr id="32" name="Text 30"/>
          <p:cNvSpPr/>
          <p:nvPr/>
        </p:nvSpPr>
        <p:spPr>
          <a:xfrm>
            <a:off x="5431536" y="1563624"/>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Automated</a:t>
            </a:r>
            <a:endParaRPr lang="en-US" sz="950" dirty="0"/>
          </a:p>
        </p:txBody>
      </p:sp>
      <p:sp>
        <p:nvSpPr>
          <p:cNvPr id="33" name="Shape 31"/>
          <p:cNvSpPr/>
          <p:nvPr/>
        </p:nvSpPr>
        <p:spPr>
          <a:xfrm>
            <a:off x="6995160" y="1536192"/>
            <a:ext cx="1691640" cy="292608"/>
          </a:xfrm>
          <a:prstGeom prst="rect">
            <a:avLst/>
          </a:prstGeom>
          <a:solidFill>
            <a:srgbClr val="FFFFFF"/>
          </a:solidFill>
          <a:ln w="6350">
            <a:solidFill>
              <a:srgbClr val="B6BBC0"/>
            </a:solidFill>
            <a:prstDash val="solid"/>
          </a:ln>
        </p:spPr>
      </p:sp>
      <p:sp>
        <p:nvSpPr>
          <p:cNvPr id="34" name="Text 32"/>
          <p:cNvSpPr/>
          <p:nvPr/>
        </p:nvSpPr>
        <p:spPr>
          <a:xfrm>
            <a:off x="7031736" y="1563624"/>
            <a:ext cx="1618488" cy="237744"/>
          </a:xfrm>
          <a:prstGeom prst="rect">
            <a:avLst/>
          </a:prstGeom>
          <a:noFill/>
          <a:ln/>
        </p:spPr>
        <p:txBody>
          <a:bodyPr wrap="square" lIns="0" tIns="0" rIns="0" bIns="0" rtlCol="0" anchor="ctr"/>
          <a:lstStyle/>
          <a:p>
            <a:pPr algn="ctr" indent="0" marL="0">
              <a:buNone/>
            </a:pPr>
            <a:r>
              <a:rPr lang="en-US" sz="950" dirty="0">
                <a:solidFill>
                  <a:srgbClr val="E65100"/>
                </a:solidFill>
                <a:latin typeface="Aptos" pitchFamily="34" charset="0"/>
                <a:ea typeface="Aptos" pitchFamily="34" charset="-122"/>
                <a:cs typeface="Aptos" pitchFamily="34" charset="-120"/>
              </a:rPr>
              <a:t>~  Managed DDL</a:t>
            </a:r>
            <a:endParaRPr lang="en-US" sz="950" dirty="0"/>
          </a:p>
        </p:txBody>
      </p:sp>
      <p:sp>
        <p:nvSpPr>
          <p:cNvPr id="35" name="Shape 33"/>
          <p:cNvSpPr/>
          <p:nvPr/>
        </p:nvSpPr>
        <p:spPr>
          <a:xfrm>
            <a:off x="228600" y="1828800"/>
            <a:ext cx="1828800" cy="292608"/>
          </a:xfrm>
          <a:prstGeom prst="rect">
            <a:avLst/>
          </a:prstGeom>
          <a:solidFill>
            <a:srgbClr val="E7ECF0"/>
          </a:solidFill>
          <a:ln w="6350">
            <a:solidFill>
              <a:srgbClr val="B6BBC0"/>
            </a:solidFill>
            <a:prstDash val="solid"/>
          </a:ln>
        </p:spPr>
      </p:sp>
      <p:sp>
        <p:nvSpPr>
          <p:cNvPr id="36" name="Text 34"/>
          <p:cNvSpPr/>
          <p:nvPr/>
        </p:nvSpPr>
        <p:spPr>
          <a:xfrm>
            <a:off x="265176" y="1856232"/>
            <a:ext cx="1755648" cy="237744"/>
          </a:xfrm>
          <a:prstGeom prst="rect">
            <a:avLst/>
          </a:prstGeom>
          <a:noFill/>
          <a:ln/>
        </p:spPr>
        <p:txBody>
          <a:bodyPr wrap="square" lIns="0" tIns="0" rIns="0" bIns="0" rtlCol="0" anchor="ctr"/>
          <a:lstStyle/>
          <a:p>
            <a:pPr algn="l" indent="0" marL="0">
              <a:buNone/>
            </a:pPr>
            <a:r>
              <a:rPr lang="en-US" sz="950" b="1" dirty="0">
                <a:solidFill>
                  <a:srgbClr val="575A5D"/>
                </a:solidFill>
                <a:latin typeface="Aptos" pitchFamily="34" charset="0"/>
                <a:ea typeface="Aptos" pitchFamily="34" charset="-122"/>
                <a:cs typeface="Aptos" pitchFamily="34" charset="-120"/>
              </a:rPr>
              <a:t>AG failover awareness</a:t>
            </a:r>
            <a:endParaRPr lang="en-US" sz="950" dirty="0"/>
          </a:p>
        </p:txBody>
      </p:sp>
      <p:sp>
        <p:nvSpPr>
          <p:cNvPr id="37" name="Shape 35"/>
          <p:cNvSpPr/>
          <p:nvPr/>
        </p:nvSpPr>
        <p:spPr>
          <a:xfrm>
            <a:off x="2057400" y="1828800"/>
            <a:ext cx="1737360" cy="292608"/>
          </a:xfrm>
          <a:prstGeom prst="rect">
            <a:avLst/>
          </a:prstGeom>
          <a:solidFill>
            <a:srgbClr val="E7ECF0"/>
          </a:solidFill>
          <a:ln w="6350">
            <a:solidFill>
              <a:srgbClr val="B6BBC0"/>
            </a:solidFill>
            <a:prstDash val="solid"/>
          </a:ln>
        </p:spPr>
      </p:sp>
      <p:sp>
        <p:nvSpPr>
          <p:cNvPr id="38" name="Text 36"/>
          <p:cNvSpPr/>
          <p:nvPr/>
        </p:nvSpPr>
        <p:spPr>
          <a:xfrm>
            <a:off x="2093976" y="1856232"/>
            <a:ext cx="1664208" cy="237744"/>
          </a:xfrm>
          <a:prstGeom prst="rect">
            <a:avLst/>
          </a:prstGeom>
          <a:noFill/>
          <a:ln/>
        </p:spPr>
        <p:txBody>
          <a:bodyPr wrap="square" lIns="0" tIns="0" rIns="0" bIns="0" rtlCol="0" anchor="ctr"/>
          <a:lstStyle/>
          <a:p>
            <a:pPr algn="ctr" indent="0" marL="0">
              <a:buNone/>
            </a:pPr>
            <a:r>
              <a:rPr lang="en-US" sz="950" dirty="0">
                <a:solidFill>
                  <a:srgbClr val="C62828"/>
                </a:solidFill>
                <a:latin typeface="Aptos" pitchFamily="34" charset="0"/>
                <a:ea typeface="Aptos" pitchFamily="34" charset="-122"/>
                <a:cs typeface="Aptos" pitchFamily="34" charset="-120"/>
              </a:rPr>
              <a:t>✗  Manual resync</a:t>
            </a:r>
            <a:endParaRPr lang="en-US" sz="950" dirty="0"/>
          </a:p>
        </p:txBody>
      </p:sp>
      <p:sp>
        <p:nvSpPr>
          <p:cNvPr id="39" name="Shape 37"/>
          <p:cNvSpPr/>
          <p:nvPr/>
        </p:nvSpPr>
        <p:spPr>
          <a:xfrm>
            <a:off x="3794760" y="1828800"/>
            <a:ext cx="1600200" cy="292608"/>
          </a:xfrm>
          <a:prstGeom prst="rect">
            <a:avLst/>
          </a:prstGeom>
          <a:solidFill>
            <a:srgbClr val="E7ECF0"/>
          </a:solidFill>
          <a:ln w="6350">
            <a:solidFill>
              <a:srgbClr val="B6BBC0"/>
            </a:solidFill>
            <a:prstDash val="solid"/>
          </a:ln>
        </p:spPr>
      </p:sp>
      <p:sp>
        <p:nvSpPr>
          <p:cNvPr id="40" name="Text 38"/>
          <p:cNvSpPr/>
          <p:nvPr/>
        </p:nvSpPr>
        <p:spPr>
          <a:xfrm>
            <a:off x="3831336" y="1856232"/>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Native</a:t>
            </a:r>
            <a:endParaRPr lang="en-US" sz="950" dirty="0"/>
          </a:p>
        </p:txBody>
      </p:sp>
      <p:sp>
        <p:nvSpPr>
          <p:cNvPr id="41" name="Shape 39"/>
          <p:cNvSpPr/>
          <p:nvPr/>
        </p:nvSpPr>
        <p:spPr>
          <a:xfrm>
            <a:off x="5394960" y="1828800"/>
            <a:ext cx="1600200" cy="292608"/>
          </a:xfrm>
          <a:prstGeom prst="rect">
            <a:avLst/>
          </a:prstGeom>
          <a:solidFill>
            <a:srgbClr val="E7ECF0"/>
          </a:solidFill>
          <a:ln w="6350">
            <a:solidFill>
              <a:srgbClr val="B6BBC0"/>
            </a:solidFill>
            <a:prstDash val="solid"/>
          </a:ln>
        </p:spPr>
      </p:sp>
      <p:sp>
        <p:nvSpPr>
          <p:cNvPr id="42" name="Text 40"/>
          <p:cNvSpPr/>
          <p:nvPr/>
        </p:nvSpPr>
        <p:spPr>
          <a:xfrm>
            <a:off x="5431536" y="1856232"/>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Native</a:t>
            </a:r>
            <a:endParaRPr lang="en-US" sz="950" dirty="0"/>
          </a:p>
        </p:txBody>
      </p:sp>
      <p:sp>
        <p:nvSpPr>
          <p:cNvPr id="43" name="Shape 41"/>
          <p:cNvSpPr/>
          <p:nvPr/>
        </p:nvSpPr>
        <p:spPr>
          <a:xfrm>
            <a:off x="6995160" y="1828800"/>
            <a:ext cx="1691640" cy="292608"/>
          </a:xfrm>
          <a:prstGeom prst="rect">
            <a:avLst/>
          </a:prstGeom>
          <a:solidFill>
            <a:srgbClr val="E7ECF0"/>
          </a:solidFill>
          <a:ln w="6350">
            <a:solidFill>
              <a:srgbClr val="B6BBC0"/>
            </a:solidFill>
            <a:prstDash val="solid"/>
          </a:ln>
        </p:spPr>
      </p:sp>
      <p:sp>
        <p:nvSpPr>
          <p:cNvPr id="44" name="Text 42"/>
          <p:cNvSpPr/>
          <p:nvPr/>
        </p:nvSpPr>
        <p:spPr>
          <a:xfrm>
            <a:off x="7031736" y="1856232"/>
            <a:ext cx="161848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Native</a:t>
            </a:r>
            <a:endParaRPr lang="en-US" sz="950" dirty="0"/>
          </a:p>
        </p:txBody>
      </p:sp>
      <p:sp>
        <p:nvSpPr>
          <p:cNvPr id="45" name="Shape 43"/>
          <p:cNvSpPr/>
          <p:nvPr/>
        </p:nvSpPr>
        <p:spPr>
          <a:xfrm>
            <a:off x="228600" y="2121408"/>
            <a:ext cx="1828800" cy="292608"/>
          </a:xfrm>
          <a:prstGeom prst="rect">
            <a:avLst/>
          </a:prstGeom>
          <a:solidFill>
            <a:srgbClr val="FFFFFF"/>
          </a:solidFill>
          <a:ln w="6350">
            <a:solidFill>
              <a:srgbClr val="B6BBC0"/>
            </a:solidFill>
            <a:prstDash val="solid"/>
          </a:ln>
        </p:spPr>
      </p:sp>
      <p:sp>
        <p:nvSpPr>
          <p:cNvPr id="46" name="Text 44"/>
          <p:cNvSpPr/>
          <p:nvPr/>
        </p:nvSpPr>
        <p:spPr>
          <a:xfrm>
            <a:off x="265176" y="2148840"/>
            <a:ext cx="1755648" cy="237744"/>
          </a:xfrm>
          <a:prstGeom prst="rect">
            <a:avLst/>
          </a:prstGeom>
          <a:noFill/>
          <a:ln/>
        </p:spPr>
        <p:txBody>
          <a:bodyPr wrap="square" lIns="0" tIns="0" rIns="0" bIns="0" rtlCol="0" anchor="ctr"/>
          <a:lstStyle/>
          <a:p>
            <a:pPr algn="l" indent="0" marL="0">
              <a:buNone/>
            </a:pPr>
            <a:r>
              <a:rPr lang="en-US" sz="950" b="1" dirty="0">
                <a:solidFill>
                  <a:srgbClr val="575A5D"/>
                </a:solidFill>
                <a:latin typeface="Aptos" pitchFamily="34" charset="0"/>
                <a:ea typeface="Aptos" pitchFamily="34" charset="-122"/>
                <a:cs typeface="Aptos" pitchFamily="34" charset="-120"/>
              </a:rPr>
              <a:t>Sub-second latency</a:t>
            </a:r>
            <a:endParaRPr lang="en-US" sz="950" dirty="0"/>
          </a:p>
        </p:txBody>
      </p:sp>
      <p:sp>
        <p:nvSpPr>
          <p:cNvPr id="47" name="Shape 45"/>
          <p:cNvSpPr/>
          <p:nvPr/>
        </p:nvSpPr>
        <p:spPr>
          <a:xfrm>
            <a:off x="2057400" y="2121408"/>
            <a:ext cx="1737360" cy="292608"/>
          </a:xfrm>
          <a:prstGeom prst="rect">
            <a:avLst/>
          </a:prstGeom>
          <a:solidFill>
            <a:srgbClr val="FFFFFF"/>
          </a:solidFill>
          <a:ln w="6350">
            <a:solidFill>
              <a:srgbClr val="B6BBC0"/>
            </a:solidFill>
            <a:prstDash val="solid"/>
          </a:ln>
        </p:spPr>
      </p:sp>
      <p:sp>
        <p:nvSpPr>
          <p:cNvPr id="48" name="Text 46"/>
          <p:cNvSpPr/>
          <p:nvPr/>
        </p:nvSpPr>
        <p:spPr>
          <a:xfrm>
            <a:off x="2093976" y="2148840"/>
            <a:ext cx="1664208" cy="237744"/>
          </a:xfrm>
          <a:prstGeom prst="rect">
            <a:avLst/>
          </a:prstGeom>
          <a:noFill/>
          <a:ln/>
        </p:spPr>
        <p:txBody>
          <a:bodyPr wrap="square" lIns="0" tIns="0" rIns="0" bIns="0" rtlCol="0" anchor="ctr"/>
          <a:lstStyle/>
          <a:p>
            <a:pPr algn="ctr" indent="0" marL="0">
              <a:buNone/>
            </a:pPr>
            <a:r>
              <a:rPr lang="en-US" sz="950" dirty="0">
                <a:solidFill>
                  <a:srgbClr val="E65100"/>
                </a:solidFill>
                <a:latin typeface="Aptos" pitchFamily="34" charset="0"/>
                <a:ea typeface="Aptos" pitchFamily="34" charset="-122"/>
                <a:cs typeface="Aptos" pitchFamily="34" charset="-120"/>
              </a:rPr>
              <a:t>~  Polling delay</a:t>
            </a:r>
            <a:endParaRPr lang="en-US" sz="950" dirty="0"/>
          </a:p>
        </p:txBody>
      </p:sp>
      <p:sp>
        <p:nvSpPr>
          <p:cNvPr id="49" name="Shape 47"/>
          <p:cNvSpPr/>
          <p:nvPr/>
        </p:nvSpPr>
        <p:spPr>
          <a:xfrm>
            <a:off x="3794760" y="2121408"/>
            <a:ext cx="1600200" cy="292608"/>
          </a:xfrm>
          <a:prstGeom prst="rect">
            <a:avLst/>
          </a:prstGeom>
          <a:solidFill>
            <a:srgbClr val="FFFFFF"/>
          </a:solidFill>
          <a:ln w="6350">
            <a:solidFill>
              <a:srgbClr val="B6BBC0"/>
            </a:solidFill>
            <a:prstDash val="solid"/>
          </a:ln>
        </p:spPr>
      </p:sp>
      <p:sp>
        <p:nvSpPr>
          <p:cNvPr id="50" name="Text 48"/>
          <p:cNvSpPr/>
          <p:nvPr/>
        </p:nvSpPr>
        <p:spPr>
          <a:xfrm>
            <a:off x="3831336" y="2148840"/>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Sub-second</a:t>
            </a:r>
            <a:endParaRPr lang="en-US" sz="950" dirty="0"/>
          </a:p>
        </p:txBody>
      </p:sp>
      <p:sp>
        <p:nvSpPr>
          <p:cNvPr id="51" name="Shape 49"/>
          <p:cNvSpPr/>
          <p:nvPr/>
        </p:nvSpPr>
        <p:spPr>
          <a:xfrm>
            <a:off x="5394960" y="2121408"/>
            <a:ext cx="1600200" cy="292608"/>
          </a:xfrm>
          <a:prstGeom prst="rect">
            <a:avLst/>
          </a:prstGeom>
          <a:solidFill>
            <a:srgbClr val="FFFFFF"/>
          </a:solidFill>
          <a:ln w="6350">
            <a:solidFill>
              <a:srgbClr val="B6BBC0"/>
            </a:solidFill>
            <a:prstDash val="solid"/>
          </a:ln>
        </p:spPr>
      </p:sp>
      <p:sp>
        <p:nvSpPr>
          <p:cNvPr id="52" name="Text 50"/>
          <p:cNvSpPr/>
          <p:nvPr/>
        </p:nvSpPr>
        <p:spPr>
          <a:xfrm>
            <a:off x="5431536" y="2148840"/>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Sub-second</a:t>
            </a:r>
            <a:endParaRPr lang="en-US" sz="950" dirty="0"/>
          </a:p>
        </p:txBody>
      </p:sp>
      <p:sp>
        <p:nvSpPr>
          <p:cNvPr id="53" name="Shape 51"/>
          <p:cNvSpPr/>
          <p:nvPr/>
        </p:nvSpPr>
        <p:spPr>
          <a:xfrm>
            <a:off x="6995160" y="2121408"/>
            <a:ext cx="1691640" cy="292608"/>
          </a:xfrm>
          <a:prstGeom prst="rect">
            <a:avLst/>
          </a:prstGeom>
          <a:solidFill>
            <a:srgbClr val="FFFFFF"/>
          </a:solidFill>
          <a:ln w="6350">
            <a:solidFill>
              <a:srgbClr val="B6BBC0"/>
            </a:solidFill>
            <a:prstDash val="solid"/>
          </a:ln>
        </p:spPr>
      </p:sp>
      <p:sp>
        <p:nvSpPr>
          <p:cNvPr id="54" name="Text 52"/>
          <p:cNvSpPr/>
          <p:nvPr/>
        </p:nvSpPr>
        <p:spPr>
          <a:xfrm>
            <a:off x="7031736" y="2148840"/>
            <a:ext cx="161848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Sub-second</a:t>
            </a:r>
            <a:endParaRPr lang="en-US" sz="950" dirty="0"/>
          </a:p>
        </p:txBody>
      </p:sp>
      <p:sp>
        <p:nvSpPr>
          <p:cNvPr id="55" name="Shape 53"/>
          <p:cNvSpPr/>
          <p:nvPr/>
        </p:nvSpPr>
        <p:spPr>
          <a:xfrm>
            <a:off x="228600" y="2414016"/>
            <a:ext cx="1828800" cy="292608"/>
          </a:xfrm>
          <a:prstGeom prst="rect">
            <a:avLst/>
          </a:prstGeom>
          <a:solidFill>
            <a:srgbClr val="E7ECF0"/>
          </a:solidFill>
          <a:ln w="6350">
            <a:solidFill>
              <a:srgbClr val="B6BBC0"/>
            </a:solidFill>
            <a:prstDash val="solid"/>
          </a:ln>
        </p:spPr>
      </p:sp>
      <p:sp>
        <p:nvSpPr>
          <p:cNvPr id="56" name="Text 54"/>
          <p:cNvSpPr/>
          <p:nvPr/>
        </p:nvSpPr>
        <p:spPr>
          <a:xfrm>
            <a:off x="265176" y="2441448"/>
            <a:ext cx="1755648" cy="237744"/>
          </a:xfrm>
          <a:prstGeom prst="rect">
            <a:avLst/>
          </a:prstGeom>
          <a:noFill/>
          <a:ln/>
        </p:spPr>
        <p:txBody>
          <a:bodyPr wrap="square" lIns="0" tIns="0" rIns="0" bIns="0" rtlCol="0" anchor="ctr"/>
          <a:lstStyle/>
          <a:p>
            <a:pPr algn="l" indent="0" marL="0">
              <a:buNone/>
            </a:pPr>
            <a:r>
              <a:rPr lang="en-US" sz="950" b="1" dirty="0">
                <a:solidFill>
                  <a:srgbClr val="575A5D"/>
                </a:solidFill>
                <a:latin typeface="Aptos" pitchFamily="34" charset="0"/>
                <a:ea typeface="Aptos" pitchFamily="34" charset="-122"/>
                <a:cs typeface="Aptos" pitchFamily="34" charset="-120"/>
              </a:rPr>
              <a:t>Heterogeneous sources</a:t>
            </a:r>
            <a:endParaRPr lang="en-US" sz="950" dirty="0"/>
          </a:p>
        </p:txBody>
      </p:sp>
      <p:sp>
        <p:nvSpPr>
          <p:cNvPr id="57" name="Shape 55"/>
          <p:cNvSpPr/>
          <p:nvPr/>
        </p:nvSpPr>
        <p:spPr>
          <a:xfrm>
            <a:off x="2057400" y="2414016"/>
            <a:ext cx="1737360" cy="292608"/>
          </a:xfrm>
          <a:prstGeom prst="rect">
            <a:avLst/>
          </a:prstGeom>
          <a:solidFill>
            <a:srgbClr val="E7ECF0"/>
          </a:solidFill>
          <a:ln w="6350">
            <a:solidFill>
              <a:srgbClr val="B6BBC0"/>
            </a:solidFill>
            <a:prstDash val="solid"/>
          </a:ln>
        </p:spPr>
      </p:sp>
      <p:sp>
        <p:nvSpPr>
          <p:cNvPr id="58" name="Text 56"/>
          <p:cNvSpPr/>
          <p:nvPr/>
        </p:nvSpPr>
        <p:spPr>
          <a:xfrm>
            <a:off x="2093976" y="2441448"/>
            <a:ext cx="1664208" cy="237744"/>
          </a:xfrm>
          <a:prstGeom prst="rect">
            <a:avLst/>
          </a:prstGeom>
          <a:noFill/>
          <a:ln/>
        </p:spPr>
        <p:txBody>
          <a:bodyPr wrap="square" lIns="0" tIns="0" rIns="0" bIns="0" rtlCol="0" anchor="ctr"/>
          <a:lstStyle/>
          <a:p>
            <a:pPr algn="ctr" indent="0" marL="0">
              <a:buNone/>
            </a:pPr>
            <a:r>
              <a:rPr lang="en-US" sz="950" dirty="0">
                <a:solidFill>
                  <a:srgbClr val="C62828"/>
                </a:solidFill>
                <a:latin typeface="Aptos" pitchFamily="34" charset="0"/>
                <a:ea typeface="Aptos" pitchFamily="34" charset="-122"/>
                <a:cs typeface="Aptos" pitchFamily="34" charset="-120"/>
              </a:rPr>
              <a:t>✗  SQL Server only</a:t>
            </a:r>
            <a:endParaRPr lang="en-US" sz="950" dirty="0"/>
          </a:p>
        </p:txBody>
      </p:sp>
      <p:sp>
        <p:nvSpPr>
          <p:cNvPr id="59" name="Shape 57"/>
          <p:cNvSpPr/>
          <p:nvPr/>
        </p:nvSpPr>
        <p:spPr>
          <a:xfrm>
            <a:off x="3794760" y="2414016"/>
            <a:ext cx="1600200" cy="292608"/>
          </a:xfrm>
          <a:prstGeom prst="rect">
            <a:avLst/>
          </a:prstGeom>
          <a:solidFill>
            <a:srgbClr val="E7ECF0"/>
          </a:solidFill>
          <a:ln w="6350">
            <a:solidFill>
              <a:srgbClr val="B6BBC0"/>
            </a:solidFill>
            <a:prstDash val="solid"/>
          </a:ln>
        </p:spPr>
      </p:sp>
      <p:sp>
        <p:nvSpPr>
          <p:cNvPr id="60" name="Text 58"/>
          <p:cNvSpPr/>
          <p:nvPr/>
        </p:nvSpPr>
        <p:spPr>
          <a:xfrm>
            <a:off x="3831336" y="2441448"/>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Multi-source</a:t>
            </a:r>
            <a:endParaRPr lang="en-US" sz="950" dirty="0"/>
          </a:p>
        </p:txBody>
      </p:sp>
      <p:sp>
        <p:nvSpPr>
          <p:cNvPr id="61" name="Shape 59"/>
          <p:cNvSpPr/>
          <p:nvPr/>
        </p:nvSpPr>
        <p:spPr>
          <a:xfrm>
            <a:off x="5394960" y="2414016"/>
            <a:ext cx="1600200" cy="292608"/>
          </a:xfrm>
          <a:prstGeom prst="rect">
            <a:avLst/>
          </a:prstGeom>
          <a:solidFill>
            <a:srgbClr val="E7ECF0"/>
          </a:solidFill>
          <a:ln w="6350">
            <a:solidFill>
              <a:srgbClr val="B6BBC0"/>
            </a:solidFill>
            <a:prstDash val="solid"/>
          </a:ln>
        </p:spPr>
      </p:sp>
      <p:sp>
        <p:nvSpPr>
          <p:cNvPr id="62" name="Text 60"/>
          <p:cNvSpPr/>
          <p:nvPr/>
        </p:nvSpPr>
        <p:spPr>
          <a:xfrm>
            <a:off x="5431536" y="2441448"/>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Multi-source</a:t>
            </a:r>
            <a:endParaRPr lang="en-US" sz="950" dirty="0"/>
          </a:p>
        </p:txBody>
      </p:sp>
      <p:sp>
        <p:nvSpPr>
          <p:cNvPr id="63" name="Shape 61"/>
          <p:cNvSpPr/>
          <p:nvPr/>
        </p:nvSpPr>
        <p:spPr>
          <a:xfrm>
            <a:off x="6995160" y="2414016"/>
            <a:ext cx="1691640" cy="292608"/>
          </a:xfrm>
          <a:prstGeom prst="rect">
            <a:avLst/>
          </a:prstGeom>
          <a:solidFill>
            <a:srgbClr val="E7ECF0"/>
          </a:solidFill>
          <a:ln w="6350">
            <a:solidFill>
              <a:srgbClr val="B6BBC0"/>
            </a:solidFill>
            <a:prstDash val="solid"/>
          </a:ln>
        </p:spPr>
      </p:sp>
      <p:sp>
        <p:nvSpPr>
          <p:cNvPr id="64" name="Text 62"/>
          <p:cNvSpPr/>
          <p:nvPr/>
        </p:nvSpPr>
        <p:spPr>
          <a:xfrm>
            <a:off x="7031736" y="2441448"/>
            <a:ext cx="161848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Multi-source</a:t>
            </a:r>
            <a:endParaRPr lang="en-US" sz="950" dirty="0"/>
          </a:p>
        </p:txBody>
      </p:sp>
      <p:sp>
        <p:nvSpPr>
          <p:cNvPr id="65" name="Shape 63"/>
          <p:cNvSpPr/>
          <p:nvPr/>
        </p:nvSpPr>
        <p:spPr>
          <a:xfrm>
            <a:off x="228600" y="2706624"/>
            <a:ext cx="1828800" cy="292608"/>
          </a:xfrm>
          <a:prstGeom prst="rect">
            <a:avLst/>
          </a:prstGeom>
          <a:solidFill>
            <a:srgbClr val="FFFFFF"/>
          </a:solidFill>
          <a:ln w="6350">
            <a:solidFill>
              <a:srgbClr val="B6BBC0"/>
            </a:solidFill>
            <a:prstDash val="solid"/>
          </a:ln>
        </p:spPr>
      </p:sp>
      <p:sp>
        <p:nvSpPr>
          <p:cNvPr id="66" name="Text 64"/>
          <p:cNvSpPr/>
          <p:nvPr/>
        </p:nvSpPr>
        <p:spPr>
          <a:xfrm>
            <a:off x="265176" y="2734056"/>
            <a:ext cx="1755648" cy="237744"/>
          </a:xfrm>
          <a:prstGeom prst="rect">
            <a:avLst/>
          </a:prstGeom>
          <a:noFill/>
          <a:ln/>
        </p:spPr>
        <p:txBody>
          <a:bodyPr wrap="square" lIns="0" tIns="0" rIns="0" bIns="0" rtlCol="0" anchor="ctr"/>
          <a:lstStyle/>
          <a:p>
            <a:pPr algn="l" indent="0" marL="0">
              <a:buNone/>
            </a:pPr>
            <a:r>
              <a:rPr lang="en-US" sz="950" b="1" dirty="0">
                <a:solidFill>
                  <a:srgbClr val="575A5D"/>
                </a:solidFill>
                <a:latin typeface="Aptos" pitchFamily="34" charset="0"/>
                <a:ea typeface="Aptos" pitchFamily="34" charset="-122"/>
                <a:cs typeface="Aptos" pitchFamily="34" charset="-120"/>
              </a:rPr>
              <a:t>In-flight transformation</a:t>
            </a:r>
            <a:endParaRPr lang="en-US" sz="950" dirty="0"/>
          </a:p>
        </p:txBody>
      </p:sp>
      <p:sp>
        <p:nvSpPr>
          <p:cNvPr id="67" name="Shape 65"/>
          <p:cNvSpPr/>
          <p:nvPr/>
        </p:nvSpPr>
        <p:spPr>
          <a:xfrm>
            <a:off x="2057400" y="2706624"/>
            <a:ext cx="1737360" cy="292608"/>
          </a:xfrm>
          <a:prstGeom prst="rect">
            <a:avLst/>
          </a:prstGeom>
          <a:solidFill>
            <a:srgbClr val="FFFFFF"/>
          </a:solidFill>
          <a:ln w="6350">
            <a:solidFill>
              <a:srgbClr val="B6BBC0"/>
            </a:solidFill>
            <a:prstDash val="solid"/>
          </a:ln>
        </p:spPr>
      </p:sp>
      <p:sp>
        <p:nvSpPr>
          <p:cNvPr id="68" name="Text 66"/>
          <p:cNvSpPr/>
          <p:nvPr/>
        </p:nvSpPr>
        <p:spPr>
          <a:xfrm>
            <a:off x="2093976" y="2734056"/>
            <a:ext cx="1664208" cy="237744"/>
          </a:xfrm>
          <a:prstGeom prst="rect">
            <a:avLst/>
          </a:prstGeom>
          <a:noFill/>
          <a:ln/>
        </p:spPr>
        <p:txBody>
          <a:bodyPr wrap="square" lIns="0" tIns="0" rIns="0" bIns="0" rtlCol="0" anchor="ctr"/>
          <a:lstStyle/>
          <a:p>
            <a:pPr algn="ctr" indent="0" marL="0">
              <a:buNone/>
            </a:pPr>
            <a:r>
              <a:rPr lang="en-US" sz="950" dirty="0">
                <a:solidFill>
                  <a:srgbClr val="E65100"/>
                </a:solidFill>
                <a:latin typeface="Aptos" pitchFamily="34" charset="0"/>
                <a:ea typeface="Aptos" pitchFamily="34" charset="-122"/>
                <a:cs typeface="Aptos" pitchFamily="34" charset="-120"/>
              </a:rPr>
              <a:t>~  SMTs only</a:t>
            </a:r>
            <a:endParaRPr lang="en-US" sz="950" dirty="0"/>
          </a:p>
        </p:txBody>
      </p:sp>
      <p:sp>
        <p:nvSpPr>
          <p:cNvPr id="69" name="Shape 67"/>
          <p:cNvSpPr/>
          <p:nvPr/>
        </p:nvSpPr>
        <p:spPr>
          <a:xfrm>
            <a:off x="3794760" y="2706624"/>
            <a:ext cx="1600200" cy="292608"/>
          </a:xfrm>
          <a:prstGeom prst="rect">
            <a:avLst/>
          </a:prstGeom>
          <a:solidFill>
            <a:srgbClr val="FFFFFF"/>
          </a:solidFill>
          <a:ln w="6350">
            <a:solidFill>
              <a:srgbClr val="B6BBC0"/>
            </a:solidFill>
            <a:prstDash val="solid"/>
          </a:ln>
        </p:spPr>
      </p:sp>
      <p:sp>
        <p:nvSpPr>
          <p:cNvPr id="70" name="Text 68"/>
          <p:cNvSpPr/>
          <p:nvPr/>
        </p:nvSpPr>
        <p:spPr>
          <a:xfrm>
            <a:off x="3831336" y="2734056"/>
            <a:ext cx="1527048" cy="237744"/>
          </a:xfrm>
          <a:prstGeom prst="rect">
            <a:avLst/>
          </a:prstGeom>
          <a:noFill/>
          <a:ln/>
        </p:spPr>
        <p:txBody>
          <a:bodyPr wrap="square" lIns="0" tIns="0" rIns="0" bIns="0" rtlCol="0" anchor="ctr"/>
          <a:lstStyle/>
          <a:p>
            <a:pPr algn="ctr" indent="0" marL="0">
              <a:buNone/>
            </a:pPr>
            <a:r>
              <a:rPr lang="en-US" sz="950" dirty="0">
                <a:solidFill>
                  <a:srgbClr val="E65100"/>
                </a:solidFill>
                <a:latin typeface="Aptos" pitchFamily="34" charset="0"/>
                <a:ea typeface="Aptos" pitchFamily="34" charset="-122"/>
                <a:cs typeface="Aptos" pitchFamily="34" charset="-120"/>
              </a:rPr>
              <a:t>~  Basic</a:t>
            </a:r>
            <a:endParaRPr lang="en-US" sz="950" dirty="0"/>
          </a:p>
        </p:txBody>
      </p:sp>
      <p:sp>
        <p:nvSpPr>
          <p:cNvPr id="71" name="Shape 69"/>
          <p:cNvSpPr/>
          <p:nvPr/>
        </p:nvSpPr>
        <p:spPr>
          <a:xfrm>
            <a:off x="5394960" y="2706624"/>
            <a:ext cx="1600200" cy="292608"/>
          </a:xfrm>
          <a:prstGeom prst="rect">
            <a:avLst/>
          </a:prstGeom>
          <a:solidFill>
            <a:srgbClr val="FFFFFF"/>
          </a:solidFill>
          <a:ln w="6350">
            <a:solidFill>
              <a:srgbClr val="B6BBC0"/>
            </a:solidFill>
            <a:prstDash val="solid"/>
          </a:ln>
        </p:spPr>
      </p:sp>
      <p:sp>
        <p:nvSpPr>
          <p:cNvPr id="72" name="Text 70"/>
          <p:cNvSpPr/>
          <p:nvPr/>
        </p:nvSpPr>
        <p:spPr>
          <a:xfrm>
            <a:off x="5431536" y="2734056"/>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Streaming SQL</a:t>
            </a:r>
            <a:endParaRPr lang="en-US" sz="950" dirty="0"/>
          </a:p>
        </p:txBody>
      </p:sp>
      <p:sp>
        <p:nvSpPr>
          <p:cNvPr id="73" name="Shape 71"/>
          <p:cNvSpPr/>
          <p:nvPr/>
        </p:nvSpPr>
        <p:spPr>
          <a:xfrm>
            <a:off x="6995160" y="2706624"/>
            <a:ext cx="1691640" cy="292608"/>
          </a:xfrm>
          <a:prstGeom prst="rect">
            <a:avLst/>
          </a:prstGeom>
          <a:solidFill>
            <a:srgbClr val="FFFFFF"/>
          </a:solidFill>
          <a:ln w="6350">
            <a:solidFill>
              <a:srgbClr val="B6BBC0"/>
            </a:solidFill>
            <a:prstDash val="solid"/>
          </a:ln>
        </p:spPr>
      </p:sp>
      <p:sp>
        <p:nvSpPr>
          <p:cNvPr id="74" name="Text 72"/>
          <p:cNvSpPr/>
          <p:nvPr/>
        </p:nvSpPr>
        <p:spPr>
          <a:xfrm>
            <a:off x="7031736" y="2734056"/>
            <a:ext cx="1618488" cy="237744"/>
          </a:xfrm>
          <a:prstGeom prst="rect">
            <a:avLst/>
          </a:prstGeom>
          <a:noFill/>
          <a:ln/>
        </p:spPr>
        <p:txBody>
          <a:bodyPr wrap="square" lIns="0" tIns="0" rIns="0" bIns="0" rtlCol="0" anchor="ctr"/>
          <a:lstStyle/>
          <a:p>
            <a:pPr algn="ctr" indent="0" marL="0">
              <a:buNone/>
            </a:pPr>
            <a:r>
              <a:rPr lang="en-US" sz="950" dirty="0">
                <a:solidFill>
                  <a:srgbClr val="E65100"/>
                </a:solidFill>
                <a:latin typeface="Aptos" pitchFamily="34" charset="0"/>
                <a:ea typeface="Aptos" pitchFamily="34" charset="-122"/>
                <a:cs typeface="Aptos" pitchFamily="34" charset="-120"/>
              </a:rPr>
              <a:t>~  Basic only</a:t>
            </a:r>
            <a:endParaRPr lang="en-US" sz="950" dirty="0"/>
          </a:p>
        </p:txBody>
      </p:sp>
      <p:sp>
        <p:nvSpPr>
          <p:cNvPr id="75" name="Shape 73"/>
          <p:cNvSpPr/>
          <p:nvPr/>
        </p:nvSpPr>
        <p:spPr>
          <a:xfrm>
            <a:off x="228600" y="2999232"/>
            <a:ext cx="1828800" cy="292608"/>
          </a:xfrm>
          <a:prstGeom prst="rect">
            <a:avLst/>
          </a:prstGeom>
          <a:solidFill>
            <a:srgbClr val="E7ECF0"/>
          </a:solidFill>
          <a:ln w="6350">
            <a:solidFill>
              <a:srgbClr val="B6BBC0"/>
            </a:solidFill>
            <a:prstDash val="solid"/>
          </a:ln>
        </p:spPr>
      </p:sp>
      <p:sp>
        <p:nvSpPr>
          <p:cNvPr id="76" name="Text 74"/>
          <p:cNvSpPr/>
          <p:nvPr/>
        </p:nvSpPr>
        <p:spPr>
          <a:xfrm>
            <a:off x="265176" y="3026664"/>
            <a:ext cx="1755648" cy="237744"/>
          </a:xfrm>
          <a:prstGeom prst="rect">
            <a:avLst/>
          </a:prstGeom>
          <a:noFill/>
          <a:ln/>
        </p:spPr>
        <p:txBody>
          <a:bodyPr wrap="square" lIns="0" tIns="0" rIns="0" bIns="0" rtlCol="0" anchor="ctr"/>
          <a:lstStyle/>
          <a:p>
            <a:pPr algn="l" indent="0" marL="0">
              <a:buNone/>
            </a:pPr>
            <a:r>
              <a:rPr lang="en-US" sz="950" b="1" dirty="0">
                <a:solidFill>
                  <a:srgbClr val="575A5D"/>
                </a:solidFill>
                <a:latin typeface="Aptos" pitchFamily="34" charset="0"/>
                <a:ea typeface="Aptos" pitchFamily="34" charset="-122"/>
                <a:cs typeface="Aptos" pitchFamily="34" charset="-120"/>
              </a:rPr>
              <a:t>Cloud DW native connectors</a:t>
            </a:r>
            <a:endParaRPr lang="en-US" sz="950" dirty="0"/>
          </a:p>
        </p:txBody>
      </p:sp>
      <p:sp>
        <p:nvSpPr>
          <p:cNvPr id="77" name="Shape 75"/>
          <p:cNvSpPr/>
          <p:nvPr/>
        </p:nvSpPr>
        <p:spPr>
          <a:xfrm>
            <a:off x="2057400" y="2999232"/>
            <a:ext cx="1737360" cy="292608"/>
          </a:xfrm>
          <a:prstGeom prst="rect">
            <a:avLst/>
          </a:prstGeom>
          <a:solidFill>
            <a:srgbClr val="E7ECF0"/>
          </a:solidFill>
          <a:ln w="6350">
            <a:solidFill>
              <a:srgbClr val="B6BBC0"/>
            </a:solidFill>
            <a:prstDash val="solid"/>
          </a:ln>
        </p:spPr>
      </p:sp>
      <p:sp>
        <p:nvSpPr>
          <p:cNvPr id="78" name="Text 76"/>
          <p:cNvSpPr/>
          <p:nvPr/>
        </p:nvSpPr>
        <p:spPr>
          <a:xfrm>
            <a:off x="2093976" y="3026664"/>
            <a:ext cx="1664208" cy="237744"/>
          </a:xfrm>
          <a:prstGeom prst="rect">
            <a:avLst/>
          </a:prstGeom>
          <a:noFill/>
          <a:ln/>
        </p:spPr>
        <p:txBody>
          <a:bodyPr wrap="square" lIns="0" tIns="0" rIns="0" bIns="0" rtlCol="0" anchor="ctr"/>
          <a:lstStyle/>
          <a:p>
            <a:pPr algn="ctr" indent="0" marL="0">
              <a:buNone/>
            </a:pPr>
            <a:r>
              <a:rPr lang="en-US" sz="950" dirty="0">
                <a:solidFill>
                  <a:srgbClr val="E65100"/>
                </a:solidFill>
                <a:latin typeface="Aptos" pitchFamily="34" charset="0"/>
                <a:ea typeface="Aptos" pitchFamily="34" charset="-122"/>
                <a:cs typeface="Aptos" pitchFamily="34" charset="-120"/>
              </a:rPr>
              <a:t>~  Via Kafka</a:t>
            </a:r>
            <a:endParaRPr lang="en-US" sz="950" dirty="0"/>
          </a:p>
        </p:txBody>
      </p:sp>
      <p:sp>
        <p:nvSpPr>
          <p:cNvPr id="79" name="Shape 77"/>
          <p:cNvSpPr/>
          <p:nvPr/>
        </p:nvSpPr>
        <p:spPr>
          <a:xfrm>
            <a:off x="3794760" y="2999232"/>
            <a:ext cx="1600200" cy="292608"/>
          </a:xfrm>
          <a:prstGeom prst="rect">
            <a:avLst/>
          </a:prstGeom>
          <a:solidFill>
            <a:srgbClr val="E7ECF0"/>
          </a:solidFill>
          <a:ln w="6350">
            <a:solidFill>
              <a:srgbClr val="B6BBC0"/>
            </a:solidFill>
            <a:prstDash val="solid"/>
          </a:ln>
        </p:spPr>
      </p:sp>
      <p:sp>
        <p:nvSpPr>
          <p:cNvPr id="80" name="Text 78"/>
          <p:cNvSpPr/>
          <p:nvPr/>
        </p:nvSpPr>
        <p:spPr>
          <a:xfrm>
            <a:off x="3831336" y="3026664"/>
            <a:ext cx="1527048" cy="237744"/>
          </a:xfrm>
          <a:prstGeom prst="rect">
            <a:avLst/>
          </a:prstGeom>
          <a:noFill/>
          <a:ln/>
        </p:spPr>
        <p:txBody>
          <a:bodyPr wrap="square" lIns="0" tIns="0" rIns="0" bIns="0" rtlCol="0" anchor="ctr"/>
          <a:lstStyle/>
          <a:p>
            <a:pPr algn="ctr" indent="0" marL="0">
              <a:buNone/>
            </a:pPr>
            <a:r>
              <a:rPr lang="en-US" sz="950" dirty="0">
                <a:solidFill>
                  <a:srgbClr val="E65100"/>
                </a:solidFill>
                <a:latin typeface="Aptos" pitchFamily="34" charset="0"/>
                <a:ea typeface="Aptos" pitchFamily="34" charset="-122"/>
                <a:cs typeface="Aptos" pitchFamily="34" charset="-120"/>
              </a:rPr>
              <a:t>~  Via Kafka/JDBC</a:t>
            </a:r>
            <a:endParaRPr lang="en-US" sz="950" dirty="0"/>
          </a:p>
        </p:txBody>
      </p:sp>
      <p:sp>
        <p:nvSpPr>
          <p:cNvPr id="81" name="Shape 79"/>
          <p:cNvSpPr/>
          <p:nvPr/>
        </p:nvSpPr>
        <p:spPr>
          <a:xfrm>
            <a:off x="5394960" y="2999232"/>
            <a:ext cx="1600200" cy="292608"/>
          </a:xfrm>
          <a:prstGeom prst="rect">
            <a:avLst/>
          </a:prstGeom>
          <a:solidFill>
            <a:srgbClr val="E7ECF0"/>
          </a:solidFill>
          <a:ln w="6350">
            <a:solidFill>
              <a:srgbClr val="B6BBC0"/>
            </a:solidFill>
            <a:prstDash val="solid"/>
          </a:ln>
        </p:spPr>
      </p:sp>
      <p:sp>
        <p:nvSpPr>
          <p:cNvPr id="82" name="Text 80"/>
          <p:cNvSpPr/>
          <p:nvPr/>
        </p:nvSpPr>
        <p:spPr>
          <a:xfrm>
            <a:off x="5431536" y="3026664"/>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Certified</a:t>
            </a:r>
            <a:endParaRPr lang="en-US" sz="950" dirty="0"/>
          </a:p>
        </p:txBody>
      </p:sp>
      <p:sp>
        <p:nvSpPr>
          <p:cNvPr id="83" name="Shape 81"/>
          <p:cNvSpPr/>
          <p:nvPr/>
        </p:nvSpPr>
        <p:spPr>
          <a:xfrm>
            <a:off x="6995160" y="2999232"/>
            <a:ext cx="1691640" cy="292608"/>
          </a:xfrm>
          <a:prstGeom prst="rect">
            <a:avLst/>
          </a:prstGeom>
          <a:solidFill>
            <a:srgbClr val="E7ECF0"/>
          </a:solidFill>
          <a:ln w="6350">
            <a:solidFill>
              <a:srgbClr val="B6BBC0"/>
            </a:solidFill>
            <a:prstDash val="solid"/>
          </a:ln>
        </p:spPr>
      </p:sp>
      <p:sp>
        <p:nvSpPr>
          <p:cNvPr id="84" name="Text 82"/>
          <p:cNvSpPr/>
          <p:nvPr/>
        </p:nvSpPr>
        <p:spPr>
          <a:xfrm>
            <a:off x="7031736" y="3026664"/>
            <a:ext cx="161848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Certified</a:t>
            </a:r>
            <a:endParaRPr lang="en-US" sz="950" dirty="0"/>
          </a:p>
        </p:txBody>
      </p:sp>
      <p:sp>
        <p:nvSpPr>
          <p:cNvPr id="85" name="Shape 83"/>
          <p:cNvSpPr/>
          <p:nvPr/>
        </p:nvSpPr>
        <p:spPr>
          <a:xfrm>
            <a:off x="228600" y="3291840"/>
            <a:ext cx="1828800" cy="292608"/>
          </a:xfrm>
          <a:prstGeom prst="rect">
            <a:avLst/>
          </a:prstGeom>
          <a:solidFill>
            <a:srgbClr val="FFFFFF"/>
          </a:solidFill>
          <a:ln w="6350">
            <a:solidFill>
              <a:srgbClr val="B6BBC0"/>
            </a:solidFill>
            <a:prstDash val="solid"/>
          </a:ln>
        </p:spPr>
      </p:sp>
      <p:sp>
        <p:nvSpPr>
          <p:cNvPr id="86" name="Text 84"/>
          <p:cNvSpPr/>
          <p:nvPr/>
        </p:nvSpPr>
        <p:spPr>
          <a:xfrm>
            <a:off x="265176" y="3319272"/>
            <a:ext cx="1755648" cy="237744"/>
          </a:xfrm>
          <a:prstGeom prst="rect">
            <a:avLst/>
          </a:prstGeom>
          <a:noFill/>
          <a:ln/>
        </p:spPr>
        <p:txBody>
          <a:bodyPr wrap="square" lIns="0" tIns="0" rIns="0" bIns="0" rtlCol="0" anchor="ctr"/>
          <a:lstStyle/>
          <a:p>
            <a:pPr algn="l" indent="0" marL="0">
              <a:buNone/>
            </a:pPr>
            <a:r>
              <a:rPr lang="en-US" sz="950" b="1" dirty="0">
                <a:solidFill>
                  <a:srgbClr val="575A5D"/>
                </a:solidFill>
                <a:latin typeface="Aptos" pitchFamily="34" charset="0"/>
                <a:ea typeface="Aptos" pitchFamily="34" charset="-122"/>
                <a:cs typeface="Aptos" pitchFamily="34" charset="-120"/>
              </a:rPr>
              <a:t>Mainframe sources (IMS/VSAM)</a:t>
            </a:r>
            <a:endParaRPr lang="en-US" sz="950" dirty="0"/>
          </a:p>
        </p:txBody>
      </p:sp>
      <p:sp>
        <p:nvSpPr>
          <p:cNvPr id="87" name="Shape 85"/>
          <p:cNvSpPr/>
          <p:nvPr/>
        </p:nvSpPr>
        <p:spPr>
          <a:xfrm>
            <a:off x="2057400" y="3291840"/>
            <a:ext cx="1737360" cy="292608"/>
          </a:xfrm>
          <a:prstGeom prst="rect">
            <a:avLst/>
          </a:prstGeom>
          <a:solidFill>
            <a:srgbClr val="FFFFFF"/>
          </a:solidFill>
          <a:ln w="6350">
            <a:solidFill>
              <a:srgbClr val="B6BBC0"/>
            </a:solidFill>
            <a:prstDash val="solid"/>
          </a:ln>
        </p:spPr>
      </p:sp>
      <p:sp>
        <p:nvSpPr>
          <p:cNvPr id="88" name="Text 86"/>
          <p:cNvSpPr/>
          <p:nvPr/>
        </p:nvSpPr>
        <p:spPr>
          <a:xfrm>
            <a:off x="2093976" y="3319272"/>
            <a:ext cx="1664208" cy="237744"/>
          </a:xfrm>
          <a:prstGeom prst="rect">
            <a:avLst/>
          </a:prstGeom>
          <a:noFill/>
          <a:ln/>
        </p:spPr>
        <p:txBody>
          <a:bodyPr wrap="square" lIns="0" tIns="0" rIns="0" bIns="0" rtlCol="0" anchor="ctr"/>
          <a:lstStyle/>
          <a:p>
            <a:pPr algn="ctr" indent="0" marL="0">
              <a:buNone/>
            </a:pPr>
            <a:r>
              <a:rPr lang="en-US" sz="950" dirty="0">
                <a:solidFill>
                  <a:srgbClr val="C62828"/>
                </a:solidFill>
                <a:latin typeface="Aptos" pitchFamily="34" charset="0"/>
                <a:ea typeface="Aptos" pitchFamily="34" charset="-122"/>
                <a:cs typeface="Aptos" pitchFamily="34" charset="-120"/>
              </a:rPr>
              <a:t>✗  None</a:t>
            </a:r>
            <a:endParaRPr lang="en-US" sz="950" dirty="0"/>
          </a:p>
        </p:txBody>
      </p:sp>
      <p:sp>
        <p:nvSpPr>
          <p:cNvPr id="89" name="Shape 87"/>
          <p:cNvSpPr/>
          <p:nvPr/>
        </p:nvSpPr>
        <p:spPr>
          <a:xfrm>
            <a:off x="3794760" y="3291840"/>
            <a:ext cx="1600200" cy="292608"/>
          </a:xfrm>
          <a:prstGeom prst="rect">
            <a:avLst/>
          </a:prstGeom>
          <a:solidFill>
            <a:srgbClr val="FFFFFF"/>
          </a:solidFill>
          <a:ln w="6350">
            <a:solidFill>
              <a:srgbClr val="B6BBC0"/>
            </a:solidFill>
            <a:prstDash val="solid"/>
          </a:ln>
        </p:spPr>
      </p:sp>
      <p:sp>
        <p:nvSpPr>
          <p:cNvPr id="90" name="Text 88"/>
          <p:cNvSpPr/>
          <p:nvPr/>
        </p:nvSpPr>
        <p:spPr>
          <a:xfrm>
            <a:off x="3831336" y="3319272"/>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Yes</a:t>
            </a:r>
            <a:endParaRPr lang="en-US" sz="950" dirty="0"/>
          </a:p>
        </p:txBody>
      </p:sp>
      <p:sp>
        <p:nvSpPr>
          <p:cNvPr id="91" name="Shape 89"/>
          <p:cNvSpPr/>
          <p:nvPr/>
        </p:nvSpPr>
        <p:spPr>
          <a:xfrm>
            <a:off x="5394960" y="3291840"/>
            <a:ext cx="1600200" cy="292608"/>
          </a:xfrm>
          <a:prstGeom prst="rect">
            <a:avLst/>
          </a:prstGeom>
          <a:solidFill>
            <a:srgbClr val="FFFFFF"/>
          </a:solidFill>
          <a:ln w="6350">
            <a:solidFill>
              <a:srgbClr val="B6BBC0"/>
            </a:solidFill>
            <a:prstDash val="solid"/>
          </a:ln>
        </p:spPr>
      </p:sp>
      <p:sp>
        <p:nvSpPr>
          <p:cNvPr id="92" name="Text 90"/>
          <p:cNvSpPr/>
          <p:nvPr/>
        </p:nvSpPr>
        <p:spPr>
          <a:xfrm>
            <a:off x="5431536" y="3319272"/>
            <a:ext cx="1527048" cy="237744"/>
          </a:xfrm>
          <a:prstGeom prst="rect">
            <a:avLst/>
          </a:prstGeom>
          <a:noFill/>
          <a:ln/>
        </p:spPr>
        <p:txBody>
          <a:bodyPr wrap="square" lIns="0" tIns="0" rIns="0" bIns="0" rtlCol="0" anchor="ctr"/>
          <a:lstStyle/>
          <a:p>
            <a:pPr algn="ctr" indent="0" marL="0">
              <a:buNone/>
            </a:pPr>
            <a:r>
              <a:rPr lang="en-US" sz="950" dirty="0">
                <a:solidFill>
                  <a:srgbClr val="C62828"/>
                </a:solidFill>
                <a:latin typeface="Aptos" pitchFamily="34" charset="0"/>
                <a:ea typeface="Aptos" pitchFamily="34" charset="-122"/>
                <a:cs typeface="Aptos" pitchFamily="34" charset="-120"/>
              </a:rPr>
              <a:t>✗  Limited</a:t>
            </a:r>
            <a:endParaRPr lang="en-US" sz="950" dirty="0"/>
          </a:p>
        </p:txBody>
      </p:sp>
      <p:sp>
        <p:nvSpPr>
          <p:cNvPr id="93" name="Shape 91"/>
          <p:cNvSpPr/>
          <p:nvPr/>
        </p:nvSpPr>
        <p:spPr>
          <a:xfrm>
            <a:off x="6995160" y="3291840"/>
            <a:ext cx="1691640" cy="292608"/>
          </a:xfrm>
          <a:prstGeom prst="rect">
            <a:avLst/>
          </a:prstGeom>
          <a:solidFill>
            <a:srgbClr val="FFFFFF"/>
          </a:solidFill>
          <a:ln w="6350">
            <a:solidFill>
              <a:srgbClr val="B6BBC0"/>
            </a:solidFill>
            <a:prstDash val="solid"/>
          </a:ln>
        </p:spPr>
      </p:sp>
      <p:sp>
        <p:nvSpPr>
          <p:cNvPr id="94" name="Text 92"/>
          <p:cNvSpPr/>
          <p:nvPr/>
        </p:nvSpPr>
        <p:spPr>
          <a:xfrm>
            <a:off x="7031736" y="3319272"/>
            <a:ext cx="1618488" cy="237744"/>
          </a:xfrm>
          <a:prstGeom prst="rect">
            <a:avLst/>
          </a:prstGeom>
          <a:noFill/>
          <a:ln/>
        </p:spPr>
        <p:txBody>
          <a:bodyPr wrap="square" lIns="0" tIns="0" rIns="0" bIns="0" rtlCol="0" anchor="ctr"/>
          <a:lstStyle/>
          <a:p>
            <a:pPr algn="ctr" indent="0" marL="0">
              <a:buNone/>
            </a:pPr>
            <a:r>
              <a:rPr lang="en-US" sz="950" dirty="0">
                <a:solidFill>
                  <a:srgbClr val="C62828"/>
                </a:solidFill>
                <a:latin typeface="Aptos" pitchFamily="34" charset="0"/>
                <a:ea typeface="Aptos" pitchFamily="34" charset="-122"/>
                <a:cs typeface="Aptos" pitchFamily="34" charset="-120"/>
              </a:rPr>
              <a:t>✗  Limited</a:t>
            </a:r>
            <a:endParaRPr lang="en-US" sz="950" dirty="0"/>
          </a:p>
        </p:txBody>
      </p:sp>
      <p:sp>
        <p:nvSpPr>
          <p:cNvPr id="95" name="Shape 93"/>
          <p:cNvSpPr/>
          <p:nvPr/>
        </p:nvSpPr>
        <p:spPr>
          <a:xfrm>
            <a:off x="228600" y="3584448"/>
            <a:ext cx="1828800" cy="292608"/>
          </a:xfrm>
          <a:prstGeom prst="rect">
            <a:avLst/>
          </a:prstGeom>
          <a:solidFill>
            <a:srgbClr val="E7ECF0"/>
          </a:solidFill>
          <a:ln w="6350">
            <a:solidFill>
              <a:srgbClr val="B6BBC0"/>
            </a:solidFill>
            <a:prstDash val="solid"/>
          </a:ln>
        </p:spPr>
      </p:sp>
      <p:sp>
        <p:nvSpPr>
          <p:cNvPr id="96" name="Text 94"/>
          <p:cNvSpPr/>
          <p:nvPr/>
        </p:nvSpPr>
        <p:spPr>
          <a:xfrm>
            <a:off x="265176" y="3611880"/>
            <a:ext cx="1755648" cy="237744"/>
          </a:xfrm>
          <a:prstGeom prst="rect">
            <a:avLst/>
          </a:prstGeom>
          <a:noFill/>
          <a:ln/>
        </p:spPr>
        <p:txBody>
          <a:bodyPr wrap="square" lIns="0" tIns="0" rIns="0" bIns="0" rtlCol="0" anchor="ctr"/>
          <a:lstStyle/>
          <a:p>
            <a:pPr algn="l" indent="0" marL="0">
              <a:buNone/>
            </a:pPr>
            <a:r>
              <a:rPr lang="en-US" sz="950" b="1" dirty="0">
                <a:solidFill>
                  <a:srgbClr val="575A5D"/>
                </a:solidFill>
                <a:latin typeface="Aptos" pitchFamily="34" charset="0"/>
                <a:ea typeface="Aptos" pitchFamily="34" charset="-122"/>
                <a:cs typeface="Aptos" pitchFamily="34" charset="-120"/>
              </a:rPr>
              <a:t>License cost</a:t>
            </a:r>
            <a:endParaRPr lang="en-US" sz="950" dirty="0"/>
          </a:p>
        </p:txBody>
      </p:sp>
      <p:sp>
        <p:nvSpPr>
          <p:cNvPr id="97" name="Shape 95"/>
          <p:cNvSpPr/>
          <p:nvPr/>
        </p:nvSpPr>
        <p:spPr>
          <a:xfrm>
            <a:off x="2057400" y="3584448"/>
            <a:ext cx="1737360" cy="292608"/>
          </a:xfrm>
          <a:prstGeom prst="rect">
            <a:avLst/>
          </a:prstGeom>
          <a:solidFill>
            <a:srgbClr val="E7ECF0"/>
          </a:solidFill>
          <a:ln w="6350">
            <a:solidFill>
              <a:srgbClr val="B6BBC0"/>
            </a:solidFill>
            <a:prstDash val="solid"/>
          </a:ln>
        </p:spPr>
      </p:sp>
      <p:sp>
        <p:nvSpPr>
          <p:cNvPr id="98" name="Text 96"/>
          <p:cNvSpPr/>
          <p:nvPr/>
        </p:nvSpPr>
        <p:spPr>
          <a:xfrm>
            <a:off x="2093976" y="3611880"/>
            <a:ext cx="166420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Open source</a:t>
            </a:r>
            <a:endParaRPr lang="en-US" sz="950" dirty="0"/>
          </a:p>
        </p:txBody>
      </p:sp>
      <p:sp>
        <p:nvSpPr>
          <p:cNvPr id="99" name="Shape 97"/>
          <p:cNvSpPr/>
          <p:nvPr/>
        </p:nvSpPr>
        <p:spPr>
          <a:xfrm>
            <a:off x="3794760" y="3584448"/>
            <a:ext cx="1600200" cy="292608"/>
          </a:xfrm>
          <a:prstGeom prst="rect">
            <a:avLst/>
          </a:prstGeom>
          <a:solidFill>
            <a:srgbClr val="E7ECF0"/>
          </a:solidFill>
          <a:ln w="6350">
            <a:solidFill>
              <a:srgbClr val="B6BBC0"/>
            </a:solidFill>
            <a:prstDash val="solid"/>
          </a:ln>
        </p:spPr>
      </p:sp>
      <p:sp>
        <p:nvSpPr>
          <p:cNvPr id="100" name="Text 98"/>
          <p:cNvSpPr/>
          <p:nvPr/>
        </p:nvSpPr>
        <p:spPr>
          <a:xfrm>
            <a:off x="3831336" y="3611880"/>
            <a:ext cx="1527048" cy="237744"/>
          </a:xfrm>
          <a:prstGeom prst="rect">
            <a:avLst/>
          </a:prstGeom>
          <a:noFill/>
          <a:ln/>
        </p:spPr>
        <p:txBody>
          <a:bodyPr wrap="square" lIns="0" tIns="0" rIns="0" bIns="0" rtlCol="0" anchor="ctr"/>
          <a:lstStyle/>
          <a:p>
            <a:pPr algn="ctr" indent="0" marL="0">
              <a:buNone/>
            </a:pPr>
            <a:r>
              <a:rPr lang="en-US" sz="950" dirty="0">
                <a:solidFill>
                  <a:srgbClr val="C62828"/>
                </a:solidFill>
                <a:latin typeface="Aptos" pitchFamily="34" charset="0"/>
                <a:ea typeface="Aptos" pitchFamily="34" charset="-122"/>
                <a:cs typeface="Aptos" pitchFamily="34" charset="-120"/>
              </a:rPr>
              <a:t>✗  Commercial</a:t>
            </a:r>
            <a:endParaRPr lang="en-US" sz="950" dirty="0"/>
          </a:p>
        </p:txBody>
      </p:sp>
      <p:sp>
        <p:nvSpPr>
          <p:cNvPr id="101" name="Shape 99"/>
          <p:cNvSpPr/>
          <p:nvPr/>
        </p:nvSpPr>
        <p:spPr>
          <a:xfrm>
            <a:off x="5394960" y="3584448"/>
            <a:ext cx="1600200" cy="292608"/>
          </a:xfrm>
          <a:prstGeom prst="rect">
            <a:avLst/>
          </a:prstGeom>
          <a:solidFill>
            <a:srgbClr val="E7ECF0"/>
          </a:solidFill>
          <a:ln w="6350">
            <a:solidFill>
              <a:srgbClr val="B6BBC0"/>
            </a:solidFill>
            <a:prstDash val="solid"/>
          </a:ln>
        </p:spPr>
      </p:sp>
      <p:sp>
        <p:nvSpPr>
          <p:cNvPr id="102" name="Text 100"/>
          <p:cNvSpPr/>
          <p:nvPr/>
        </p:nvSpPr>
        <p:spPr>
          <a:xfrm>
            <a:off x="5431536" y="3611880"/>
            <a:ext cx="1527048" cy="237744"/>
          </a:xfrm>
          <a:prstGeom prst="rect">
            <a:avLst/>
          </a:prstGeom>
          <a:noFill/>
          <a:ln/>
        </p:spPr>
        <p:txBody>
          <a:bodyPr wrap="square" lIns="0" tIns="0" rIns="0" bIns="0" rtlCol="0" anchor="ctr"/>
          <a:lstStyle/>
          <a:p>
            <a:pPr algn="ctr" indent="0" marL="0">
              <a:buNone/>
            </a:pPr>
            <a:r>
              <a:rPr lang="en-US" sz="950" dirty="0">
                <a:solidFill>
                  <a:srgbClr val="C62828"/>
                </a:solidFill>
                <a:latin typeface="Aptos" pitchFamily="34" charset="0"/>
                <a:ea typeface="Aptos" pitchFamily="34" charset="-122"/>
                <a:cs typeface="Aptos" pitchFamily="34" charset="-120"/>
              </a:rPr>
              <a:t>✗  Commercial</a:t>
            </a:r>
            <a:endParaRPr lang="en-US" sz="950" dirty="0"/>
          </a:p>
        </p:txBody>
      </p:sp>
      <p:sp>
        <p:nvSpPr>
          <p:cNvPr id="103" name="Shape 101"/>
          <p:cNvSpPr/>
          <p:nvPr/>
        </p:nvSpPr>
        <p:spPr>
          <a:xfrm>
            <a:off x="6995160" y="3584448"/>
            <a:ext cx="1691640" cy="292608"/>
          </a:xfrm>
          <a:prstGeom prst="rect">
            <a:avLst/>
          </a:prstGeom>
          <a:solidFill>
            <a:srgbClr val="E7ECF0"/>
          </a:solidFill>
          <a:ln w="6350">
            <a:solidFill>
              <a:srgbClr val="B6BBC0"/>
            </a:solidFill>
            <a:prstDash val="solid"/>
          </a:ln>
        </p:spPr>
      </p:sp>
      <p:sp>
        <p:nvSpPr>
          <p:cNvPr id="104" name="Text 102"/>
          <p:cNvSpPr/>
          <p:nvPr/>
        </p:nvSpPr>
        <p:spPr>
          <a:xfrm>
            <a:off x="7031736" y="3611880"/>
            <a:ext cx="1618488" cy="237744"/>
          </a:xfrm>
          <a:prstGeom prst="rect">
            <a:avLst/>
          </a:prstGeom>
          <a:noFill/>
          <a:ln/>
        </p:spPr>
        <p:txBody>
          <a:bodyPr wrap="square" lIns="0" tIns="0" rIns="0" bIns="0" rtlCol="0" anchor="ctr"/>
          <a:lstStyle/>
          <a:p>
            <a:pPr algn="ctr" indent="0" marL="0">
              <a:buNone/>
            </a:pPr>
            <a:r>
              <a:rPr lang="en-US" sz="950" dirty="0">
                <a:solidFill>
                  <a:srgbClr val="C62828"/>
                </a:solidFill>
                <a:latin typeface="Aptos" pitchFamily="34" charset="0"/>
                <a:ea typeface="Aptos" pitchFamily="34" charset="-122"/>
                <a:cs typeface="Aptos" pitchFamily="34" charset="-120"/>
              </a:rPr>
              <a:t>✗  Commercial</a:t>
            </a:r>
            <a:endParaRPr lang="en-US" sz="950" dirty="0"/>
          </a:p>
        </p:txBody>
      </p:sp>
      <p:sp>
        <p:nvSpPr>
          <p:cNvPr id="105" name="Shape 103"/>
          <p:cNvSpPr/>
          <p:nvPr/>
        </p:nvSpPr>
        <p:spPr>
          <a:xfrm>
            <a:off x="228600" y="3877056"/>
            <a:ext cx="1828800" cy="292608"/>
          </a:xfrm>
          <a:prstGeom prst="rect">
            <a:avLst/>
          </a:prstGeom>
          <a:solidFill>
            <a:srgbClr val="FFFFFF"/>
          </a:solidFill>
          <a:ln w="6350">
            <a:solidFill>
              <a:srgbClr val="B6BBC0"/>
            </a:solidFill>
            <a:prstDash val="solid"/>
          </a:ln>
        </p:spPr>
      </p:sp>
      <p:sp>
        <p:nvSpPr>
          <p:cNvPr id="106" name="Text 104"/>
          <p:cNvSpPr/>
          <p:nvPr/>
        </p:nvSpPr>
        <p:spPr>
          <a:xfrm>
            <a:off x="265176" y="3904488"/>
            <a:ext cx="1755648" cy="237744"/>
          </a:xfrm>
          <a:prstGeom prst="rect">
            <a:avLst/>
          </a:prstGeom>
          <a:noFill/>
          <a:ln/>
        </p:spPr>
        <p:txBody>
          <a:bodyPr wrap="square" lIns="0" tIns="0" rIns="0" bIns="0" rtlCol="0" anchor="ctr"/>
          <a:lstStyle/>
          <a:p>
            <a:pPr algn="l" indent="0" marL="0">
              <a:buNone/>
            </a:pPr>
            <a:r>
              <a:rPr lang="en-US" sz="950" b="1" dirty="0">
                <a:solidFill>
                  <a:srgbClr val="575A5D"/>
                </a:solidFill>
                <a:latin typeface="Aptos" pitchFamily="34" charset="0"/>
                <a:ea typeface="Aptos" pitchFamily="34" charset="-122"/>
                <a:cs typeface="Aptos" pitchFamily="34" charset="-120"/>
              </a:rPr>
              <a:t>Enterprise support SLA</a:t>
            </a:r>
            <a:endParaRPr lang="en-US" sz="950" dirty="0"/>
          </a:p>
        </p:txBody>
      </p:sp>
      <p:sp>
        <p:nvSpPr>
          <p:cNvPr id="107" name="Shape 105"/>
          <p:cNvSpPr/>
          <p:nvPr/>
        </p:nvSpPr>
        <p:spPr>
          <a:xfrm>
            <a:off x="2057400" y="3877056"/>
            <a:ext cx="1737360" cy="292608"/>
          </a:xfrm>
          <a:prstGeom prst="rect">
            <a:avLst/>
          </a:prstGeom>
          <a:solidFill>
            <a:srgbClr val="FFFFFF"/>
          </a:solidFill>
          <a:ln w="6350">
            <a:solidFill>
              <a:srgbClr val="B6BBC0"/>
            </a:solidFill>
            <a:prstDash val="solid"/>
          </a:ln>
        </p:spPr>
      </p:sp>
      <p:sp>
        <p:nvSpPr>
          <p:cNvPr id="108" name="Text 106"/>
          <p:cNvSpPr/>
          <p:nvPr/>
        </p:nvSpPr>
        <p:spPr>
          <a:xfrm>
            <a:off x="2093976" y="3904488"/>
            <a:ext cx="1664208" cy="237744"/>
          </a:xfrm>
          <a:prstGeom prst="rect">
            <a:avLst/>
          </a:prstGeom>
          <a:noFill/>
          <a:ln/>
        </p:spPr>
        <p:txBody>
          <a:bodyPr wrap="square" lIns="0" tIns="0" rIns="0" bIns="0" rtlCol="0" anchor="ctr"/>
          <a:lstStyle/>
          <a:p>
            <a:pPr algn="ctr" indent="0" marL="0">
              <a:buNone/>
            </a:pPr>
            <a:r>
              <a:rPr lang="en-US" sz="950" dirty="0">
                <a:solidFill>
                  <a:srgbClr val="C62828"/>
                </a:solidFill>
                <a:latin typeface="Aptos" pitchFamily="34" charset="0"/>
                <a:ea typeface="Aptos" pitchFamily="34" charset="-122"/>
                <a:cs typeface="Aptos" pitchFamily="34" charset="-120"/>
              </a:rPr>
              <a:t>✗  Community only</a:t>
            </a:r>
            <a:endParaRPr lang="en-US" sz="950" dirty="0"/>
          </a:p>
        </p:txBody>
      </p:sp>
      <p:sp>
        <p:nvSpPr>
          <p:cNvPr id="109" name="Shape 107"/>
          <p:cNvSpPr/>
          <p:nvPr/>
        </p:nvSpPr>
        <p:spPr>
          <a:xfrm>
            <a:off x="3794760" y="3877056"/>
            <a:ext cx="1600200" cy="292608"/>
          </a:xfrm>
          <a:prstGeom prst="rect">
            <a:avLst/>
          </a:prstGeom>
          <a:solidFill>
            <a:srgbClr val="FFFFFF"/>
          </a:solidFill>
          <a:ln w="6350">
            <a:solidFill>
              <a:srgbClr val="B6BBC0"/>
            </a:solidFill>
            <a:prstDash val="solid"/>
          </a:ln>
        </p:spPr>
      </p:sp>
      <p:sp>
        <p:nvSpPr>
          <p:cNvPr id="110" name="Text 108"/>
          <p:cNvSpPr/>
          <p:nvPr/>
        </p:nvSpPr>
        <p:spPr>
          <a:xfrm>
            <a:off x="3831336" y="3904488"/>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IBM support</a:t>
            </a:r>
            <a:endParaRPr lang="en-US" sz="950" dirty="0"/>
          </a:p>
        </p:txBody>
      </p:sp>
      <p:sp>
        <p:nvSpPr>
          <p:cNvPr id="111" name="Shape 109"/>
          <p:cNvSpPr/>
          <p:nvPr/>
        </p:nvSpPr>
        <p:spPr>
          <a:xfrm>
            <a:off x="5394960" y="3877056"/>
            <a:ext cx="1600200" cy="292608"/>
          </a:xfrm>
          <a:prstGeom prst="rect">
            <a:avLst/>
          </a:prstGeom>
          <a:solidFill>
            <a:srgbClr val="FFFFFF"/>
          </a:solidFill>
          <a:ln w="6350">
            <a:solidFill>
              <a:srgbClr val="B6BBC0"/>
            </a:solidFill>
            <a:prstDash val="solid"/>
          </a:ln>
        </p:spPr>
      </p:sp>
      <p:sp>
        <p:nvSpPr>
          <p:cNvPr id="112" name="Text 110"/>
          <p:cNvSpPr/>
          <p:nvPr/>
        </p:nvSpPr>
        <p:spPr>
          <a:xfrm>
            <a:off x="5431536" y="3904488"/>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Vendor SLA</a:t>
            </a:r>
            <a:endParaRPr lang="en-US" sz="950" dirty="0"/>
          </a:p>
        </p:txBody>
      </p:sp>
      <p:sp>
        <p:nvSpPr>
          <p:cNvPr id="113" name="Shape 111"/>
          <p:cNvSpPr/>
          <p:nvPr/>
        </p:nvSpPr>
        <p:spPr>
          <a:xfrm>
            <a:off x="6995160" y="3877056"/>
            <a:ext cx="1691640" cy="292608"/>
          </a:xfrm>
          <a:prstGeom prst="rect">
            <a:avLst/>
          </a:prstGeom>
          <a:solidFill>
            <a:srgbClr val="FFFFFF"/>
          </a:solidFill>
          <a:ln w="6350">
            <a:solidFill>
              <a:srgbClr val="B6BBC0"/>
            </a:solidFill>
            <a:prstDash val="solid"/>
          </a:ln>
        </p:spPr>
      </p:sp>
      <p:sp>
        <p:nvSpPr>
          <p:cNvPr id="114" name="Text 112"/>
          <p:cNvSpPr/>
          <p:nvPr/>
        </p:nvSpPr>
        <p:spPr>
          <a:xfrm>
            <a:off x="7031736" y="3904488"/>
            <a:ext cx="161848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Vendor SLA</a:t>
            </a:r>
            <a:endParaRPr lang="en-US" sz="950" dirty="0"/>
          </a:p>
        </p:txBody>
      </p:sp>
      <p:sp>
        <p:nvSpPr>
          <p:cNvPr id="115" name="Shape 113"/>
          <p:cNvSpPr/>
          <p:nvPr/>
        </p:nvSpPr>
        <p:spPr>
          <a:xfrm>
            <a:off x="228600" y="4169664"/>
            <a:ext cx="1828800" cy="292608"/>
          </a:xfrm>
          <a:prstGeom prst="rect">
            <a:avLst/>
          </a:prstGeom>
          <a:solidFill>
            <a:srgbClr val="E7ECF0"/>
          </a:solidFill>
          <a:ln w="6350">
            <a:solidFill>
              <a:srgbClr val="B6BBC0"/>
            </a:solidFill>
            <a:prstDash val="solid"/>
          </a:ln>
        </p:spPr>
      </p:sp>
      <p:sp>
        <p:nvSpPr>
          <p:cNvPr id="116" name="Text 114"/>
          <p:cNvSpPr/>
          <p:nvPr/>
        </p:nvSpPr>
        <p:spPr>
          <a:xfrm>
            <a:off x="265176" y="4197096"/>
            <a:ext cx="1755648" cy="237744"/>
          </a:xfrm>
          <a:prstGeom prst="rect">
            <a:avLst/>
          </a:prstGeom>
          <a:noFill/>
          <a:ln/>
        </p:spPr>
        <p:txBody>
          <a:bodyPr wrap="square" lIns="0" tIns="0" rIns="0" bIns="0" rtlCol="0" anchor="ctr"/>
          <a:lstStyle/>
          <a:p>
            <a:pPr algn="l" indent="0" marL="0">
              <a:buNone/>
            </a:pPr>
            <a:r>
              <a:rPr lang="en-US" sz="950" b="1" dirty="0">
                <a:solidFill>
                  <a:srgbClr val="575A5D"/>
                </a:solidFill>
                <a:latin typeface="Aptos" pitchFamily="34" charset="0"/>
                <a:ea typeface="Aptos" pitchFamily="34" charset="-122"/>
                <a:cs typeface="Aptos" pitchFamily="34" charset="-120"/>
              </a:rPr>
              <a:t>Cloud-native deployment</a:t>
            </a:r>
            <a:endParaRPr lang="en-US" sz="950" dirty="0"/>
          </a:p>
        </p:txBody>
      </p:sp>
      <p:sp>
        <p:nvSpPr>
          <p:cNvPr id="117" name="Shape 115"/>
          <p:cNvSpPr/>
          <p:nvPr/>
        </p:nvSpPr>
        <p:spPr>
          <a:xfrm>
            <a:off x="2057400" y="4169664"/>
            <a:ext cx="1737360" cy="292608"/>
          </a:xfrm>
          <a:prstGeom prst="rect">
            <a:avLst/>
          </a:prstGeom>
          <a:solidFill>
            <a:srgbClr val="E7ECF0"/>
          </a:solidFill>
          <a:ln w="6350">
            <a:solidFill>
              <a:srgbClr val="B6BBC0"/>
            </a:solidFill>
            <a:prstDash val="solid"/>
          </a:ln>
        </p:spPr>
      </p:sp>
      <p:sp>
        <p:nvSpPr>
          <p:cNvPr id="118" name="Text 116"/>
          <p:cNvSpPr/>
          <p:nvPr/>
        </p:nvSpPr>
        <p:spPr>
          <a:xfrm>
            <a:off x="2093976" y="4197096"/>
            <a:ext cx="1664208" cy="237744"/>
          </a:xfrm>
          <a:prstGeom prst="rect">
            <a:avLst/>
          </a:prstGeom>
          <a:noFill/>
          <a:ln/>
        </p:spPr>
        <p:txBody>
          <a:bodyPr wrap="square" lIns="0" tIns="0" rIns="0" bIns="0" rtlCol="0" anchor="ctr"/>
          <a:lstStyle/>
          <a:p>
            <a:pPr algn="ctr" indent="0" marL="0">
              <a:buNone/>
            </a:pPr>
            <a:r>
              <a:rPr lang="en-US" sz="950" dirty="0">
                <a:solidFill>
                  <a:srgbClr val="E65100"/>
                </a:solidFill>
                <a:latin typeface="Aptos" pitchFamily="34" charset="0"/>
                <a:ea typeface="Aptos" pitchFamily="34" charset="-122"/>
                <a:cs typeface="Aptos" pitchFamily="34" charset="-120"/>
              </a:rPr>
              <a:t>~  Infra required</a:t>
            </a:r>
            <a:endParaRPr lang="en-US" sz="950" dirty="0"/>
          </a:p>
        </p:txBody>
      </p:sp>
      <p:sp>
        <p:nvSpPr>
          <p:cNvPr id="119" name="Shape 117"/>
          <p:cNvSpPr/>
          <p:nvPr/>
        </p:nvSpPr>
        <p:spPr>
          <a:xfrm>
            <a:off x="3794760" y="4169664"/>
            <a:ext cx="1600200" cy="292608"/>
          </a:xfrm>
          <a:prstGeom prst="rect">
            <a:avLst/>
          </a:prstGeom>
          <a:solidFill>
            <a:srgbClr val="E7ECF0"/>
          </a:solidFill>
          <a:ln w="6350">
            <a:solidFill>
              <a:srgbClr val="B6BBC0"/>
            </a:solidFill>
            <a:prstDash val="solid"/>
          </a:ln>
        </p:spPr>
      </p:sp>
      <p:sp>
        <p:nvSpPr>
          <p:cNvPr id="120" name="Text 118"/>
          <p:cNvSpPr/>
          <p:nvPr/>
        </p:nvSpPr>
        <p:spPr>
          <a:xfrm>
            <a:off x="3831336" y="4197096"/>
            <a:ext cx="1527048" cy="237744"/>
          </a:xfrm>
          <a:prstGeom prst="rect">
            <a:avLst/>
          </a:prstGeom>
          <a:noFill/>
          <a:ln/>
        </p:spPr>
        <p:txBody>
          <a:bodyPr wrap="square" lIns="0" tIns="0" rIns="0" bIns="0" rtlCol="0" anchor="ctr"/>
          <a:lstStyle/>
          <a:p>
            <a:pPr algn="ctr" indent="0" marL="0">
              <a:buNone/>
            </a:pPr>
            <a:r>
              <a:rPr lang="en-US" sz="950" dirty="0">
                <a:solidFill>
                  <a:srgbClr val="E65100"/>
                </a:solidFill>
                <a:latin typeface="Aptos" pitchFamily="34" charset="0"/>
                <a:ea typeface="Aptos" pitchFamily="34" charset="-122"/>
                <a:cs typeface="Aptos" pitchFamily="34" charset="-120"/>
              </a:rPr>
              <a:t>~  On-prem primary</a:t>
            </a:r>
            <a:endParaRPr lang="en-US" sz="950" dirty="0"/>
          </a:p>
        </p:txBody>
      </p:sp>
      <p:sp>
        <p:nvSpPr>
          <p:cNvPr id="121" name="Shape 119"/>
          <p:cNvSpPr/>
          <p:nvPr/>
        </p:nvSpPr>
        <p:spPr>
          <a:xfrm>
            <a:off x="5394960" y="4169664"/>
            <a:ext cx="1600200" cy="292608"/>
          </a:xfrm>
          <a:prstGeom prst="rect">
            <a:avLst/>
          </a:prstGeom>
          <a:solidFill>
            <a:srgbClr val="E7ECF0"/>
          </a:solidFill>
          <a:ln w="6350">
            <a:solidFill>
              <a:srgbClr val="B6BBC0"/>
            </a:solidFill>
            <a:prstDash val="solid"/>
          </a:ln>
        </p:spPr>
      </p:sp>
      <p:sp>
        <p:nvSpPr>
          <p:cNvPr id="122" name="Text 120"/>
          <p:cNvSpPr/>
          <p:nvPr/>
        </p:nvSpPr>
        <p:spPr>
          <a:xfrm>
            <a:off x="5431536" y="4197096"/>
            <a:ext cx="1527048" cy="237744"/>
          </a:xfrm>
          <a:prstGeom prst="rect">
            <a:avLst/>
          </a:prstGeom>
          <a:noFill/>
          <a:ln/>
        </p:spPr>
        <p:txBody>
          <a:bodyPr wrap="square" lIns="0" tIns="0" rIns="0" bIns="0" rtlCol="0" anchor="ctr"/>
          <a:lstStyle/>
          <a:p>
            <a:pPr algn="ctr" indent="0" marL="0">
              <a:buNone/>
            </a:pPr>
            <a:r>
              <a:rPr lang="en-US" sz="950" dirty="0">
                <a:solidFill>
                  <a:srgbClr val="2E7D32"/>
                </a:solidFill>
                <a:latin typeface="Aptos" pitchFamily="34" charset="0"/>
                <a:ea typeface="Aptos" pitchFamily="34" charset="-122"/>
                <a:cs typeface="Aptos" pitchFamily="34" charset="-120"/>
              </a:rPr>
              <a:t>✓  SaaS available</a:t>
            </a:r>
            <a:endParaRPr lang="en-US" sz="950" dirty="0"/>
          </a:p>
        </p:txBody>
      </p:sp>
      <p:sp>
        <p:nvSpPr>
          <p:cNvPr id="123" name="Shape 121"/>
          <p:cNvSpPr/>
          <p:nvPr/>
        </p:nvSpPr>
        <p:spPr>
          <a:xfrm>
            <a:off x="6995160" y="4169664"/>
            <a:ext cx="1691640" cy="292608"/>
          </a:xfrm>
          <a:prstGeom prst="rect">
            <a:avLst/>
          </a:prstGeom>
          <a:solidFill>
            <a:srgbClr val="E7ECF0"/>
          </a:solidFill>
          <a:ln w="6350">
            <a:solidFill>
              <a:srgbClr val="B6BBC0"/>
            </a:solidFill>
            <a:prstDash val="solid"/>
          </a:ln>
        </p:spPr>
      </p:sp>
      <p:sp>
        <p:nvSpPr>
          <p:cNvPr id="124" name="Text 122"/>
          <p:cNvSpPr/>
          <p:nvPr/>
        </p:nvSpPr>
        <p:spPr>
          <a:xfrm>
            <a:off x="7031736" y="4197096"/>
            <a:ext cx="1618488" cy="237744"/>
          </a:xfrm>
          <a:prstGeom prst="rect">
            <a:avLst/>
          </a:prstGeom>
          <a:noFill/>
          <a:ln/>
        </p:spPr>
        <p:txBody>
          <a:bodyPr wrap="square" lIns="0" tIns="0" rIns="0" bIns="0" rtlCol="0" anchor="ctr"/>
          <a:lstStyle/>
          <a:p>
            <a:pPr algn="ctr" indent="0" marL="0">
              <a:buNone/>
            </a:pPr>
            <a:r>
              <a:rPr lang="en-US" sz="950" dirty="0">
                <a:solidFill>
                  <a:srgbClr val="E65100"/>
                </a:solidFill>
                <a:latin typeface="Aptos" pitchFamily="34" charset="0"/>
                <a:ea typeface="Aptos" pitchFamily="34" charset="-122"/>
                <a:cs typeface="Aptos" pitchFamily="34" charset="-120"/>
              </a:rPr>
              <a:t>~  On-prem / cloud</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What Operations Actually Has to Do</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Shape 3"/>
          <p:cNvSpPr/>
          <p:nvPr/>
        </p:nvSpPr>
        <p:spPr>
          <a:xfrm>
            <a:off x="256032" y="841248"/>
            <a:ext cx="8631936" cy="292608"/>
          </a:xfrm>
          <a:prstGeom prst="rect">
            <a:avLst/>
          </a:prstGeom>
          <a:solidFill>
            <a:srgbClr val="085CE5">
              <a:alpha val="10000"/>
            </a:srgbClr>
          </a:solidFill>
          <a:ln w="12700">
            <a:solidFill>
              <a:srgbClr val="085CE5"/>
            </a:solidFill>
            <a:prstDash val="solid"/>
          </a:ln>
        </p:spPr>
      </p:sp>
      <p:sp>
        <p:nvSpPr>
          <p:cNvPr id="6" name="Text 4"/>
          <p:cNvSpPr/>
          <p:nvPr/>
        </p:nvSpPr>
        <p:spPr>
          <a:xfrm>
            <a:off x="320040" y="841248"/>
            <a:ext cx="8503920" cy="292608"/>
          </a:xfrm>
          <a:prstGeom prst="rect">
            <a:avLst/>
          </a:prstGeom>
          <a:noFill/>
          <a:ln/>
        </p:spPr>
        <p:txBody>
          <a:bodyPr wrap="square" lIns="25400" tIns="25400" rIns="25400" bIns="25400" rtlCol="0" anchor="ctr"/>
          <a:lstStyle/>
          <a:p>
            <a:pPr indent="0" marL="0">
              <a:buNone/>
            </a:pPr>
            <a:r>
              <a:rPr lang="en-US" sz="1000" b="1" i="1" dirty="0">
                <a:solidFill>
                  <a:srgbClr val="06185F"/>
                </a:solidFill>
                <a:latin typeface="Aptos" pitchFamily="34" charset="0"/>
                <a:ea typeface="Aptos" pitchFamily="34" charset="-122"/>
                <a:cs typeface="Aptos" pitchFamily="34" charset="-120"/>
              </a:rPr>
              <a:t>Enterprise CDC tools require LESS ongoing DBA effort on SQL Server than native CDC — they remove the SQL Server Agent dependency entirely.</a:t>
            </a:r>
            <a:endParaRPr lang="en-US" sz="1000" dirty="0"/>
          </a:p>
        </p:txBody>
      </p:sp>
      <p:sp>
        <p:nvSpPr>
          <p:cNvPr id="7" name="Shape 5"/>
          <p:cNvSpPr/>
          <p:nvPr/>
        </p:nvSpPr>
        <p:spPr>
          <a:xfrm>
            <a:off x="228600" y="1152144"/>
            <a:ext cx="1828800" cy="365760"/>
          </a:xfrm>
          <a:prstGeom prst="rect">
            <a:avLst/>
          </a:prstGeom>
          <a:solidFill>
            <a:srgbClr val="37474F"/>
          </a:solidFill>
          <a:ln w="12700">
            <a:solidFill>
              <a:srgbClr val="37474F"/>
            </a:solidFill>
            <a:prstDash val="solid"/>
          </a:ln>
        </p:spPr>
      </p:sp>
      <p:sp>
        <p:nvSpPr>
          <p:cNvPr id="8" name="Text 6"/>
          <p:cNvSpPr/>
          <p:nvPr/>
        </p:nvSpPr>
        <p:spPr>
          <a:xfrm>
            <a:off x="274320" y="1152144"/>
            <a:ext cx="1737360" cy="365760"/>
          </a:xfrm>
          <a:prstGeom prst="rect">
            <a:avLst/>
          </a:prstGeom>
          <a:noFill/>
          <a:ln/>
        </p:spPr>
        <p:txBody>
          <a:bodyPr wrap="square" lIns="25400" tIns="25400" rIns="25400" bIns="25400" rtlCol="0" anchor="ctr"/>
          <a:lstStyle/>
          <a:p>
            <a:pPr indent="0" marL="0">
              <a:buNone/>
            </a:pPr>
            <a:r>
              <a:rPr lang="en-US" sz="1000" b="1" dirty="0">
                <a:solidFill>
                  <a:srgbClr val="FFFFFF"/>
                </a:solidFill>
                <a:latin typeface="Aptos Display" pitchFamily="34" charset="0"/>
                <a:ea typeface="Aptos Display" pitchFamily="34" charset="-122"/>
                <a:cs typeface="Aptos Display" pitchFamily="34" charset="-120"/>
              </a:rPr>
              <a:t>Requirement</a:t>
            </a:r>
            <a:endParaRPr lang="en-US" sz="1000" dirty="0"/>
          </a:p>
        </p:txBody>
      </p:sp>
      <p:sp>
        <p:nvSpPr>
          <p:cNvPr id="9" name="Shape 7"/>
          <p:cNvSpPr/>
          <p:nvPr/>
        </p:nvSpPr>
        <p:spPr>
          <a:xfrm>
            <a:off x="2057400" y="1152144"/>
            <a:ext cx="1719072" cy="365760"/>
          </a:xfrm>
          <a:prstGeom prst="rect">
            <a:avLst/>
          </a:prstGeom>
          <a:solidFill>
            <a:srgbClr val="6A1B9A"/>
          </a:solidFill>
          <a:ln w="12700">
            <a:solidFill>
              <a:srgbClr val="6A1B9A"/>
            </a:solidFill>
            <a:prstDash val="solid"/>
          </a:ln>
        </p:spPr>
      </p:sp>
      <p:sp>
        <p:nvSpPr>
          <p:cNvPr id="10" name="Text 8"/>
          <p:cNvSpPr/>
          <p:nvPr/>
        </p:nvSpPr>
        <p:spPr>
          <a:xfrm>
            <a:off x="2084832" y="1152144"/>
            <a:ext cx="1664208" cy="36576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Aptos Display" pitchFamily="34" charset="0"/>
                <a:ea typeface="Aptos Display" pitchFamily="34" charset="-122"/>
                <a:cs typeface="Aptos Display" pitchFamily="34" charset="-120"/>
              </a:rPr>
              <a:t>Native CDC</a:t>
            </a:r>
            <a:endParaRPr lang="en-US" sz="950" dirty="0"/>
          </a:p>
          <a:p>
            <a:pPr algn="ctr" indent="0" marL="0">
              <a:buNone/>
            </a:pPr>
            <a:r>
              <a:rPr lang="en-US" sz="950" b="1" dirty="0">
                <a:solidFill>
                  <a:srgbClr val="FFFFFF"/>
                </a:solidFill>
                <a:latin typeface="Aptos Display" pitchFamily="34" charset="0"/>
                <a:ea typeface="Aptos Display" pitchFamily="34" charset="-122"/>
                <a:cs typeface="Aptos Display" pitchFamily="34" charset="-120"/>
              </a:rPr>
              <a:t>+ Debezium</a:t>
            </a:r>
            <a:endParaRPr lang="en-US" sz="950" dirty="0"/>
          </a:p>
        </p:txBody>
      </p:sp>
      <p:sp>
        <p:nvSpPr>
          <p:cNvPr id="11" name="Shape 9"/>
          <p:cNvSpPr/>
          <p:nvPr/>
        </p:nvSpPr>
        <p:spPr>
          <a:xfrm>
            <a:off x="3776472" y="1152144"/>
            <a:ext cx="1719072" cy="365760"/>
          </a:xfrm>
          <a:prstGeom prst="rect">
            <a:avLst/>
          </a:prstGeom>
          <a:solidFill>
            <a:srgbClr val="1565C0"/>
          </a:solidFill>
          <a:ln w="12700">
            <a:solidFill>
              <a:srgbClr val="1565C0"/>
            </a:solidFill>
            <a:prstDash val="solid"/>
          </a:ln>
        </p:spPr>
      </p:sp>
      <p:sp>
        <p:nvSpPr>
          <p:cNvPr id="12" name="Text 10"/>
          <p:cNvSpPr/>
          <p:nvPr/>
        </p:nvSpPr>
        <p:spPr>
          <a:xfrm>
            <a:off x="3803904" y="1152144"/>
            <a:ext cx="1664208" cy="36576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Aptos Display" pitchFamily="34" charset="0"/>
                <a:ea typeface="Aptos Display" pitchFamily="34" charset="-122"/>
                <a:cs typeface="Aptos Display" pitchFamily="34" charset="-120"/>
              </a:rPr>
              <a:t>IBM IIDR</a:t>
            </a:r>
            <a:endParaRPr lang="en-US" sz="950" dirty="0"/>
          </a:p>
        </p:txBody>
      </p:sp>
      <p:sp>
        <p:nvSpPr>
          <p:cNvPr id="13" name="Shape 11"/>
          <p:cNvSpPr/>
          <p:nvPr/>
        </p:nvSpPr>
        <p:spPr>
          <a:xfrm>
            <a:off x="5495544" y="1152144"/>
            <a:ext cx="1719072" cy="365760"/>
          </a:xfrm>
          <a:prstGeom prst="rect">
            <a:avLst/>
          </a:prstGeom>
          <a:solidFill>
            <a:srgbClr val="2E7D32"/>
          </a:solidFill>
          <a:ln w="12700">
            <a:solidFill>
              <a:srgbClr val="2E7D32"/>
            </a:solidFill>
            <a:prstDash val="solid"/>
          </a:ln>
        </p:spPr>
      </p:sp>
      <p:sp>
        <p:nvSpPr>
          <p:cNvPr id="14" name="Text 12"/>
          <p:cNvSpPr/>
          <p:nvPr/>
        </p:nvSpPr>
        <p:spPr>
          <a:xfrm>
            <a:off x="5522976" y="1152144"/>
            <a:ext cx="1664208" cy="36576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Aptos Display" pitchFamily="34" charset="0"/>
                <a:ea typeface="Aptos Display" pitchFamily="34" charset="-122"/>
                <a:cs typeface="Aptos Display" pitchFamily="34" charset="-120"/>
              </a:rPr>
              <a:t>Striim</a:t>
            </a:r>
            <a:endParaRPr lang="en-US" sz="950" dirty="0"/>
          </a:p>
        </p:txBody>
      </p:sp>
      <p:sp>
        <p:nvSpPr>
          <p:cNvPr id="15" name="Shape 13"/>
          <p:cNvSpPr/>
          <p:nvPr/>
        </p:nvSpPr>
        <p:spPr>
          <a:xfrm>
            <a:off x="7214616" y="1152144"/>
            <a:ext cx="1719072" cy="365760"/>
          </a:xfrm>
          <a:prstGeom prst="rect">
            <a:avLst/>
          </a:prstGeom>
          <a:solidFill>
            <a:srgbClr val="00796B"/>
          </a:solidFill>
          <a:ln w="12700">
            <a:solidFill>
              <a:srgbClr val="00796B"/>
            </a:solidFill>
            <a:prstDash val="solid"/>
          </a:ln>
        </p:spPr>
      </p:sp>
      <p:sp>
        <p:nvSpPr>
          <p:cNvPr id="16" name="Text 14"/>
          <p:cNvSpPr/>
          <p:nvPr/>
        </p:nvSpPr>
        <p:spPr>
          <a:xfrm>
            <a:off x="7242048" y="1152144"/>
            <a:ext cx="1664208" cy="36576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Aptos Display" pitchFamily="34" charset="0"/>
                <a:ea typeface="Aptos Display" pitchFamily="34" charset="-122"/>
                <a:cs typeface="Aptos Display" pitchFamily="34" charset="-120"/>
              </a:rPr>
              <a:t>Qlik Replicate</a:t>
            </a:r>
            <a:endParaRPr lang="en-US" sz="950" dirty="0"/>
          </a:p>
        </p:txBody>
      </p:sp>
      <p:sp>
        <p:nvSpPr>
          <p:cNvPr id="17" name="Shape 15"/>
          <p:cNvSpPr/>
          <p:nvPr/>
        </p:nvSpPr>
        <p:spPr>
          <a:xfrm>
            <a:off x="228600" y="1517904"/>
            <a:ext cx="1828800" cy="640080"/>
          </a:xfrm>
          <a:prstGeom prst="rect">
            <a:avLst/>
          </a:prstGeom>
          <a:solidFill>
            <a:srgbClr val="37474F"/>
          </a:solidFill>
          <a:ln w="6350">
            <a:solidFill>
              <a:srgbClr val="B6BBC0"/>
            </a:solidFill>
            <a:prstDash val="solid"/>
          </a:ln>
        </p:spPr>
      </p:sp>
      <p:sp>
        <p:nvSpPr>
          <p:cNvPr id="18" name="Text 16"/>
          <p:cNvSpPr/>
          <p:nvPr/>
        </p:nvSpPr>
        <p:spPr>
          <a:xfrm>
            <a:off x="283464" y="1591056"/>
            <a:ext cx="1719072" cy="493776"/>
          </a:xfrm>
          <a:prstGeom prst="rect">
            <a:avLst/>
          </a:prstGeom>
          <a:noFill/>
          <a:ln/>
        </p:spPr>
        <p:txBody>
          <a:bodyPr wrap="square" lIns="0" tIns="0" rIns="0" bIns="0" rtlCol="0" anchor="ctr"/>
          <a:lstStyle/>
          <a:p>
            <a:pPr indent="0" marL="0">
              <a:buNone/>
            </a:pPr>
            <a:r>
              <a:rPr lang="en-US" sz="1000" b="1" dirty="0">
                <a:solidFill>
                  <a:srgbClr val="FFFFFF"/>
                </a:solidFill>
                <a:latin typeface="Aptos Display" pitchFamily="34" charset="0"/>
                <a:ea typeface="Aptos Display" pitchFamily="34" charset="-122"/>
                <a:cs typeface="Aptos Display" pitchFamily="34" charset="-120"/>
              </a:rPr>
              <a:t>SQL Server</a:t>
            </a:r>
            <a:endParaRPr lang="en-US" sz="1000" dirty="0"/>
          </a:p>
          <a:p>
            <a:pPr indent="0" marL="0">
              <a:buNone/>
            </a:pPr>
            <a:r>
              <a:rPr lang="en-US" sz="1000" b="1" dirty="0">
                <a:solidFill>
                  <a:srgbClr val="FFFFFF"/>
                </a:solidFill>
                <a:latin typeface="Aptos Display" pitchFamily="34" charset="0"/>
                <a:ea typeface="Aptos Display" pitchFamily="34" charset="-122"/>
                <a:cs typeface="Aptos Display" pitchFamily="34" charset="-120"/>
              </a:rPr>
              <a:t>Config Required</a:t>
            </a:r>
            <a:endParaRPr lang="en-US" sz="1000" dirty="0"/>
          </a:p>
        </p:txBody>
      </p:sp>
      <p:sp>
        <p:nvSpPr>
          <p:cNvPr id="19" name="Shape 17"/>
          <p:cNvSpPr/>
          <p:nvPr/>
        </p:nvSpPr>
        <p:spPr>
          <a:xfrm>
            <a:off x="2057400" y="1517904"/>
            <a:ext cx="1719072" cy="640080"/>
          </a:xfrm>
          <a:prstGeom prst="rect">
            <a:avLst/>
          </a:prstGeom>
          <a:solidFill>
            <a:srgbClr val="E7ECF0"/>
          </a:solidFill>
          <a:ln w="6350">
            <a:solidFill>
              <a:srgbClr val="B6BBC0"/>
            </a:solidFill>
            <a:prstDash val="solid"/>
          </a:ln>
        </p:spPr>
      </p:sp>
      <p:sp>
        <p:nvSpPr>
          <p:cNvPr id="20" name="Shape 18"/>
          <p:cNvSpPr/>
          <p:nvPr/>
        </p:nvSpPr>
        <p:spPr>
          <a:xfrm>
            <a:off x="2130552" y="1609344"/>
            <a:ext cx="128016" cy="128016"/>
          </a:xfrm>
          <a:prstGeom prst="ellipse">
            <a:avLst/>
          </a:prstGeom>
          <a:solidFill>
            <a:srgbClr val="C62828"/>
          </a:solidFill>
          <a:ln w="12700">
            <a:solidFill>
              <a:srgbClr val="C62828"/>
            </a:solidFill>
            <a:prstDash val="solid"/>
          </a:ln>
        </p:spPr>
      </p:sp>
      <p:sp>
        <p:nvSpPr>
          <p:cNvPr id="21" name="Text 19"/>
          <p:cNvSpPr/>
          <p:nvPr/>
        </p:nvSpPr>
        <p:spPr>
          <a:xfrm>
            <a:off x="2295144" y="157276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ALTER DATABASE to enable CDC; sp_cdc_enable_table per table; SQL Agent must be running</a:t>
            </a:r>
            <a:endParaRPr lang="en-US" sz="900" dirty="0"/>
          </a:p>
        </p:txBody>
      </p:sp>
      <p:sp>
        <p:nvSpPr>
          <p:cNvPr id="22" name="Shape 20"/>
          <p:cNvSpPr/>
          <p:nvPr/>
        </p:nvSpPr>
        <p:spPr>
          <a:xfrm>
            <a:off x="3776472" y="1517904"/>
            <a:ext cx="1719072" cy="640080"/>
          </a:xfrm>
          <a:prstGeom prst="rect">
            <a:avLst/>
          </a:prstGeom>
          <a:solidFill>
            <a:srgbClr val="E7ECF0"/>
          </a:solidFill>
          <a:ln w="6350">
            <a:solidFill>
              <a:srgbClr val="B6BBC0"/>
            </a:solidFill>
            <a:prstDash val="solid"/>
          </a:ln>
        </p:spPr>
      </p:sp>
      <p:sp>
        <p:nvSpPr>
          <p:cNvPr id="23" name="Shape 21"/>
          <p:cNvSpPr/>
          <p:nvPr/>
        </p:nvSpPr>
        <p:spPr>
          <a:xfrm>
            <a:off x="3849624" y="1609344"/>
            <a:ext cx="128016" cy="128016"/>
          </a:xfrm>
          <a:prstGeom prst="ellipse">
            <a:avLst/>
          </a:prstGeom>
          <a:solidFill>
            <a:srgbClr val="2E7D32"/>
          </a:solidFill>
          <a:ln w="12700">
            <a:solidFill>
              <a:srgbClr val="2E7D32"/>
            </a:solidFill>
            <a:prstDash val="solid"/>
          </a:ln>
        </p:spPr>
      </p:sp>
      <p:sp>
        <p:nvSpPr>
          <p:cNvPr id="24" name="Text 22"/>
          <p:cNvSpPr/>
          <p:nvPr/>
        </p:nvSpPr>
        <p:spPr>
          <a:xfrm>
            <a:off x="4014216" y="157276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Grant log-read permissions only. No CDC tables, no Agent jobs needed.</a:t>
            </a:r>
            <a:endParaRPr lang="en-US" sz="900" dirty="0"/>
          </a:p>
        </p:txBody>
      </p:sp>
      <p:sp>
        <p:nvSpPr>
          <p:cNvPr id="25" name="Shape 23"/>
          <p:cNvSpPr/>
          <p:nvPr/>
        </p:nvSpPr>
        <p:spPr>
          <a:xfrm>
            <a:off x="5495544" y="1517904"/>
            <a:ext cx="1719072" cy="640080"/>
          </a:xfrm>
          <a:prstGeom prst="rect">
            <a:avLst/>
          </a:prstGeom>
          <a:solidFill>
            <a:srgbClr val="E7ECF0"/>
          </a:solidFill>
          <a:ln w="6350">
            <a:solidFill>
              <a:srgbClr val="B6BBC0"/>
            </a:solidFill>
            <a:prstDash val="solid"/>
          </a:ln>
        </p:spPr>
      </p:sp>
      <p:sp>
        <p:nvSpPr>
          <p:cNvPr id="26" name="Shape 24"/>
          <p:cNvSpPr/>
          <p:nvPr/>
        </p:nvSpPr>
        <p:spPr>
          <a:xfrm>
            <a:off x="5568696" y="1609344"/>
            <a:ext cx="128016" cy="128016"/>
          </a:xfrm>
          <a:prstGeom prst="ellipse">
            <a:avLst/>
          </a:prstGeom>
          <a:solidFill>
            <a:srgbClr val="2E7D32"/>
          </a:solidFill>
          <a:ln w="12700">
            <a:solidFill>
              <a:srgbClr val="2E7D32"/>
            </a:solidFill>
            <a:prstDash val="solid"/>
          </a:ln>
        </p:spPr>
      </p:sp>
      <p:sp>
        <p:nvSpPr>
          <p:cNvPr id="27" name="Text 25"/>
          <p:cNvSpPr/>
          <p:nvPr/>
        </p:nvSpPr>
        <p:spPr>
          <a:xfrm>
            <a:off x="5733288" y="157276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Grant log-read permissions only. No CDC tables, no Agent jobs needed.</a:t>
            </a:r>
            <a:endParaRPr lang="en-US" sz="900" dirty="0"/>
          </a:p>
        </p:txBody>
      </p:sp>
      <p:sp>
        <p:nvSpPr>
          <p:cNvPr id="28" name="Shape 26"/>
          <p:cNvSpPr/>
          <p:nvPr/>
        </p:nvSpPr>
        <p:spPr>
          <a:xfrm>
            <a:off x="7214616" y="1517904"/>
            <a:ext cx="1719072" cy="640080"/>
          </a:xfrm>
          <a:prstGeom prst="rect">
            <a:avLst/>
          </a:prstGeom>
          <a:solidFill>
            <a:srgbClr val="E7ECF0"/>
          </a:solidFill>
          <a:ln w="6350">
            <a:solidFill>
              <a:srgbClr val="B6BBC0"/>
            </a:solidFill>
            <a:prstDash val="solid"/>
          </a:ln>
        </p:spPr>
      </p:sp>
      <p:sp>
        <p:nvSpPr>
          <p:cNvPr id="29" name="Shape 27"/>
          <p:cNvSpPr/>
          <p:nvPr/>
        </p:nvSpPr>
        <p:spPr>
          <a:xfrm>
            <a:off x="7287768" y="1609344"/>
            <a:ext cx="128016" cy="128016"/>
          </a:xfrm>
          <a:prstGeom prst="ellipse">
            <a:avLst/>
          </a:prstGeom>
          <a:solidFill>
            <a:srgbClr val="2E7D32"/>
          </a:solidFill>
          <a:ln w="12700">
            <a:solidFill>
              <a:srgbClr val="2E7D32"/>
            </a:solidFill>
            <a:prstDash val="solid"/>
          </a:ln>
        </p:spPr>
      </p:sp>
      <p:sp>
        <p:nvSpPr>
          <p:cNvPr id="30" name="Text 28"/>
          <p:cNvSpPr/>
          <p:nvPr/>
        </p:nvSpPr>
        <p:spPr>
          <a:xfrm>
            <a:off x="7452360" y="157276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Grant log-read permissions only. No CDC tables, no Agent jobs needed.</a:t>
            </a:r>
            <a:endParaRPr lang="en-US" sz="900" dirty="0"/>
          </a:p>
        </p:txBody>
      </p:sp>
      <p:sp>
        <p:nvSpPr>
          <p:cNvPr id="31" name="Shape 29"/>
          <p:cNvSpPr/>
          <p:nvPr/>
        </p:nvSpPr>
        <p:spPr>
          <a:xfrm>
            <a:off x="228600" y="2157984"/>
            <a:ext cx="1828800" cy="640080"/>
          </a:xfrm>
          <a:prstGeom prst="rect">
            <a:avLst/>
          </a:prstGeom>
          <a:solidFill>
            <a:srgbClr val="37474F"/>
          </a:solidFill>
          <a:ln w="6350">
            <a:solidFill>
              <a:srgbClr val="B6BBC0"/>
            </a:solidFill>
            <a:prstDash val="solid"/>
          </a:ln>
        </p:spPr>
      </p:sp>
      <p:sp>
        <p:nvSpPr>
          <p:cNvPr id="32" name="Text 30"/>
          <p:cNvSpPr/>
          <p:nvPr/>
        </p:nvSpPr>
        <p:spPr>
          <a:xfrm>
            <a:off x="283464" y="2231136"/>
            <a:ext cx="1719072" cy="493776"/>
          </a:xfrm>
          <a:prstGeom prst="rect">
            <a:avLst/>
          </a:prstGeom>
          <a:noFill/>
          <a:ln/>
        </p:spPr>
        <p:txBody>
          <a:bodyPr wrap="square" lIns="0" tIns="0" rIns="0" bIns="0" rtlCol="0" anchor="ctr"/>
          <a:lstStyle/>
          <a:p>
            <a:pPr indent="0" marL="0">
              <a:buNone/>
            </a:pPr>
            <a:r>
              <a:rPr lang="en-US" sz="1000" b="1" dirty="0">
                <a:solidFill>
                  <a:srgbClr val="FFFFFF"/>
                </a:solidFill>
                <a:latin typeface="Aptos Display" pitchFamily="34" charset="0"/>
                <a:ea typeface="Aptos Display" pitchFamily="34" charset="-122"/>
                <a:cs typeface="Aptos Display" pitchFamily="34" charset="-120"/>
              </a:rPr>
              <a:t>New Infrastructure</a:t>
            </a:r>
            <a:endParaRPr lang="en-US" sz="1000" dirty="0"/>
          </a:p>
          <a:p>
            <a:pPr indent="0" marL="0">
              <a:buNone/>
            </a:pPr>
            <a:r>
              <a:rPr lang="en-US" sz="1000" b="1" dirty="0">
                <a:solidFill>
                  <a:srgbClr val="FFFFFF"/>
                </a:solidFill>
                <a:latin typeface="Aptos Display" pitchFamily="34" charset="0"/>
                <a:ea typeface="Aptos Display" pitchFamily="34" charset="-122"/>
                <a:cs typeface="Aptos Display" pitchFamily="34" charset="-120"/>
              </a:rPr>
              <a:t>Needed</a:t>
            </a:r>
            <a:endParaRPr lang="en-US" sz="1000" dirty="0"/>
          </a:p>
        </p:txBody>
      </p:sp>
      <p:sp>
        <p:nvSpPr>
          <p:cNvPr id="33" name="Shape 31"/>
          <p:cNvSpPr/>
          <p:nvPr/>
        </p:nvSpPr>
        <p:spPr>
          <a:xfrm>
            <a:off x="2057400" y="2157984"/>
            <a:ext cx="1719072" cy="640080"/>
          </a:xfrm>
          <a:prstGeom prst="rect">
            <a:avLst/>
          </a:prstGeom>
          <a:solidFill>
            <a:srgbClr val="FFFFFF"/>
          </a:solidFill>
          <a:ln w="6350">
            <a:solidFill>
              <a:srgbClr val="B6BBC0"/>
            </a:solidFill>
            <a:prstDash val="solid"/>
          </a:ln>
        </p:spPr>
      </p:sp>
      <p:sp>
        <p:nvSpPr>
          <p:cNvPr id="34" name="Text 32"/>
          <p:cNvSpPr/>
          <p:nvPr/>
        </p:nvSpPr>
        <p:spPr>
          <a:xfrm>
            <a:off x="2295144" y="221284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Kafka Connect cluster + Apache Kafka (or managed: Confluent Cloud, Amazon MSK)</a:t>
            </a:r>
            <a:endParaRPr lang="en-US" sz="900" dirty="0"/>
          </a:p>
        </p:txBody>
      </p:sp>
      <p:sp>
        <p:nvSpPr>
          <p:cNvPr id="35" name="Shape 33"/>
          <p:cNvSpPr/>
          <p:nvPr/>
        </p:nvSpPr>
        <p:spPr>
          <a:xfrm>
            <a:off x="3776472" y="2157984"/>
            <a:ext cx="1719072" cy="640080"/>
          </a:xfrm>
          <a:prstGeom prst="rect">
            <a:avLst/>
          </a:prstGeom>
          <a:solidFill>
            <a:srgbClr val="FFFFFF"/>
          </a:solidFill>
          <a:ln w="6350">
            <a:solidFill>
              <a:srgbClr val="B6BBC0"/>
            </a:solidFill>
            <a:prstDash val="solid"/>
          </a:ln>
        </p:spPr>
      </p:sp>
      <p:sp>
        <p:nvSpPr>
          <p:cNvPr id="36" name="Text 34"/>
          <p:cNvSpPr/>
          <p:nvPr/>
        </p:nvSpPr>
        <p:spPr>
          <a:xfrm>
            <a:off x="4014216" y="221284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IIDR server / VM + IBM CDC Management Console</a:t>
            </a:r>
            <a:endParaRPr lang="en-US" sz="900" dirty="0"/>
          </a:p>
        </p:txBody>
      </p:sp>
      <p:sp>
        <p:nvSpPr>
          <p:cNvPr id="37" name="Shape 35"/>
          <p:cNvSpPr/>
          <p:nvPr/>
        </p:nvSpPr>
        <p:spPr>
          <a:xfrm>
            <a:off x="5495544" y="2157984"/>
            <a:ext cx="1719072" cy="640080"/>
          </a:xfrm>
          <a:prstGeom prst="rect">
            <a:avLst/>
          </a:prstGeom>
          <a:solidFill>
            <a:srgbClr val="FFFFFF"/>
          </a:solidFill>
          <a:ln w="6350">
            <a:solidFill>
              <a:srgbClr val="B6BBC0"/>
            </a:solidFill>
            <a:prstDash val="solid"/>
          </a:ln>
        </p:spPr>
      </p:sp>
      <p:sp>
        <p:nvSpPr>
          <p:cNvPr id="38" name="Text 36"/>
          <p:cNvSpPr/>
          <p:nvPr/>
        </p:nvSpPr>
        <p:spPr>
          <a:xfrm>
            <a:off x="5733288" y="221284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Striim cluster — SaaS option available or deploy on-prem nodes</a:t>
            </a:r>
            <a:endParaRPr lang="en-US" sz="900" dirty="0"/>
          </a:p>
        </p:txBody>
      </p:sp>
      <p:sp>
        <p:nvSpPr>
          <p:cNvPr id="39" name="Shape 37"/>
          <p:cNvSpPr/>
          <p:nvPr/>
        </p:nvSpPr>
        <p:spPr>
          <a:xfrm>
            <a:off x="7214616" y="2157984"/>
            <a:ext cx="1719072" cy="640080"/>
          </a:xfrm>
          <a:prstGeom prst="rect">
            <a:avLst/>
          </a:prstGeom>
          <a:solidFill>
            <a:srgbClr val="FFFFFF"/>
          </a:solidFill>
          <a:ln w="6350">
            <a:solidFill>
              <a:srgbClr val="B6BBC0"/>
            </a:solidFill>
            <a:prstDash val="solid"/>
          </a:ln>
        </p:spPr>
      </p:sp>
      <p:sp>
        <p:nvSpPr>
          <p:cNvPr id="40" name="Text 38"/>
          <p:cNvSpPr/>
          <p:nvPr/>
        </p:nvSpPr>
        <p:spPr>
          <a:xfrm>
            <a:off x="7452360" y="221284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Qlik Replicate server (on-prem or cloud VM)</a:t>
            </a:r>
            <a:endParaRPr lang="en-US" sz="900" dirty="0"/>
          </a:p>
        </p:txBody>
      </p:sp>
      <p:sp>
        <p:nvSpPr>
          <p:cNvPr id="41" name="Shape 39"/>
          <p:cNvSpPr/>
          <p:nvPr/>
        </p:nvSpPr>
        <p:spPr>
          <a:xfrm>
            <a:off x="228600" y="2798064"/>
            <a:ext cx="1828800" cy="640080"/>
          </a:xfrm>
          <a:prstGeom prst="rect">
            <a:avLst/>
          </a:prstGeom>
          <a:solidFill>
            <a:srgbClr val="37474F"/>
          </a:solidFill>
          <a:ln w="6350">
            <a:solidFill>
              <a:srgbClr val="B6BBC0"/>
            </a:solidFill>
            <a:prstDash val="solid"/>
          </a:ln>
        </p:spPr>
      </p:sp>
      <p:sp>
        <p:nvSpPr>
          <p:cNvPr id="42" name="Text 40"/>
          <p:cNvSpPr/>
          <p:nvPr/>
        </p:nvSpPr>
        <p:spPr>
          <a:xfrm>
            <a:off x="283464" y="2871216"/>
            <a:ext cx="1719072" cy="493776"/>
          </a:xfrm>
          <a:prstGeom prst="rect">
            <a:avLst/>
          </a:prstGeom>
          <a:noFill/>
          <a:ln/>
        </p:spPr>
        <p:txBody>
          <a:bodyPr wrap="square" lIns="0" tIns="0" rIns="0" bIns="0" rtlCol="0" anchor="ctr"/>
          <a:lstStyle/>
          <a:p>
            <a:pPr indent="0" marL="0">
              <a:buNone/>
            </a:pPr>
            <a:r>
              <a:rPr lang="en-US" sz="1000" b="1" dirty="0">
                <a:solidFill>
                  <a:srgbClr val="FFFFFF"/>
                </a:solidFill>
                <a:latin typeface="Aptos Display" pitchFamily="34" charset="0"/>
                <a:ea typeface="Aptos Display" pitchFamily="34" charset="-122"/>
                <a:cs typeface="Aptos Display" pitchFamily="34" charset="-120"/>
              </a:rPr>
              <a:t>Ongoing DBA</a:t>
            </a:r>
            <a:endParaRPr lang="en-US" sz="1000" dirty="0"/>
          </a:p>
          <a:p>
            <a:pPr indent="0" marL="0">
              <a:buNone/>
            </a:pPr>
            <a:r>
              <a:rPr lang="en-US" sz="1000" b="1" dirty="0">
                <a:solidFill>
                  <a:srgbClr val="FFFFFF"/>
                </a:solidFill>
                <a:latin typeface="Aptos Display" pitchFamily="34" charset="0"/>
                <a:ea typeface="Aptos Display" pitchFamily="34" charset="-122"/>
                <a:cs typeface="Aptos Display" pitchFamily="34" charset="-120"/>
              </a:rPr>
              <a:t>Tasks</a:t>
            </a:r>
            <a:endParaRPr lang="en-US" sz="1000" dirty="0"/>
          </a:p>
        </p:txBody>
      </p:sp>
      <p:sp>
        <p:nvSpPr>
          <p:cNvPr id="43" name="Shape 41"/>
          <p:cNvSpPr/>
          <p:nvPr/>
        </p:nvSpPr>
        <p:spPr>
          <a:xfrm>
            <a:off x="2057400" y="2798064"/>
            <a:ext cx="1719072" cy="640080"/>
          </a:xfrm>
          <a:prstGeom prst="rect">
            <a:avLst/>
          </a:prstGeom>
          <a:solidFill>
            <a:srgbClr val="E7ECF0"/>
          </a:solidFill>
          <a:ln w="6350">
            <a:solidFill>
              <a:srgbClr val="B6BBC0"/>
            </a:solidFill>
            <a:prstDash val="solid"/>
          </a:ln>
        </p:spPr>
      </p:sp>
      <p:sp>
        <p:nvSpPr>
          <p:cNvPr id="44" name="Shape 42"/>
          <p:cNvSpPr/>
          <p:nvPr/>
        </p:nvSpPr>
        <p:spPr>
          <a:xfrm>
            <a:off x="2130552" y="2889504"/>
            <a:ext cx="128016" cy="128016"/>
          </a:xfrm>
          <a:prstGeom prst="ellipse">
            <a:avLst/>
          </a:prstGeom>
          <a:solidFill>
            <a:srgbClr val="C62828"/>
          </a:solidFill>
          <a:ln w="12700">
            <a:solidFill>
              <a:srgbClr val="C62828"/>
            </a:solidFill>
            <a:prstDash val="solid"/>
          </a:ln>
        </p:spPr>
      </p:sp>
      <p:sp>
        <p:nvSpPr>
          <p:cNvPr id="45" name="Text 43"/>
          <p:cNvSpPr/>
          <p:nvPr/>
        </p:nvSpPr>
        <p:spPr>
          <a:xfrm>
            <a:off x="2295144" y="285292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Monitor SQL Agent capture/cleanup jobs; manage cleanup retention; execute schema change runbook per DDL</a:t>
            </a:r>
            <a:endParaRPr lang="en-US" sz="900" dirty="0"/>
          </a:p>
        </p:txBody>
      </p:sp>
      <p:sp>
        <p:nvSpPr>
          <p:cNvPr id="46" name="Shape 44"/>
          <p:cNvSpPr/>
          <p:nvPr/>
        </p:nvSpPr>
        <p:spPr>
          <a:xfrm>
            <a:off x="3776472" y="2798064"/>
            <a:ext cx="1719072" cy="640080"/>
          </a:xfrm>
          <a:prstGeom prst="rect">
            <a:avLst/>
          </a:prstGeom>
          <a:solidFill>
            <a:srgbClr val="E7ECF0"/>
          </a:solidFill>
          <a:ln w="6350">
            <a:solidFill>
              <a:srgbClr val="B6BBC0"/>
            </a:solidFill>
            <a:prstDash val="solid"/>
          </a:ln>
        </p:spPr>
      </p:sp>
      <p:sp>
        <p:nvSpPr>
          <p:cNvPr id="47" name="Shape 45"/>
          <p:cNvSpPr/>
          <p:nvPr/>
        </p:nvSpPr>
        <p:spPr>
          <a:xfrm>
            <a:off x="3849624" y="2889504"/>
            <a:ext cx="128016" cy="128016"/>
          </a:xfrm>
          <a:prstGeom prst="ellipse">
            <a:avLst/>
          </a:prstGeom>
          <a:solidFill>
            <a:srgbClr val="2E7D32"/>
          </a:solidFill>
          <a:ln w="12700">
            <a:solidFill>
              <a:srgbClr val="2E7D32"/>
            </a:solidFill>
            <a:prstDash val="solid"/>
          </a:ln>
        </p:spPr>
      </p:sp>
      <p:sp>
        <p:nvSpPr>
          <p:cNvPr id="48" name="Text 46"/>
          <p:cNvSpPr/>
          <p:nvPr/>
        </p:nvSpPr>
        <p:spPr>
          <a:xfrm>
            <a:off x="4014216" y="285292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Monitor IIDR task status only; no SQL Server Agent involvement after initial setup</a:t>
            </a:r>
            <a:endParaRPr lang="en-US" sz="900" dirty="0"/>
          </a:p>
        </p:txBody>
      </p:sp>
      <p:sp>
        <p:nvSpPr>
          <p:cNvPr id="49" name="Shape 47"/>
          <p:cNvSpPr/>
          <p:nvPr/>
        </p:nvSpPr>
        <p:spPr>
          <a:xfrm>
            <a:off x="5495544" y="2798064"/>
            <a:ext cx="1719072" cy="640080"/>
          </a:xfrm>
          <a:prstGeom prst="rect">
            <a:avLst/>
          </a:prstGeom>
          <a:solidFill>
            <a:srgbClr val="E7ECF0"/>
          </a:solidFill>
          <a:ln w="6350">
            <a:solidFill>
              <a:srgbClr val="B6BBC0"/>
            </a:solidFill>
            <a:prstDash val="solid"/>
          </a:ln>
        </p:spPr>
      </p:sp>
      <p:sp>
        <p:nvSpPr>
          <p:cNvPr id="50" name="Shape 48"/>
          <p:cNvSpPr/>
          <p:nvPr/>
        </p:nvSpPr>
        <p:spPr>
          <a:xfrm>
            <a:off x="5568696" y="2889504"/>
            <a:ext cx="128016" cy="128016"/>
          </a:xfrm>
          <a:prstGeom prst="ellipse">
            <a:avLst/>
          </a:prstGeom>
          <a:solidFill>
            <a:srgbClr val="2E7D32"/>
          </a:solidFill>
          <a:ln w="12700">
            <a:solidFill>
              <a:srgbClr val="2E7D32"/>
            </a:solidFill>
            <a:prstDash val="solid"/>
          </a:ln>
        </p:spPr>
      </p:sp>
      <p:sp>
        <p:nvSpPr>
          <p:cNvPr id="51" name="Text 49"/>
          <p:cNvSpPr/>
          <p:nvPr/>
        </p:nvSpPr>
        <p:spPr>
          <a:xfrm>
            <a:off x="5733288" y="285292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Monitor pipeline status only; no SQL Server Agent involvement after initial setup</a:t>
            </a:r>
            <a:endParaRPr lang="en-US" sz="900" dirty="0"/>
          </a:p>
        </p:txBody>
      </p:sp>
      <p:sp>
        <p:nvSpPr>
          <p:cNvPr id="52" name="Shape 50"/>
          <p:cNvSpPr/>
          <p:nvPr/>
        </p:nvSpPr>
        <p:spPr>
          <a:xfrm>
            <a:off x="7214616" y="2798064"/>
            <a:ext cx="1719072" cy="640080"/>
          </a:xfrm>
          <a:prstGeom prst="rect">
            <a:avLst/>
          </a:prstGeom>
          <a:solidFill>
            <a:srgbClr val="E7ECF0"/>
          </a:solidFill>
          <a:ln w="6350">
            <a:solidFill>
              <a:srgbClr val="B6BBC0"/>
            </a:solidFill>
            <a:prstDash val="solid"/>
          </a:ln>
        </p:spPr>
      </p:sp>
      <p:sp>
        <p:nvSpPr>
          <p:cNvPr id="53" name="Shape 51"/>
          <p:cNvSpPr/>
          <p:nvPr/>
        </p:nvSpPr>
        <p:spPr>
          <a:xfrm>
            <a:off x="7287768" y="2889504"/>
            <a:ext cx="128016" cy="128016"/>
          </a:xfrm>
          <a:prstGeom prst="ellipse">
            <a:avLst/>
          </a:prstGeom>
          <a:solidFill>
            <a:srgbClr val="2E7D32"/>
          </a:solidFill>
          <a:ln w="12700">
            <a:solidFill>
              <a:srgbClr val="2E7D32"/>
            </a:solidFill>
            <a:prstDash val="solid"/>
          </a:ln>
        </p:spPr>
      </p:sp>
      <p:sp>
        <p:nvSpPr>
          <p:cNvPr id="54" name="Text 52"/>
          <p:cNvSpPr/>
          <p:nvPr/>
        </p:nvSpPr>
        <p:spPr>
          <a:xfrm>
            <a:off x="7452360" y="285292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Monitor task status only; minimal SQL Server DBA involvement after initial setup</a:t>
            </a:r>
            <a:endParaRPr lang="en-US" sz="900" dirty="0"/>
          </a:p>
        </p:txBody>
      </p:sp>
      <p:sp>
        <p:nvSpPr>
          <p:cNvPr id="55" name="Shape 53"/>
          <p:cNvSpPr/>
          <p:nvPr/>
        </p:nvSpPr>
        <p:spPr>
          <a:xfrm>
            <a:off x="228600" y="3438144"/>
            <a:ext cx="1828800" cy="640080"/>
          </a:xfrm>
          <a:prstGeom prst="rect">
            <a:avLst/>
          </a:prstGeom>
          <a:solidFill>
            <a:srgbClr val="37474F"/>
          </a:solidFill>
          <a:ln w="6350">
            <a:solidFill>
              <a:srgbClr val="B6BBC0"/>
            </a:solidFill>
            <a:prstDash val="solid"/>
          </a:ln>
        </p:spPr>
      </p:sp>
      <p:sp>
        <p:nvSpPr>
          <p:cNvPr id="56" name="Text 54"/>
          <p:cNvSpPr/>
          <p:nvPr/>
        </p:nvSpPr>
        <p:spPr>
          <a:xfrm>
            <a:off x="283464" y="3511296"/>
            <a:ext cx="1719072" cy="493776"/>
          </a:xfrm>
          <a:prstGeom prst="rect">
            <a:avLst/>
          </a:prstGeom>
          <a:noFill/>
          <a:ln/>
        </p:spPr>
        <p:txBody>
          <a:bodyPr wrap="square" lIns="0" tIns="0" rIns="0" bIns="0" rtlCol="0" anchor="ctr"/>
          <a:lstStyle/>
          <a:p>
            <a:pPr indent="0" marL="0">
              <a:buNone/>
            </a:pPr>
            <a:r>
              <a:rPr lang="en-US" sz="1000" b="1" dirty="0">
                <a:solidFill>
                  <a:srgbClr val="FFFFFF"/>
                </a:solidFill>
                <a:latin typeface="Aptos Display" pitchFamily="34" charset="0"/>
                <a:ea typeface="Aptos Display" pitchFamily="34" charset="-122"/>
                <a:cs typeface="Aptos Display" pitchFamily="34" charset="-120"/>
              </a:rPr>
              <a:t>Schema Change</a:t>
            </a:r>
            <a:endParaRPr lang="en-US" sz="1000" dirty="0"/>
          </a:p>
          <a:p>
            <a:pPr indent="0" marL="0">
              <a:buNone/>
            </a:pPr>
            <a:r>
              <a:rPr lang="en-US" sz="1000" b="1" dirty="0">
                <a:solidFill>
                  <a:srgbClr val="FFFFFF"/>
                </a:solidFill>
                <a:latin typeface="Aptos Display" pitchFamily="34" charset="0"/>
                <a:ea typeface="Aptos Display" pitchFamily="34" charset="-122"/>
                <a:cs typeface="Aptos Display" pitchFamily="34" charset="-120"/>
              </a:rPr>
              <a:t>Handling</a:t>
            </a:r>
            <a:endParaRPr lang="en-US" sz="1000" dirty="0"/>
          </a:p>
        </p:txBody>
      </p:sp>
      <p:sp>
        <p:nvSpPr>
          <p:cNvPr id="57" name="Shape 55"/>
          <p:cNvSpPr/>
          <p:nvPr/>
        </p:nvSpPr>
        <p:spPr>
          <a:xfrm>
            <a:off x="2057400" y="3438144"/>
            <a:ext cx="1719072" cy="640080"/>
          </a:xfrm>
          <a:prstGeom prst="rect">
            <a:avLst/>
          </a:prstGeom>
          <a:solidFill>
            <a:srgbClr val="FFFFFF"/>
          </a:solidFill>
          <a:ln w="6350">
            <a:solidFill>
              <a:srgbClr val="B6BBC0"/>
            </a:solidFill>
            <a:prstDash val="solid"/>
          </a:ln>
        </p:spPr>
      </p:sp>
      <p:sp>
        <p:nvSpPr>
          <p:cNvPr id="58" name="Shape 56"/>
          <p:cNvSpPr/>
          <p:nvPr/>
        </p:nvSpPr>
        <p:spPr>
          <a:xfrm>
            <a:off x="2130552" y="3529584"/>
            <a:ext cx="128016" cy="128016"/>
          </a:xfrm>
          <a:prstGeom prst="ellipse">
            <a:avLst/>
          </a:prstGeom>
          <a:solidFill>
            <a:srgbClr val="C62828"/>
          </a:solidFill>
          <a:ln w="12700">
            <a:solidFill>
              <a:srgbClr val="C62828"/>
            </a:solidFill>
            <a:prstDash val="solid"/>
          </a:ln>
        </p:spPr>
      </p:sp>
      <p:sp>
        <p:nvSpPr>
          <p:cNvPr id="59" name="Text 57"/>
          <p:cNvSpPr/>
          <p:nvPr/>
        </p:nvSpPr>
        <p:spPr>
          <a:xfrm>
            <a:off x="2295144" y="349300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Manual: recreate capture instance, update Debezium connector, restart — gap window during switchover</a:t>
            </a:r>
            <a:endParaRPr lang="en-US" sz="900" dirty="0"/>
          </a:p>
        </p:txBody>
      </p:sp>
      <p:sp>
        <p:nvSpPr>
          <p:cNvPr id="60" name="Shape 58"/>
          <p:cNvSpPr/>
          <p:nvPr/>
        </p:nvSpPr>
        <p:spPr>
          <a:xfrm>
            <a:off x="3776472" y="3438144"/>
            <a:ext cx="1719072" cy="640080"/>
          </a:xfrm>
          <a:prstGeom prst="rect">
            <a:avLst/>
          </a:prstGeom>
          <a:solidFill>
            <a:srgbClr val="FFFFFF"/>
          </a:solidFill>
          <a:ln w="6350">
            <a:solidFill>
              <a:srgbClr val="B6BBC0"/>
            </a:solidFill>
            <a:prstDash val="solid"/>
          </a:ln>
        </p:spPr>
      </p:sp>
      <p:sp>
        <p:nvSpPr>
          <p:cNvPr id="61" name="Shape 59"/>
          <p:cNvSpPr/>
          <p:nvPr/>
        </p:nvSpPr>
        <p:spPr>
          <a:xfrm>
            <a:off x="3849624" y="3529584"/>
            <a:ext cx="128016" cy="128016"/>
          </a:xfrm>
          <a:prstGeom prst="ellipse">
            <a:avLst/>
          </a:prstGeom>
          <a:solidFill>
            <a:srgbClr val="2E7D32"/>
          </a:solidFill>
          <a:ln w="12700">
            <a:solidFill>
              <a:srgbClr val="2E7D32"/>
            </a:solidFill>
            <a:prstDash val="solid"/>
          </a:ln>
        </p:spPr>
      </p:sp>
      <p:sp>
        <p:nvSpPr>
          <p:cNvPr id="62" name="Text 60"/>
          <p:cNvSpPr/>
          <p:nvPr/>
        </p:nvSpPr>
        <p:spPr>
          <a:xfrm>
            <a:off x="4014216" y="349300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Automated: DDL captured in log and propagated to targets automatically</a:t>
            </a:r>
            <a:endParaRPr lang="en-US" sz="900" dirty="0"/>
          </a:p>
        </p:txBody>
      </p:sp>
      <p:sp>
        <p:nvSpPr>
          <p:cNvPr id="63" name="Shape 61"/>
          <p:cNvSpPr/>
          <p:nvPr/>
        </p:nvSpPr>
        <p:spPr>
          <a:xfrm>
            <a:off x="5495544" y="3438144"/>
            <a:ext cx="1719072" cy="640080"/>
          </a:xfrm>
          <a:prstGeom prst="rect">
            <a:avLst/>
          </a:prstGeom>
          <a:solidFill>
            <a:srgbClr val="FFFFFF"/>
          </a:solidFill>
          <a:ln w="6350">
            <a:solidFill>
              <a:srgbClr val="B6BBC0"/>
            </a:solidFill>
            <a:prstDash val="solid"/>
          </a:ln>
        </p:spPr>
      </p:sp>
      <p:sp>
        <p:nvSpPr>
          <p:cNvPr id="64" name="Shape 62"/>
          <p:cNvSpPr/>
          <p:nvPr/>
        </p:nvSpPr>
        <p:spPr>
          <a:xfrm>
            <a:off x="5568696" y="3529584"/>
            <a:ext cx="128016" cy="128016"/>
          </a:xfrm>
          <a:prstGeom prst="ellipse">
            <a:avLst/>
          </a:prstGeom>
          <a:solidFill>
            <a:srgbClr val="2E7D32"/>
          </a:solidFill>
          <a:ln w="12700">
            <a:solidFill>
              <a:srgbClr val="2E7D32"/>
            </a:solidFill>
            <a:prstDash val="solid"/>
          </a:ln>
        </p:spPr>
      </p:sp>
      <p:sp>
        <p:nvSpPr>
          <p:cNvPr id="65" name="Text 63"/>
          <p:cNvSpPr/>
          <p:nvPr/>
        </p:nvSpPr>
        <p:spPr>
          <a:xfrm>
            <a:off x="5733288" y="349300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Automated: DDL captured in log and propagated to targets automatically</a:t>
            </a:r>
            <a:endParaRPr lang="en-US" sz="900" dirty="0"/>
          </a:p>
        </p:txBody>
      </p:sp>
      <p:sp>
        <p:nvSpPr>
          <p:cNvPr id="66" name="Shape 64"/>
          <p:cNvSpPr/>
          <p:nvPr/>
        </p:nvSpPr>
        <p:spPr>
          <a:xfrm>
            <a:off x="7214616" y="3438144"/>
            <a:ext cx="1719072" cy="640080"/>
          </a:xfrm>
          <a:prstGeom prst="rect">
            <a:avLst/>
          </a:prstGeom>
          <a:solidFill>
            <a:srgbClr val="FFFFFF"/>
          </a:solidFill>
          <a:ln w="6350">
            <a:solidFill>
              <a:srgbClr val="B6BBC0"/>
            </a:solidFill>
            <a:prstDash val="solid"/>
          </a:ln>
        </p:spPr>
      </p:sp>
      <p:sp>
        <p:nvSpPr>
          <p:cNvPr id="67" name="Text 65"/>
          <p:cNvSpPr/>
          <p:nvPr/>
        </p:nvSpPr>
        <p:spPr>
          <a:xfrm>
            <a:off x="7452360" y="349300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Managed: most DDL propagated automatically; some changes need task review</a:t>
            </a:r>
            <a:endParaRPr lang="en-US" sz="900" dirty="0"/>
          </a:p>
        </p:txBody>
      </p:sp>
      <p:sp>
        <p:nvSpPr>
          <p:cNvPr id="68" name="Shape 66"/>
          <p:cNvSpPr/>
          <p:nvPr/>
        </p:nvSpPr>
        <p:spPr>
          <a:xfrm>
            <a:off x="228600" y="4078224"/>
            <a:ext cx="1828800" cy="640080"/>
          </a:xfrm>
          <a:prstGeom prst="rect">
            <a:avLst/>
          </a:prstGeom>
          <a:solidFill>
            <a:srgbClr val="37474F"/>
          </a:solidFill>
          <a:ln w="6350">
            <a:solidFill>
              <a:srgbClr val="B6BBC0"/>
            </a:solidFill>
            <a:prstDash val="solid"/>
          </a:ln>
        </p:spPr>
      </p:sp>
      <p:sp>
        <p:nvSpPr>
          <p:cNvPr id="69" name="Text 67"/>
          <p:cNvSpPr/>
          <p:nvPr/>
        </p:nvSpPr>
        <p:spPr>
          <a:xfrm>
            <a:off x="283464" y="4151376"/>
            <a:ext cx="1719072" cy="493776"/>
          </a:xfrm>
          <a:prstGeom prst="rect">
            <a:avLst/>
          </a:prstGeom>
          <a:noFill/>
          <a:ln/>
        </p:spPr>
        <p:txBody>
          <a:bodyPr wrap="square" lIns="0" tIns="0" rIns="0" bIns="0" rtlCol="0" anchor="ctr"/>
          <a:lstStyle/>
          <a:p>
            <a:pPr indent="0" marL="0">
              <a:buNone/>
            </a:pPr>
            <a:r>
              <a:rPr lang="en-US" sz="1000" b="1" dirty="0">
                <a:solidFill>
                  <a:srgbClr val="FFFFFF"/>
                </a:solidFill>
                <a:latin typeface="Aptos Display" pitchFamily="34" charset="0"/>
                <a:ea typeface="Aptos Display" pitchFamily="34" charset="-122"/>
                <a:cs typeface="Aptos Display" pitchFamily="34" charset="-120"/>
              </a:rPr>
              <a:t>Est. DBA Setup</a:t>
            </a:r>
            <a:endParaRPr lang="en-US" sz="1000" dirty="0"/>
          </a:p>
          <a:p>
            <a:pPr indent="0" marL="0">
              <a:buNone/>
            </a:pPr>
            <a:r>
              <a:rPr lang="en-US" sz="1000" b="1" dirty="0">
                <a:solidFill>
                  <a:srgbClr val="FFFFFF"/>
                </a:solidFill>
                <a:latin typeface="Aptos Display" pitchFamily="34" charset="0"/>
                <a:ea typeface="Aptos Display" pitchFamily="34" charset="-122"/>
                <a:cs typeface="Aptos Display" pitchFamily="34" charset="-120"/>
              </a:rPr>
              <a:t>Effort</a:t>
            </a:r>
            <a:endParaRPr lang="en-US" sz="1000" dirty="0"/>
          </a:p>
        </p:txBody>
      </p:sp>
      <p:sp>
        <p:nvSpPr>
          <p:cNvPr id="70" name="Shape 68"/>
          <p:cNvSpPr/>
          <p:nvPr/>
        </p:nvSpPr>
        <p:spPr>
          <a:xfrm>
            <a:off x="2057400" y="4078224"/>
            <a:ext cx="1719072" cy="640080"/>
          </a:xfrm>
          <a:prstGeom prst="rect">
            <a:avLst/>
          </a:prstGeom>
          <a:solidFill>
            <a:srgbClr val="E7ECF0"/>
          </a:solidFill>
          <a:ln w="6350">
            <a:solidFill>
              <a:srgbClr val="B6BBC0"/>
            </a:solidFill>
            <a:prstDash val="solid"/>
          </a:ln>
        </p:spPr>
      </p:sp>
      <p:sp>
        <p:nvSpPr>
          <p:cNvPr id="71" name="Shape 69"/>
          <p:cNvSpPr/>
          <p:nvPr/>
        </p:nvSpPr>
        <p:spPr>
          <a:xfrm>
            <a:off x="2130552" y="4169664"/>
            <a:ext cx="128016" cy="128016"/>
          </a:xfrm>
          <a:prstGeom prst="ellipse">
            <a:avLst/>
          </a:prstGeom>
          <a:solidFill>
            <a:srgbClr val="C62828"/>
          </a:solidFill>
          <a:ln w="12700">
            <a:solidFill>
              <a:srgbClr val="C62828"/>
            </a:solidFill>
            <a:prstDash val="solid"/>
          </a:ln>
        </p:spPr>
      </p:sp>
      <p:sp>
        <p:nvSpPr>
          <p:cNvPr id="72" name="Text 70"/>
          <p:cNvSpPr/>
          <p:nvPr/>
        </p:nvSpPr>
        <p:spPr>
          <a:xfrm>
            <a:off x="2295144" y="413308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~2 hrs/database to enable CDC; ongoing schema change overhead per event</a:t>
            </a:r>
            <a:endParaRPr lang="en-US" sz="900" dirty="0"/>
          </a:p>
        </p:txBody>
      </p:sp>
      <p:sp>
        <p:nvSpPr>
          <p:cNvPr id="73" name="Shape 71"/>
          <p:cNvSpPr/>
          <p:nvPr/>
        </p:nvSpPr>
        <p:spPr>
          <a:xfrm>
            <a:off x="3776472" y="4078224"/>
            <a:ext cx="1719072" cy="640080"/>
          </a:xfrm>
          <a:prstGeom prst="rect">
            <a:avLst/>
          </a:prstGeom>
          <a:solidFill>
            <a:srgbClr val="E7ECF0"/>
          </a:solidFill>
          <a:ln w="6350">
            <a:solidFill>
              <a:srgbClr val="B6BBC0"/>
            </a:solidFill>
            <a:prstDash val="solid"/>
          </a:ln>
        </p:spPr>
      </p:sp>
      <p:sp>
        <p:nvSpPr>
          <p:cNvPr id="74" name="Shape 72"/>
          <p:cNvSpPr/>
          <p:nvPr/>
        </p:nvSpPr>
        <p:spPr>
          <a:xfrm>
            <a:off x="3849624" y="4169664"/>
            <a:ext cx="128016" cy="128016"/>
          </a:xfrm>
          <a:prstGeom prst="ellipse">
            <a:avLst/>
          </a:prstGeom>
          <a:solidFill>
            <a:srgbClr val="2E7D32"/>
          </a:solidFill>
          <a:ln w="12700">
            <a:solidFill>
              <a:srgbClr val="2E7D32"/>
            </a:solidFill>
            <a:prstDash val="solid"/>
          </a:ln>
        </p:spPr>
      </p:sp>
      <p:sp>
        <p:nvSpPr>
          <p:cNvPr id="75" name="Text 73"/>
          <p:cNvSpPr/>
          <p:nvPr/>
        </p:nvSpPr>
        <p:spPr>
          <a:xfrm>
            <a:off x="4014216" y="413308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~30 min: grant permissions, no CDC enablement needed</a:t>
            </a:r>
            <a:endParaRPr lang="en-US" sz="900" dirty="0"/>
          </a:p>
        </p:txBody>
      </p:sp>
      <p:sp>
        <p:nvSpPr>
          <p:cNvPr id="76" name="Shape 74"/>
          <p:cNvSpPr/>
          <p:nvPr/>
        </p:nvSpPr>
        <p:spPr>
          <a:xfrm>
            <a:off x="5495544" y="4078224"/>
            <a:ext cx="1719072" cy="640080"/>
          </a:xfrm>
          <a:prstGeom prst="rect">
            <a:avLst/>
          </a:prstGeom>
          <a:solidFill>
            <a:srgbClr val="E7ECF0"/>
          </a:solidFill>
          <a:ln w="6350">
            <a:solidFill>
              <a:srgbClr val="B6BBC0"/>
            </a:solidFill>
            <a:prstDash val="solid"/>
          </a:ln>
        </p:spPr>
      </p:sp>
      <p:sp>
        <p:nvSpPr>
          <p:cNvPr id="77" name="Shape 75"/>
          <p:cNvSpPr/>
          <p:nvPr/>
        </p:nvSpPr>
        <p:spPr>
          <a:xfrm>
            <a:off x="5568696" y="4169664"/>
            <a:ext cx="128016" cy="128016"/>
          </a:xfrm>
          <a:prstGeom prst="ellipse">
            <a:avLst/>
          </a:prstGeom>
          <a:solidFill>
            <a:srgbClr val="2E7D32"/>
          </a:solidFill>
          <a:ln w="12700">
            <a:solidFill>
              <a:srgbClr val="2E7D32"/>
            </a:solidFill>
            <a:prstDash val="solid"/>
          </a:ln>
        </p:spPr>
      </p:sp>
      <p:sp>
        <p:nvSpPr>
          <p:cNvPr id="78" name="Text 76"/>
          <p:cNvSpPr/>
          <p:nvPr/>
        </p:nvSpPr>
        <p:spPr>
          <a:xfrm>
            <a:off x="5733288" y="413308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~30 min: grant permissions, no CDC enablement needed</a:t>
            </a:r>
            <a:endParaRPr lang="en-US" sz="900" dirty="0"/>
          </a:p>
        </p:txBody>
      </p:sp>
      <p:sp>
        <p:nvSpPr>
          <p:cNvPr id="79" name="Shape 77"/>
          <p:cNvSpPr/>
          <p:nvPr/>
        </p:nvSpPr>
        <p:spPr>
          <a:xfrm>
            <a:off x="7214616" y="4078224"/>
            <a:ext cx="1719072" cy="640080"/>
          </a:xfrm>
          <a:prstGeom prst="rect">
            <a:avLst/>
          </a:prstGeom>
          <a:solidFill>
            <a:srgbClr val="E7ECF0"/>
          </a:solidFill>
          <a:ln w="6350">
            <a:solidFill>
              <a:srgbClr val="B6BBC0"/>
            </a:solidFill>
            <a:prstDash val="solid"/>
          </a:ln>
        </p:spPr>
      </p:sp>
      <p:sp>
        <p:nvSpPr>
          <p:cNvPr id="80" name="Shape 78"/>
          <p:cNvSpPr/>
          <p:nvPr/>
        </p:nvSpPr>
        <p:spPr>
          <a:xfrm>
            <a:off x="7287768" y="4169664"/>
            <a:ext cx="128016" cy="128016"/>
          </a:xfrm>
          <a:prstGeom prst="ellipse">
            <a:avLst/>
          </a:prstGeom>
          <a:solidFill>
            <a:srgbClr val="2E7D32"/>
          </a:solidFill>
          <a:ln w="12700">
            <a:solidFill>
              <a:srgbClr val="2E7D32"/>
            </a:solidFill>
            <a:prstDash val="solid"/>
          </a:ln>
        </p:spPr>
      </p:sp>
      <p:sp>
        <p:nvSpPr>
          <p:cNvPr id="81" name="Text 79"/>
          <p:cNvSpPr/>
          <p:nvPr/>
        </p:nvSpPr>
        <p:spPr>
          <a:xfrm>
            <a:off x="7452360" y="4133088"/>
            <a:ext cx="1426464" cy="530352"/>
          </a:xfrm>
          <a:prstGeom prst="rect">
            <a:avLst/>
          </a:prstGeom>
          <a:noFill/>
          <a:ln/>
        </p:spPr>
        <p:txBody>
          <a:bodyPr wrap="square" lIns="0" tIns="0" rIns="0" bIns="0" rtlCol="0" anchor="ctr"/>
          <a:lstStyle/>
          <a:p>
            <a:pPr indent="0" marL="0">
              <a:buNone/>
            </a:pPr>
            <a:r>
              <a:rPr lang="en-US" sz="900" dirty="0">
                <a:solidFill>
                  <a:srgbClr val="575A5D"/>
                </a:solidFill>
                <a:latin typeface="Aptos" pitchFamily="34" charset="0"/>
                <a:ea typeface="Aptos" pitchFamily="34" charset="-122"/>
                <a:cs typeface="Aptos" pitchFamily="34" charset="-120"/>
              </a:rPr>
              <a:t>~30 min: grant permissions + initial task setup via GUI</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IBM IIDR — Topology &amp; Admin Setup</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Text 3"/>
          <p:cNvSpPr/>
          <p:nvPr/>
        </p:nvSpPr>
        <p:spPr>
          <a:xfrm>
            <a:off x="256032" y="850392"/>
            <a:ext cx="8631936" cy="256032"/>
          </a:xfrm>
          <a:prstGeom prst="rect">
            <a:avLst/>
          </a:prstGeom>
          <a:noFill/>
          <a:ln/>
        </p:spPr>
        <p:txBody>
          <a:bodyPr wrap="square" lIns="0" tIns="0" rIns="0" bIns="0" rtlCol="0" anchor="ctr"/>
          <a:lstStyle/>
          <a:p>
            <a:pPr indent="0" marL="0">
              <a:buNone/>
            </a:pPr>
            <a:r>
              <a:rPr lang="en-US" sz="1100" i="1" dirty="0">
                <a:solidFill>
                  <a:srgbClr val="575A5D"/>
                </a:solidFill>
                <a:latin typeface="Aptos" pitchFamily="34" charset="0"/>
                <a:ea typeface="Aptos" pitchFamily="34" charset="-122"/>
                <a:cs typeface="Aptos" pitchFamily="34" charset="-120"/>
              </a:rPr>
              <a:t>Reads the SQL Server transaction log only — zero additional load on production databases.</a:t>
            </a:r>
            <a:endParaRPr lang="en-US" sz="1100" dirty="0"/>
          </a:p>
        </p:txBody>
      </p:sp>
      <p:sp>
        <p:nvSpPr>
          <p:cNvPr id="6" name="Shape 4"/>
          <p:cNvSpPr/>
          <p:nvPr/>
        </p:nvSpPr>
        <p:spPr>
          <a:xfrm>
            <a:off x="256032" y="1188720"/>
            <a:ext cx="1664208" cy="1591056"/>
          </a:xfrm>
          <a:prstGeom prst="rect">
            <a:avLst/>
          </a:prstGeom>
          <a:solidFill>
            <a:srgbClr val="06185F"/>
          </a:solidFill>
          <a:ln w="12700">
            <a:solidFill>
              <a:srgbClr val="06185F"/>
            </a:solidFill>
            <a:prstDash val="solid"/>
          </a:ln>
          <a:effectLst>
            <a:outerShdw sx="100000" sy="100000" kx="0" ky="0" algn="bl" rotWithShape="0" blurRad="50800" dist="25400" dir="8100000">
              <a:srgbClr val="000000">
                <a:alpha val="13000"/>
              </a:srgbClr>
            </a:outerShdw>
          </a:effectLst>
        </p:spPr>
      </p:sp>
      <p:sp>
        <p:nvSpPr>
          <p:cNvPr id="7" name="Text 5"/>
          <p:cNvSpPr/>
          <p:nvPr/>
        </p:nvSpPr>
        <p:spPr>
          <a:xfrm>
            <a:off x="256032" y="1335024"/>
            <a:ext cx="16642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ptos Display" pitchFamily="34" charset="0"/>
                <a:ea typeface="Aptos Display" pitchFamily="34" charset="-122"/>
                <a:cs typeface="Aptos Display" pitchFamily="34" charset="-120"/>
              </a:rPr>
              <a:t>SQL Server</a:t>
            </a:r>
            <a:endParaRPr lang="en-US" sz="1200" dirty="0"/>
          </a:p>
        </p:txBody>
      </p:sp>
      <p:sp>
        <p:nvSpPr>
          <p:cNvPr id="8" name="Text 6"/>
          <p:cNvSpPr/>
          <p:nvPr/>
        </p:nvSpPr>
        <p:spPr>
          <a:xfrm>
            <a:off x="256032" y="1682496"/>
            <a:ext cx="1664208" cy="457200"/>
          </a:xfrm>
          <a:prstGeom prst="rect">
            <a:avLst/>
          </a:prstGeom>
          <a:noFill/>
          <a:ln/>
        </p:spPr>
        <p:txBody>
          <a:bodyPr wrap="square" lIns="0" tIns="0" rIns="0" bIns="0" rtlCol="0" anchor="ctr"/>
          <a:lstStyle/>
          <a:p>
            <a:pPr algn="ctr" indent="0" marL="0">
              <a:buNone/>
            </a:pPr>
            <a:r>
              <a:rPr lang="en-US" sz="950" dirty="0">
                <a:solidFill>
                  <a:srgbClr val="76DCFD"/>
                </a:solidFill>
                <a:latin typeface="Aptos" pitchFamily="34" charset="0"/>
                <a:ea typeface="Aptos" pitchFamily="34" charset="-122"/>
                <a:cs typeface="Aptos" pitchFamily="34" charset="-120"/>
              </a:rPr>
              <a:t>Production</a:t>
            </a:r>
            <a:endParaRPr lang="en-US" sz="950" dirty="0"/>
          </a:p>
          <a:p>
            <a:pPr algn="ctr" indent="0" marL="0">
              <a:buNone/>
            </a:pPr>
            <a:r>
              <a:rPr lang="en-US" sz="950" dirty="0">
                <a:solidFill>
                  <a:srgbClr val="76DCFD"/>
                </a:solidFill>
                <a:latin typeface="Aptos" pitchFamily="34" charset="0"/>
                <a:ea typeface="Aptos" pitchFamily="34" charset="-122"/>
                <a:cs typeface="Aptos" pitchFamily="34" charset="-120"/>
              </a:rPr>
              <a:t>(On-Premises)</a:t>
            </a:r>
            <a:endParaRPr lang="en-US" sz="950" dirty="0"/>
          </a:p>
        </p:txBody>
      </p:sp>
      <p:sp>
        <p:nvSpPr>
          <p:cNvPr id="9" name="Text 7"/>
          <p:cNvSpPr/>
          <p:nvPr/>
        </p:nvSpPr>
        <p:spPr>
          <a:xfrm>
            <a:off x="256032" y="2212848"/>
            <a:ext cx="1664208" cy="438912"/>
          </a:xfrm>
          <a:prstGeom prst="rect">
            <a:avLst/>
          </a:prstGeom>
          <a:noFill/>
          <a:ln/>
        </p:spPr>
        <p:txBody>
          <a:bodyPr wrap="square" lIns="0" tIns="0" rIns="0" bIns="0" rtlCol="0" anchor="ctr"/>
          <a:lstStyle/>
          <a:p>
            <a:pPr algn="ctr" indent="0" marL="0">
              <a:buNone/>
            </a:pPr>
            <a:r>
              <a:rPr lang="en-US" sz="850" i="1" dirty="0">
                <a:solidFill>
                  <a:srgbClr val="B6BBC0"/>
                </a:solidFill>
                <a:latin typeface="Aptos" pitchFamily="34" charset="0"/>
                <a:ea typeface="Aptos" pitchFamily="34" charset="-122"/>
                <a:cs typeface="Aptos" pitchFamily="34" charset="-120"/>
              </a:rPr>
              <a:t>Transaction log</a:t>
            </a:r>
            <a:endParaRPr lang="en-US" sz="850" dirty="0"/>
          </a:p>
          <a:p>
            <a:pPr algn="ctr" indent="0" marL="0">
              <a:buNone/>
            </a:pPr>
            <a:r>
              <a:rPr lang="en-US" sz="850" i="1" dirty="0">
                <a:solidFill>
                  <a:srgbClr val="B6BBC0"/>
                </a:solidFill>
                <a:latin typeface="Aptos" pitchFamily="34" charset="0"/>
                <a:ea typeface="Aptos" pitchFamily="34" charset="-122"/>
                <a:cs typeface="Aptos" pitchFamily="34" charset="-120"/>
              </a:rPr>
              <a:t>Port 1433</a:t>
            </a:r>
            <a:endParaRPr lang="en-US" sz="850" dirty="0"/>
          </a:p>
        </p:txBody>
      </p:sp>
      <p:sp>
        <p:nvSpPr>
          <p:cNvPr id="10" name="Shape 8"/>
          <p:cNvSpPr/>
          <p:nvPr/>
        </p:nvSpPr>
        <p:spPr>
          <a:xfrm>
            <a:off x="1938528" y="1984248"/>
            <a:ext cx="420624" cy="0"/>
          </a:xfrm>
          <a:prstGeom prst="line">
            <a:avLst/>
          </a:prstGeom>
          <a:noFill/>
          <a:ln w="25400">
            <a:solidFill>
              <a:srgbClr val="06185F"/>
            </a:solidFill>
            <a:prstDash val="solid"/>
            <a:tailEnd type="arrow"/>
          </a:ln>
        </p:spPr>
      </p:sp>
      <p:sp>
        <p:nvSpPr>
          <p:cNvPr id="11" name="Shape 9"/>
          <p:cNvSpPr/>
          <p:nvPr/>
        </p:nvSpPr>
        <p:spPr>
          <a:xfrm>
            <a:off x="1901952" y="1243584"/>
            <a:ext cx="493776" cy="292608"/>
          </a:xfrm>
          <a:prstGeom prst="rect">
            <a:avLst/>
          </a:prstGeom>
          <a:solidFill>
            <a:srgbClr val="E7ECF0"/>
          </a:solidFill>
          <a:ln w="12700">
            <a:solidFill>
              <a:srgbClr val="B6BBC0"/>
            </a:solidFill>
            <a:prstDash val="solid"/>
          </a:ln>
        </p:spPr>
      </p:sp>
      <p:sp>
        <p:nvSpPr>
          <p:cNvPr id="12" name="Text 10"/>
          <p:cNvSpPr/>
          <p:nvPr/>
        </p:nvSpPr>
        <p:spPr>
          <a:xfrm>
            <a:off x="1901952" y="1243584"/>
            <a:ext cx="493776" cy="292608"/>
          </a:xfrm>
          <a:prstGeom prst="rect">
            <a:avLst/>
          </a:prstGeom>
          <a:noFill/>
          <a:ln/>
        </p:spPr>
        <p:txBody>
          <a:bodyPr wrap="square" lIns="12700" tIns="12700" rIns="12700" bIns="12700" rtlCol="0" anchor="ctr"/>
          <a:lstStyle/>
          <a:p>
            <a:pPr algn="ctr" indent="0" marL="0">
              <a:buNone/>
            </a:pPr>
            <a:r>
              <a:rPr lang="en-US" sz="700" i="1" dirty="0">
                <a:solidFill>
                  <a:srgbClr val="06185F"/>
                </a:solidFill>
                <a:latin typeface="Aptos" pitchFamily="34" charset="0"/>
                <a:ea typeface="Aptos" pitchFamily="34" charset="-122"/>
                <a:cs typeface="Aptos" pitchFamily="34" charset="-120"/>
              </a:rPr>
              <a:t>reads log</a:t>
            </a:r>
            <a:endParaRPr lang="en-US" sz="700" dirty="0"/>
          </a:p>
          <a:p>
            <a:pPr algn="ctr" indent="0" marL="0">
              <a:buNone/>
            </a:pPr>
            <a:r>
              <a:rPr lang="en-US" sz="700" i="1" dirty="0">
                <a:solidFill>
                  <a:srgbClr val="06185F"/>
                </a:solidFill>
                <a:latin typeface="Aptos" pitchFamily="34" charset="0"/>
                <a:ea typeface="Aptos" pitchFamily="34" charset="-122"/>
                <a:cs typeface="Aptos" pitchFamily="34" charset="-120"/>
              </a:rPr>
              <a:t>read-only</a:t>
            </a:r>
            <a:endParaRPr lang="en-US" sz="700" dirty="0"/>
          </a:p>
        </p:txBody>
      </p:sp>
      <p:sp>
        <p:nvSpPr>
          <p:cNvPr id="13" name="Shape 11"/>
          <p:cNvSpPr/>
          <p:nvPr/>
        </p:nvSpPr>
        <p:spPr>
          <a:xfrm>
            <a:off x="2423160" y="1188720"/>
            <a:ext cx="3310128" cy="1591056"/>
          </a:xfrm>
          <a:prstGeom prst="rect">
            <a:avLst/>
          </a:prstGeom>
          <a:solidFill>
            <a:srgbClr val="F5F8FF"/>
          </a:solidFill>
          <a:ln w="25400">
            <a:solidFill>
              <a:srgbClr val="1565C0"/>
            </a:solidFill>
            <a:prstDash val="solid"/>
          </a:ln>
          <a:effectLst>
            <a:outerShdw sx="100000" sy="100000" kx="0" ky="0" algn="bl" rotWithShape="0" blurRad="50800" dist="25400" dir="8100000">
              <a:srgbClr val="000000">
                <a:alpha val="13000"/>
              </a:srgbClr>
            </a:outerShdw>
          </a:effectLst>
        </p:spPr>
      </p:sp>
      <p:sp>
        <p:nvSpPr>
          <p:cNvPr id="14" name="Text 12"/>
          <p:cNvSpPr/>
          <p:nvPr/>
        </p:nvSpPr>
        <p:spPr>
          <a:xfrm>
            <a:off x="2423160" y="1298448"/>
            <a:ext cx="3310128" cy="347472"/>
          </a:xfrm>
          <a:prstGeom prst="rect">
            <a:avLst/>
          </a:prstGeom>
          <a:noFill/>
          <a:ln/>
        </p:spPr>
        <p:txBody>
          <a:bodyPr wrap="square" lIns="0" tIns="0" rIns="0" bIns="0" rtlCol="0" anchor="ctr"/>
          <a:lstStyle/>
          <a:p>
            <a:pPr algn="ctr" indent="0" marL="0">
              <a:buNone/>
            </a:pPr>
            <a:r>
              <a:rPr lang="en-US" sz="1400" b="1" dirty="0">
                <a:solidFill>
                  <a:srgbClr val="1565C0"/>
                </a:solidFill>
                <a:latin typeface="Aptos Display" pitchFamily="34" charset="0"/>
                <a:ea typeface="Aptos Display" pitchFamily="34" charset="-122"/>
                <a:cs typeface="Aptos Display" pitchFamily="34" charset="-120"/>
              </a:rPr>
              <a:t>IBM InfoSphere Data Replication (IIDR)</a:t>
            </a:r>
            <a:endParaRPr lang="en-US" sz="1400" dirty="0"/>
          </a:p>
        </p:txBody>
      </p:sp>
      <p:sp>
        <p:nvSpPr>
          <p:cNvPr id="15" name="Shape 13"/>
          <p:cNvSpPr/>
          <p:nvPr/>
        </p:nvSpPr>
        <p:spPr>
          <a:xfrm>
            <a:off x="2532888" y="1737360"/>
            <a:ext cx="3090672" cy="201168"/>
          </a:xfrm>
          <a:prstGeom prst="rect">
            <a:avLst/>
          </a:prstGeom>
          <a:solidFill>
            <a:srgbClr val="1565C0"/>
          </a:solidFill>
          <a:ln w="12700">
            <a:solidFill>
              <a:srgbClr val="1565C0"/>
            </a:solidFill>
            <a:prstDash val="solid"/>
          </a:ln>
        </p:spPr>
      </p:sp>
      <p:sp>
        <p:nvSpPr>
          <p:cNvPr id="16" name="Text 14"/>
          <p:cNvSpPr/>
          <p:nvPr/>
        </p:nvSpPr>
        <p:spPr>
          <a:xfrm>
            <a:off x="2532888" y="1737360"/>
            <a:ext cx="3090672"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Option A — On-Premises VM</a:t>
            </a:r>
            <a:endParaRPr lang="en-US" sz="900" dirty="0"/>
          </a:p>
        </p:txBody>
      </p:sp>
      <p:sp>
        <p:nvSpPr>
          <p:cNvPr id="17" name="Text 15"/>
          <p:cNvSpPr/>
          <p:nvPr/>
        </p:nvSpPr>
        <p:spPr>
          <a:xfrm>
            <a:off x="2551176" y="1956816"/>
            <a:ext cx="3054096" cy="292608"/>
          </a:xfrm>
          <a:prstGeom prst="rect">
            <a:avLst/>
          </a:prstGeom>
          <a:noFill/>
          <a:ln/>
        </p:spPr>
        <p:txBody>
          <a:bodyPr wrap="square" lIns="0" tIns="0" rIns="0" bIns="0" rtlCol="0" anchor="ctr"/>
          <a:lstStyle/>
          <a:p>
            <a:pPr algn="ctr" indent="0" marL="0">
              <a:buNone/>
            </a:pPr>
            <a:r>
              <a:rPr lang="en-US" sz="850" dirty="0">
                <a:solidFill>
                  <a:srgbClr val="575A5D"/>
                </a:solidFill>
                <a:latin typeface="Aptos" pitchFamily="34" charset="0"/>
                <a:ea typeface="Aptos" pitchFamily="34" charset="-122"/>
                <a:cs typeface="Aptos" pitchFamily="34" charset="-120"/>
              </a:rPr>
              <a:t>Linux (RHEL/Ubuntu) or Windows Server · 4 vCPU, 16 GB RAM · sits in your data center</a:t>
            </a:r>
            <a:endParaRPr lang="en-US" sz="850" dirty="0"/>
          </a:p>
        </p:txBody>
      </p:sp>
      <p:sp>
        <p:nvSpPr>
          <p:cNvPr id="18" name="Shape 16"/>
          <p:cNvSpPr/>
          <p:nvPr/>
        </p:nvSpPr>
        <p:spPr>
          <a:xfrm>
            <a:off x="2532888" y="2304288"/>
            <a:ext cx="3090672" cy="201168"/>
          </a:xfrm>
          <a:prstGeom prst="rect">
            <a:avLst/>
          </a:prstGeom>
          <a:solidFill>
            <a:srgbClr val="2E7D32"/>
          </a:solidFill>
          <a:ln w="12700">
            <a:solidFill>
              <a:srgbClr val="2E7D32"/>
            </a:solidFill>
            <a:prstDash val="solid"/>
          </a:ln>
        </p:spPr>
      </p:sp>
      <p:sp>
        <p:nvSpPr>
          <p:cNvPr id="19" name="Text 17"/>
          <p:cNvSpPr/>
          <p:nvPr/>
        </p:nvSpPr>
        <p:spPr>
          <a:xfrm>
            <a:off x="2532888" y="2304288"/>
            <a:ext cx="3090672"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Option B — GCP Compute Engine VM</a:t>
            </a:r>
            <a:endParaRPr lang="en-US" sz="900" dirty="0"/>
          </a:p>
        </p:txBody>
      </p:sp>
      <p:sp>
        <p:nvSpPr>
          <p:cNvPr id="20" name="Text 18"/>
          <p:cNvSpPr/>
          <p:nvPr/>
        </p:nvSpPr>
        <p:spPr>
          <a:xfrm>
            <a:off x="2551176" y="2523744"/>
            <a:ext cx="3054096" cy="201168"/>
          </a:xfrm>
          <a:prstGeom prst="rect">
            <a:avLst/>
          </a:prstGeom>
          <a:noFill/>
          <a:ln/>
        </p:spPr>
        <p:txBody>
          <a:bodyPr wrap="square" lIns="0" tIns="0" rIns="0" bIns="0" rtlCol="0" anchor="ctr"/>
          <a:lstStyle/>
          <a:p>
            <a:pPr algn="ctr" indent="0" marL="0">
              <a:buNone/>
            </a:pPr>
            <a:r>
              <a:rPr lang="en-US" sz="850" dirty="0">
                <a:solidFill>
                  <a:srgbClr val="575A5D"/>
                </a:solidFill>
                <a:latin typeface="Aptos" pitchFamily="34" charset="0"/>
                <a:ea typeface="Aptos" pitchFamily="34" charset="-122"/>
                <a:cs typeface="Aptos" pitchFamily="34" charset="-120"/>
              </a:rPr>
              <a:t>e2-standard-4 · Linux · requires VPN or Cloud Interconnect back to SQL Server</a:t>
            </a:r>
            <a:endParaRPr lang="en-US" sz="850" dirty="0"/>
          </a:p>
        </p:txBody>
      </p:sp>
      <p:sp>
        <p:nvSpPr>
          <p:cNvPr id="21" name="Shape 19"/>
          <p:cNvSpPr/>
          <p:nvPr/>
        </p:nvSpPr>
        <p:spPr>
          <a:xfrm>
            <a:off x="5788152" y="1984248"/>
            <a:ext cx="402336" cy="0"/>
          </a:xfrm>
          <a:prstGeom prst="line">
            <a:avLst/>
          </a:prstGeom>
          <a:noFill/>
          <a:ln w="25400">
            <a:solidFill>
              <a:srgbClr val="1565C0"/>
            </a:solidFill>
            <a:prstDash val="solid"/>
            <a:tailEnd type="arrow"/>
          </a:ln>
        </p:spPr>
      </p:sp>
      <p:sp>
        <p:nvSpPr>
          <p:cNvPr id="22" name="Shape 20"/>
          <p:cNvSpPr/>
          <p:nvPr/>
        </p:nvSpPr>
        <p:spPr>
          <a:xfrm>
            <a:off x="6208776" y="1188720"/>
            <a:ext cx="2679192" cy="1591056"/>
          </a:xfrm>
          <a:prstGeom prst="rect">
            <a:avLst/>
          </a:prstGeom>
          <a:solidFill>
            <a:srgbClr val="EFF7F3"/>
          </a:solidFill>
          <a:ln w="12700">
            <a:solidFill>
              <a:srgbClr val="2E7D32"/>
            </a:solidFill>
            <a:prstDash val="solid"/>
          </a:ln>
        </p:spPr>
      </p:sp>
      <p:sp>
        <p:nvSpPr>
          <p:cNvPr id="23" name="Text 21"/>
          <p:cNvSpPr/>
          <p:nvPr/>
        </p:nvSpPr>
        <p:spPr>
          <a:xfrm>
            <a:off x="6208776" y="1261872"/>
            <a:ext cx="2679192" cy="237744"/>
          </a:xfrm>
          <a:prstGeom prst="rect">
            <a:avLst/>
          </a:prstGeom>
          <a:noFill/>
          <a:ln/>
        </p:spPr>
        <p:txBody>
          <a:bodyPr wrap="square" lIns="0" tIns="0" rIns="0" bIns="0" rtlCol="0" anchor="ctr"/>
          <a:lstStyle/>
          <a:p>
            <a:pPr algn="ctr" indent="0" marL="0">
              <a:buNone/>
            </a:pPr>
            <a:r>
              <a:rPr lang="en-US" sz="950" b="1" dirty="0">
                <a:solidFill>
                  <a:srgbClr val="2E7D32"/>
                </a:solidFill>
                <a:latin typeface="Aptos Display" pitchFamily="34" charset="0"/>
                <a:ea typeface="Aptos Display" pitchFamily="34" charset="-122"/>
                <a:cs typeface="Aptos Display" pitchFamily="34" charset="-120"/>
              </a:rPr>
              <a:t>GCP TARGETS</a:t>
            </a:r>
            <a:endParaRPr lang="en-US" sz="950" dirty="0"/>
          </a:p>
        </p:txBody>
      </p:sp>
      <p:sp>
        <p:nvSpPr>
          <p:cNvPr id="24" name="Shape 22"/>
          <p:cNvSpPr/>
          <p:nvPr/>
        </p:nvSpPr>
        <p:spPr>
          <a:xfrm>
            <a:off x="6300216" y="1554480"/>
            <a:ext cx="2496312" cy="329184"/>
          </a:xfrm>
          <a:prstGeom prst="rect">
            <a:avLst/>
          </a:prstGeom>
          <a:solidFill>
            <a:srgbClr val="2E7D32"/>
          </a:solidFill>
          <a:ln w="12700">
            <a:solidFill>
              <a:srgbClr val="2E7D32"/>
            </a:solidFill>
            <a:prstDash val="solid"/>
          </a:ln>
        </p:spPr>
      </p:sp>
      <p:sp>
        <p:nvSpPr>
          <p:cNvPr id="25" name="Text 23"/>
          <p:cNvSpPr/>
          <p:nvPr/>
        </p:nvSpPr>
        <p:spPr>
          <a:xfrm>
            <a:off x="6300216" y="1554480"/>
            <a:ext cx="2496312"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BigQuery</a:t>
            </a:r>
            <a:endParaRPr lang="en-US" sz="950" dirty="0"/>
          </a:p>
        </p:txBody>
      </p:sp>
      <p:sp>
        <p:nvSpPr>
          <p:cNvPr id="26" name="Shape 24"/>
          <p:cNvSpPr/>
          <p:nvPr/>
        </p:nvSpPr>
        <p:spPr>
          <a:xfrm>
            <a:off x="6300216" y="1956816"/>
            <a:ext cx="2496312" cy="329184"/>
          </a:xfrm>
          <a:prstGeom prst="rect">
            <a:avLst/>
          </a:prstGeom>
          <a:solidFill>
            <a:srgbClr val="2E7D32"/>
          </a:solidFill>
          <a:ln w="12700">
            <a:solidFill>
              <a:srgbClr val="2E7D32"/>
            </a:solidFill>
            <a:prstDash val="solid"/>
          </a:ln>
        </p:spPr>
      </p:sp>
      <p:sp>
        <p:nvSpPr>
          <p:cNvPr id="27" name="Text 25"/>
          <p:cNvSpPr/>
          <p:nvPr/>
        </p:nvSpPr>
        <p:spPr>
          <a:xfrm>
            <a:off x="6300216" y="1956816"/>
            <a:ext cx="2496312"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Kafka on GCP</a:t>
            </a:r>
            <a:endParaRPr lang="en-US" sz="950" dirty="0"/>
          </a:p>
        </p:txBody>
      </p:sp>
      <p:sp>
        <p:nvSpPr>
          <p:cNvPr id="28" name="Shape 26"/>
          <p:cNvSpPr/>
          <p:nvPr/>
        </p:nvSpPr>
        <p:spPr>
          <a:xfrm>
            <a:off x="6300216" y="2359152"/>
            <a:ext cx="2496312" cy="329184"/>
          </a:xfrm>
          <a:prstGeom prst="rect">
            <a:avLst/>
          </a:prstGeom>
          <a:solidFill>
            <a:srgbClr val="2E7D32"/>
          </a:solidFill>
          <a:ln w="12700">
            <a:solidFill>
              <a:srgbClr val="2E7D32"/>
            </a:solidFill>
            <a:prstDash val="solid"/>
          </a:ln>
        </p:spPr>
      </p:sp>
      <p:sp>
        <p:nvSpPr>
          <p:cNvPr id="29" name="Text 27"/>
          <p:cNvSpPr/>
          <p:nvPr/>
        </p:nvSpPr>
        <p:spPr>
          <a:xfrm>
            <a:off x="6300216" y="2359152"/>
            <a:ext cx="2496312"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Cloud Storage (GCS)</a:t>
            </a:r>
            <a:endParaRPr lang="en-US" sz="950" dirty="0"/>
          </a:p>
        </p:txBody>
      </p:sp>
      <p:sp>
        <p:nvSpPr>
          <p:cNvPr id="30" name="Shape 28"/>
          <p:cNvSpPr/>
          <p:nvPr/>
        </p:nvSpPr>
        <p:spPr>
          <a:xfrm>
            <a:off x="256032" y="2852928"/>
            <a:ext cx="8631936" cy="256032"/>
          </a:xfrm>
          <a:prstGeom prst="rect">
            <a:avLst/>
          </a:prstGeom>
          <a:solidFill>
            <a:srgbClr val="1565C0"/>
          </a:solidFill>
          <a:ln w="12700">
            <a:solidFill>
              <a:srgbClr val="1565C0"/>
            </a:solidFill>
            <a:prstDash val="solid"/>
          </a:ln>
        </p:spPr>
      </p:sp>
      <p:sp>
        <p:nvSpPr>
          <p:cNvPr id="31" name="Text 29"/>
          <p:cNvSpPr/>
          <p:nvPr/>
        </p:nvSpPr>
        <p:spPr>
          <a:xfrm>
            <a:off x="256032" y="2852928"/>
            <a:ext cx="8631936"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Display" pitchFamily="34" charset="0"/>
                <a:ea typeface="Aptos Display" pitchFamily="34" charset="-122"/>
                <a:cs typeface="Aptos Display" pitchFamily="34" charset="-120"/>
              </a:rPr>
              <a:t>ADMINISTRATOR SETUP — WHAT YOU NEED TO DO</a:t>
            </a:r>
            <a:endParaRPr lang="en-US" sz="1000" dirty="0"/>
          </a:p>
        </p:txBody>
      </p:sp>
      <p:sp>
        <p:nvSpPr>
          <p:cNvPr id="32" name="Shape 30"/>
          <p:cNvSpPr/>
          <p:nvPr/>
        </p:nvSpPr>
        <p:spPr>
          <a:xfrm>
            <a:off x="256032" y="3163824"/>
            <a:ext cx="1371600" cy="1572768"/>
          </a:xfrm>
          <a:prstGeom prst="rect">
            <a:avLst/>
          </a:prstGeom>
          <a:solidFill>
            <a:srgbClr val="E7ECF0"/>
          </a:solidFill>
          <a:ln w="12700">
            <a:solidFill>
              <a:srgbClr val="B6BBC0"/>
            </a:solidFill>
            <a:prstDash val="solid"/>
          </a:ln>
        </p:spPr>
      </p:sp>
      <p:sp>
        <p:nvSpPr>
          <p:cNvPr id="33" name="Shape 31"/>
          <p:cNvSpPr/>
          <p:nvPr/>
        </p:nvSpPr>
        <p:spPr>
          <a:xfrm>
            <a:off x="256032" y="3163824"/>
            <a:ext cx="1371600" cy="310896"/>
          </a:xfrm>
          <a:prstGeom prst="rect">
            <a:avLst/>
          </a:prstGeom>
          <a:solidFill>
            <a:srgbClr val="1565C0"/>
          </a:solidFill>
          <a:ln w="12700">
            <a:solidFill>
              <a:srgbClr val="1565C0"/>
            </a:solidFill>
            <a:prstDash val="solid"/>
          </a:ln>
        </p:spPr>
      </p:sp>
      <p:sp>
        <p:nvSpPr>
          <p:cNvPr id="34" name="Text 32"/>
          <p:cNvSpPr/>
          <p:nvPr/>
        </p:nvSpPr>
        <p:spPr>
          <a:xfrm>
            <a:off x="256032" y="3163824"/>
            <a:ext cx="13716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a:t>
            </a:r>
            <a:endParaRPr lang="en-US" sz="1400" dirty="0"/>
          </a:p>
        </p:txBody>
      </p:sp>
      <p:sp>
        <p:nvSpPr>
          <p:cNvPr id="35" name="Text 33"/>
          <p:cNvSpPr/>
          <p:nvPr/>
        </p:nvSpPr>
        <p:spPr>
          <a:xfrm>
            <a:off x="320040" y="3529584"/>
            <a:ext cx="1243584" cy="347472"/>
          </a:xfrm>
          <a:prstGeom prst="rect">
            <a:avLst/>
          </a:prstGeom>
          <a:noFill/>
          <a:ln/>
        </p:spPr>
        <p:txBody>
          <a:bodyPr wrap="square" lIns="0" tIns="0" rIns="0" bIns="0" rtlCol="0" anchor="ctr"/>
          <a:lstStyle/>
          <a:p>
            <a:pPr indent="0" marL="0">
              <a:buNone/>
            </a:pPr>
            <a:r>
              <a:rPr lang="en-US" sz="950" b="1" dirty="0">
                <a:solidFill>
                  <a:srgbClr val="06185F"/>
                </a:solidFill>
                <a:latin typeface="Aptos Display" pitchFamily="34" charset="0"/>
                <a:ea typeface="Aptos Display" pitchFamily="34" charset="-122"/>
                <a:cs typeface="Aptos Display" pitchFamily="34" charset="-120"/>
              </a:rPr>
              <a:t>SQL Server permissions</a:t>
            </a:r>
            <a:endParaRPr lang="en-US" sz="950" dirty="0"/>
          </a:p>
        </p:txBody>
      </p:sp>
      <p:sp>
        <p:nvSpPr>
          <p:cNvPr id="36" name="Text 34"/>
          <p:cNvSpPr/>
          <p:nvPr/>
        </p:nvSpPr>
        <p:spPr>
          <a:xfrm>
            <a:off x="320040" y="3895344"/>
            <a:ext cx="1243584" cy="786384"/>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Grant VIEW SERVER STATE and VIEW DATABASE STATE to the IIDR service account. No ALTER DATABASE or SQL Agent change needed.</a:t>
            </a:r>
            <a:endParaRPr lang="en-US" sz="850" dirty="0"/>
          </a:p>
        </p:txBody>
      </p:sp>
      <p:sp>
        <p:nvSpPr>
          <p:cNvPr id="37" name="Shape 35"/>
          <p:cNvSpPr/>
          <p:nvPr/>
        </p:nvSpPr>
        <p:spPr>
          <a:xfrm>
            <a:off x="1708099" y="3163824"/>
            <a:ext cx="1371600" cy="1572768"/>
          </a:xfrm>
          <a:prstGeom prst="rect">
            <a:avLst/>
          </a:prstGeom>
          <a:solidFill>
            <a:srgbClr val="E7ECF0"/>
          </a:solidFill>
          <a:ln w="12700">
            <a:solidFill>
              <a:srgbClr val="B6BBC0"/>
            </a:solidFill>
            <a:prstDash val="solid"/>
          </a:ln>
        </p:spPr>
      </p:sp>
      <p:sp>
        <p:nvSpPr>
          <p:cNvPr id="38" name="Shape 36"/>
          <p:cNvSpPr/>
          <p:nvPr/>
        </p:nvSpPr>
        <p:spPr>
          <a:xfrm>
            <a:off x="1708099" y="3163824"/>
            <a:ext cx="1371600" cy="310896"/>
          </a:xfrm>
          <a:prstGeom prst="rect">
            <a:avLst/>
          </a:prstGeom>
          <a:solidFill>
            <a:srgbClr val="1565C0"/>
          </a:solidFill>
          <a:ln w="12700">
            <a:solidFill>
              <a:srgbClr val="1565C0"/>
            </a:solidFill>
            <a:prstDash val="solid"/>
          </a:ln>
        </p:spPr>
      </p:sp>
      <p:sp>
        <p:nvSpPr>
          <p:cNvPr id="39" name="Text 37"/>
          <p:cNvSpPr/>
          <p:nvPr/>
        </p:nvSpPr>
        <p:spPr>
          <a:xfrm>
            <a:off x="1708099" y="3163824"/>
            <a:ext cx="13716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2</a:t>
            </a:r>
            <a:endParaRPr lang="en-US" sz="1400" dirty="0"/>
          </a:p>
        </p:txBody>
      </p:sp>
      <p:sp>
        <p:nvSpPr>
          <p:cNvPr id="40" name="Text 38"/>
          <p:cNvSpPr/>
          <p:nvPr/>
        </p:nvSpPr>
        <p:spPr>
          <a:xfrm>
            <a:off x="1772107" y="3529584"/>
            <a:ext cx="1243584" cy="347472"/>
          </a:xfrm>
          <a:prstGeom prst="rect">
            <a:avLst/>
          </a:prstGeom>
          <a:noFill/>
          <a:ln/>
        </p:spPr>
        <p:txBody>
          <a:bodyPr wrap="square" lIns="0" tIns="0" rIns="0" bIns="0" rtlCol="0" anchor="ctr"/>
          <a:lstStyle/>
          <a:p>
            <a:pPr indent="0" marL="0">
              <a:buNone/>
            </a:pPr>
            <a:r>
              <a:rPr lang="en-US" sz="950" b="1" dirty="0">
                <a:solidFill>
                  <a:srgbClr val="06185F"/>
                </a:solidFill>
                <a:latin typeface="Aptos Display" pitchFamily="34" charset="0"/>
                <a:ea typeface="Aptos Display" pitchFamily="34" charset="-122"/>
                <a:cs typeface="Aptos Display" pitchFamily="34" charset="-120"/>
              </a:rPr>
              <a:t>Provision VM</a:t>
            </a:r>
            <a:endParaRPr lang="en-US" sz="950" dirty="0"/>
          </a:p>
        </p:txBody>
      </p:sp>
      <p:sp>
        <p:nvSpPr>
          <p:cNvPr id="41" name="Text 39"/>
          <p:cNvSpPr/>
          <p:nvPr/>
        </p:nvSpPr>
        <p:spPr>
          <a:xfrm>
            <a:off x="1772107" y="3895344"/>
            <a:ext cx="1243584" cy="786384"/>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Linux (RHEL 7+) or Windows Server 2016+. Minimum 4 vCPU, 16 GB RAM. On-prem server or GCP e2-standard-4 instance.</a:t>
            </a:r>
            <a:endParaRPr lang="en-US" sz="850" dirty="0"/>
          </a:p>
        </p:txBody>
      </p:sp>
      <p:sp>
        <p:nvSpPr>
          <p:cNvPr id="42" name="Shape 40"/>
          <p:cNvSpPr/>
          <p:nvPr/>
        </p:nvSpPr>
        <p:spPr>
          <a:xfrm>
            <a:off x="3160166" y="3163824"/>
            <a:ext cx="1371600" cy="1572768"/>
          </a:xfrm>
          <a:prstGeom prst="rect">
            <a:avLst/>
          </a:prstGeom>
          <a:solidFill>
            <a:srgbClr val="E7ECF0"/>
          </a:solidFill>
          <a:ln w="12700">
            <a:solidFill>
              <a:srgbClr val="B6BBC0"/>
            </a:solidFill>
            <a:prstDash val="solid"/>
          </a:ln>
        </p:spPr>
      </p:sp>
      <p:sp>
        <p:nvSpPr>
          <p:cNvPr id="43" name="Shape 41"/>
          <p:cNvSpPr/>
          <p:nvPr/>
        </p:nvSpPr>
        <p:spPr>
          <a:xfrm>
            <a:off x="3160166" y="3163824"/>
            <a:ext cx="1371600" cy="310896"/>
          </a:xfrm>
          <a:prstGeom prst="rect">
            <a:avLst/>
          </a:prstGeom>
          <a:solidFill>
            <a:srgbClr val="1565C0"/>
          </a:solidFill>
          <a:ln w="12700">
            <a:solidFill>
              <a:srgbClr val="1565C0"/>
            </a:solidFill>
            <a:prstDash val="solid"/>
          </a:ln>
        </p:spPr>
      </p:sp>
      <p:sp>
        <p:nvSpPr>
          <p:cNvPr id="44" name="Text 42"/>
          <p:cNvSpPr/>
          <p:nvPr/>
        </p:nvSpPr>
        <p:spPr>
          <a:xfrm>
            <a:off x="3160166" y="3163824"/>
            <a:ext cx="13716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3</a:t>
            </a:r>
            <a:endParaRPr lang="en-US" sz="1400" dirty="0"/>
          </a:p>
        </p:txBody>
      </p:sp>
      <p:sp>
        <p:nvSpPr>
          <p:cNvPr id="45" name="Text 43"/>
          <p:cNvSpPr/>
          <p:nvPr/>
        </p:nvSpPr>
        <p:spPr>
          <a:xfrm>
            <a:off x="3224174" y="3529584"/>
            <a:ext cx="1243584" cy="347472"/>
          </a:xfrm>
          <a:prstGeom prst="rect">
            <a:avLst/>
          </a:prstGeom>
          <a:noFill/>
          <a:ln/>
        </p:spPr>
        <p:txBody>
          <a:bodyPr wrap="square" lIns="0" tIns="0" rIns="0" bIns="0" rtlCol="0" anchor="ctr"/>
          <a:lstStyle/>
          <a:p>
            <a:pPr indent="0" marL="0">
              <a:buNone/>
            </a:pPr>
            <a:r>
              <a:rPr lang="en-US" sz="950" b="1" dirty="0">
                <a:solidFill>
                  <a:srgbClr val="06185F"/>
                </a:solidFill>
                <a:latin typeface="Aptos Display" pitchFamily="34" charset="0"/>
                <a:ea typeface="Aptos Display" pitchFamily="34" charset="-122"/>
                <a:cs typeface="Aptos Display" pitchFamily="34" charset="-120"/>
              </a:rPr>
              <a:t>Install IIDR software</a:t>
            </a:r>
            <a:endParaRPr lang="en-US" sz="950" dirty="0"/>
          </a:p>
        </p:txBody>
      </p:sp>
      <p:sp>
        <p:nvSpPr>
          <p:cNvPr id="46" name="Text 44"/>
          <p:cNvSpPr/>
          <p:nvPr/>
        </p:nvSpPr>
        <p:spPr>
          <a:xfrm>
            <a:off x="3224174" y="3895344"/>
            <a:ext cx="1243584" cy="786384"/>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Run IBM installer. Install IIDR server + Management Console (IIMC). Requires IBM license. Installs in ~30 min.</a:t>
            </a:r>
            <a:endParaRPr lang="en-US" sz="850" dirty="0"/>
          </a:p>
        </p:txBody>
      </p:sp>
      <p:sp>
        <p:nvSpPr>
          <p:cNvPr id="47" name="Shape 45"/>
          <p:cNvSpPr/>
          <p:nvPr/>
        </p:nvSpPr>
        <p:spPr>
          <a:xfrm>
            <a:off x="4612234" y="3163824"/>
            <a:ext cx="1371600" cy="1572768"/>
          </a:xfrm>
          <a:prstGeom prst="rect">
            <a:avLst/>
          </a:prstGeom>
          <a:solidFill>
            <a:srgbClr val="E7ECF0"/>
          </a:solidFill>
          <a:ln w="12700">
            <a:solidFill>
              <a:srgbClr val="B6BBC0"/>
            </a:solidFill>
            <a:prstDash val="solid"/>
          </a:ln>
        </p:spPr>
      </p:sp>
      <p:sp>
        <p:nvSpPr>
          <p:cNvPr id="48" name="Shape 46"/>
          <p:cNvSpPr/>
          <p:nvPr/>
        </p:nvSpPr>
        <p:spPr>
          <a:xfrm>
            <a:off x="4612234" y="3163824"/>
            <a:ext cx="1371600" cy="310896"/>
          </a:xfrm>
          <a:prstGeom prst="rect">
            <a:avLst/>
          </a:prstGeom>
          <a:solidFill>
            <a:srgbClr val="1565C0"/>
          </a:solidFill>
          <a:ln w="12700">
            <a:solidFill>
              <a:srgbClr val="1565C0"/>
            </a:solidFill>
            <a:prstDash val="solid"/>
          </a:ln>
        </p:spPr>
      </p:sp>
      <p:sp>
        <p:nvSpPr>
          <p:cNvPr id="49" name="Text 47"/>
          <p:cNvSpPr/>
          <p:nvPr/>
        </p:nvSpPr>
        <p:spPr>
          <a:xfrm>
            <a:off x="4612234" y="3163824"/>
            <a:ext cx="13716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4</a:t>
            </a:r>
            <a:endParaRPr lang="en-US" sz="1400" dirty="0"/>
          </a:p>
        </p:txBody>
      </p:sp>
      <p:sp>
        <p:nvSpPr>
          <p:cNvPr id="50" name="Text 48"/>
          <p:cNvSpPr/>
          <p:nvPr/>
        </p:nvSpPr>
        <p:spPr>
          <a:xfrm>
            <a:off x="4676242" y="3529584"/>
            <a:ext cx="1243584" cy="347472"/>
          </a:xfrm>
          <a:prstGeom prst="rect">
            <a:avLst/>
          </a:prstGeom>
          <a:noFill/>
          <a:ln/>
        </p:spPr>
        <p:txBody>
          <a:bodyPr wrap="square" lIns="0" tIns="0" rIns="0" bIns="0" rtlCol="0" anchor="ctr"/>
          <a:lstStyle/>
          <a:p>
            <a:pPr indent="0" marL="0">
              <a:buNone/>
            </a:pPr>
            <a:r>
              <a:rPr lang="en-US" sz="950" b="1" dirty="0">
                <a:solidFill>
                  <a:srgbClr val="06185F"/>
                </a:solidFill>
                <a:latin typeface="Aptos Display" pitchFamily="34" charset="0"/>
                <a:ea typeface="Aptos Display" pitchFamily="34" charset="-122"/>
                <a:cs typeface="Aptos Display" pitchFamily="34" charset="-120"/>
              </a:rPr>
              <a:t>Configure source</a:t>
            </a:r>
            <a:endParaRPr lang="en-US" sz="950" dirty="0"/>
          </a:p>
        </p:txBody>
      </p:sp>
      <p:sp>
        <p:nvSpPr>
          <p:cNvPr id="51" name="Text 49"/>
          <p:cNvSpPr/>
          <p:nvPr/>
        </p:nvSpPr>
        <p:spPr>
          <a:xfrm>
            <a:off x="4676242" y="3895344"/>
            <a:ext cx="1243584" cy="786384"/>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In IIMC: add SQL Server datastore — hostname, port 1433, credentials. IIDR auto-discovers schemas and tables.</a:t>
            </a:r>
            <a:endParaRPr lang="en-US" sz="850" dirty="0"/>
          </a:p>
        </p:txBody>
      </p:sp>
      <p:sp>
        <p:nvSpPr>
          <p:cNvPr id="52" name="Shape 50"/>
          <p:cNvSpPr/>
          <p:nvPr/>
        </p:nvSpPr>
        <p:spPr>
          <a:xfrm>
            <a:off x="6064301" y="3163824"/>
            <a:ext cx="1371600" cy="1572768"/>
          </a:xfrm>
          <a:prstGeom prst="rect">
            <a:avLst/>
          </a:prstGeom>
          <a:solidFill>
            <a:srgbClr val="E7ECF0"/>
          </a:solidFill>
          <a:ln w="12700">
            <a:solidFill>
              <a:srgbClr val="B6BBC0"/>
            </a:solidFill>
            <a:prstDash val="solid"/>
          </a:ln>
        </p:spPr>
      </p:sp>
      <p:sp>
        <p:nvSpPr>
          <p:cNvPr id="53" name="Shape 51"/>
          <p:cNvSpPr/>
          <p:nvPr/>
        </p:nvSpPr>
        <p:spPr>
          <a:xfrm>
            <a:off x="6064301" y="3163824"/>
            <a:ext cx="1371600" cy="310896"/>
          </a:xfrm>
          <a:prstGeom prst="rect">
            <a:avLst/>
          </a:prstGeom>
          <a:solidFill>
            <a:srgbClr val="1565C0"/>
          </a:solidFill>
          <a:ln w="12700">
            <a:solidFill>
              <a:srgbClr val="1565C0"/>
            </a:solidFill>
            <a:prstDash val="solid"/>
          </a:ln>
        </p:spPr>
      </p:sp>
      <p:sp>
        <p:nvSpPr>
          <p:cNvPr id="54" name="Text 52"/>
          <p:cNvSpPr/>
          <p:nvPr/>
        </p:nvSpPr>
        <p:spPr>
          <a:xfrm>
            <a:off x="6064301" y="3163824"/>
            <a:ext cx="13716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5</a:t>
            </a:r>
            <a:endParaRPr lang="en-US" sz="1400" dirty="0"/>
          </a:p>
        </p:txBody>
      </p:sp>
      <p:sp>
        <p:nvSpPr>
          <p:cNvPr id="55" name="Text 53"/>
          <p:cNvSpPr/>
          <p:nvPr/>
        </p:nvSpPr>
        <p:spPr>
          <a:xfrm>
            <a:off x="6128309" y="3529584"/>
            <a:ext cx="1243584" cy="347472"/>
          </a:xfrm>
          <a:prstGeom prst="rect">
            <a:avLst/>
          </a:prstGeom>
          <a:noFill/>
          <a:ln/>
        </p:spPr>
        <p:txBody>
          <a:bodyPr wrap="square" lIns="0" tIns="0" rIns="0" bIns="0" rtlCol="0" anchor="ctr"/>
          <a:lstStyle/>
          <a:p>
            <a:pPr indent="0" marL="0">
              <a:buNone/>
            </a:pPr>
            <a:r>
              <a:rPr lang="en-US" sz="950" b="1" dirty="0">
                <a:solidFill>
                  <a:srgbClr val="06185F"/>
                </a:solidFill>
                <a:latin typeface="Aptos Display" pitchFamily="34" charset="0"/>
                <a:ea typeface="Aptos Display" pitchFamily="34" charset="-122"/>
                <a:cs typeface="Aptos Display" pitchFamily="34" charset="-120"/>
              </a:rPr>
              <a:t>Configure GCP target</a:t>
            </a:r>
            <a:endParaRPr lang="en-US" sz="950" dirty="0"/>
          </a:p>
        </p:txBody>
      </p:sp>
      <p:sp>
        <p:nvSpPr>
          <p:cNvPr id="56" name="Text 54"/>
          <p:cNvSpPr/>
          <p:nvPr/>
        </p:nvSpPr>
        <p:spPr>
          <a:xfrm>
            <a:off x="6128309" y="3895344"/>
            <a:ext cx="1243584" cy="786384"/>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Add BigQuery datastore (GCP service account JSON key). Or add Kafka endpoint for Kafka on GCP / Confluent.</a:t>
            </a:r>
            <a:endParaRPr lang="en-US" sz="850" dirty="0"/>
          </a:p>
        </p:txBody>
      </p:sp>
      <p:sp>
        <p:nvSpPr>
          <p:cNvPr id="57" name="Shape 55"/>
          <p:cNvSpPr/>
          <p:nvPr/>
        </p:nvSpPr>
        <p:spPr>
          <a:xfrm>
            <a:off x="7516368" y="3163824"/>
            <a:ext cx="1371600" cy="1572768"/>
          </a:xfrm>
          <a:prstGeom prst="rect">
            <a:avLst/>
          </a:prstGeom>
          <a:solidFill>
            <a:srgbClr val="E7ECF0"/>
          </a:solidFill>
          <a:ln w="12700">
            <a:solidFill>
              <a:srgbClr val="B6BBC0"/>
            </a:solidFill>
            <a:prstDash val="solid"/>
          </a:ln>
        </p:spPr>
      </p:sp>
      <p:sp>
        <p:nvSpPr>
          <p:cNvPr id="58" name="Shape 56"/>
          <p:cNvSpPr/>
          <p:nvPr/>
        </p:nvSpPr>
        <p:spPr>
          <a:xfrm>
            <a:off x="7516368" y="3163824"/>
            <a:ext cx="1371600" cy="310896"/>
          </a:xfrm>
          <a:prstGeom prst="rect">
            <a:avLst/>
          </a:prstGeom>
          <a:solidFill>
            <a:srgbClr val="1565C0"/>
          </a:solidFill>
          <a:ln w="12700">
            <a:solidFill>
              <a:srgbClr val="1565C0"/>
            </a:solidFill>
            <a:prstDash val="solid"/>
          </a:ln>
        </p:spPr>
      </p:sp>
      <p:sp>
        <p:nvSpPr>
          <p:cNvPr id="59" name="Text 57"/>
          <p:cNvSpPr/>
          <p:nvPr/>
        </p:nvSpPr>
        <p:spPr>
          <a:xfrm>
            <a:off x="7516368" y="3163824"/>
            <a:ext cx="13716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6</a:t>
            </a:r>
            <a:endParaRPr lang="en-US" sz="1400" dirty="0"/>
          </a:p>
        </p:txBody>
      </p:sp>
      <p:sp>
        <p:nvSpPr>
          <p:cNvPr id="60" name="Text 58"/>
          <p:cNvSpPr/>
          <p:nvPr/>
        </p:nvSpPr>
        <p:spPr>
          <a:xfrm>
            <a:off x="7580376" y="3529584"/>
            <a:ext cx="1243584" cy="347472"/>
          </a:xfrm>
          <a:prstGeom prst="rect">
            <a:avLst/>
          </a:prstGeom>
          <a:noFill/>
          <a:ln/>
        </p:spPr>
        <p:txBody>
          <a:bodyPr wrap="square" lIns="0" tIns="0" rIns="0" bIns="0" rtlCol="0" anchor="ctr"/>
          <a:lstStyle/>
          <a:p>
            <a:pPr indent="0" marL="0">
              <a:buNone/>
            </a:pPr>
            <a:r>
              <a:rPr lang="en-US" sz="950" b="1" dirty="0">
                <a:solidFill>
                  <a:srgbClr val="06185F"/>
                </a:solidFill>
                <a:latin typeface="Aptos Display" pitchFamily="34" charset="0"/>
                <a:ea typeface="Aptos Display" pitchFamily="34" charset="-122"/>
                <a:cs typeface="Aptos Display" pitchFamily="34" charset="-120"/>
              </a:rPr>
              <a:t>Define subscription &amp; start</a:t>
            </a:r>
            <a:endParaRPr lang="en-US" sz="950" dirty="0"/>
          </a:p>
        </p:txBody>
      </p:sp>
      <p:sp>
        <p:nvSpPr>
          <p:cNvPr id="61" name="Text 59"/>
          <p:cNvSpPr/>
          <p:nvPr/>
        </p:nvSpPr>
        <p:spPr>
          <a:xfrm>
            <a:off x="7580376" y="3895344"/>
            <a:ext cx="1243584" cy="786384"/>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Select source tables → create subscription → start mirroring. IIDR runs full load once, then continuous log-based CDC.</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Striim — Topology &amp; Admin Setup</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Text 3"/>
          <p:cNvSpPr/>
          <p:nvPr/>
        </p:nvSpPr>
        <p:spPr>
          <a:xfrm>
            <a:off x="256032" y="850392"/>
            <a:ext cx="8631936" cy="256032"/>
          </a:xfrm>
          <a:prstGeom prst="rect">
            <a:avLst/>
          </a:prstGeom>
          <a:noFill/>
          <a:ln/>
        </p:spPr>
        <p:txBody>
          <a:bodyPr wrap="square" lIns="0" tIns="0" rIns="0" bIns="0" rtlCol="0" anchor="ctr"/>
          <a:lstStyle/>
          <a:p>
            <a:pPr indent="0" marL="0">
              <a:buNone/>
            </a:pPr>
            <a:r>
              <a:rPr lang="en-US" sz="1100" i="1" dirty="0">
                <a:solidFill>
                  <a:srgbClr val="575A5D"/>
                </a:solidFill>
                <a:latin typeface="Aptos" pitchFamily="34" charset="0"/>
                <a:ea typeface="Aptos" pitchFamily="34" charset="-122"/>
                <a:cs typeface="Aptos" pitchFamily="34" charset="-120"/>
              </a:rPr>
              <a:t>Reads the SQL Server transaction log only — zero additional load on production databases.</a:t>
            </a:r>
            <a:endParaRPr lang="en-US" sz="1100" dirty="0"/>
          </a:p>
        </p:txBody>
      </p:sp>
      <p:sp>
        <p:nvSpPr>
          <p:cNvPr id="6" name="Shape 4"/>
          <p:cNvSpPr/>
          <p:nvPr/>
        </p:nvSpPr>
        <p:spPr>
          <a:xfrm>
            <a:off x="256032" y="1188720"/>
            <a:ext cx="1664208" cy="1591056"/>
          </a:xfrm>
          <a:prstGeom prst="rect">
            <a:avLst/>
          </a:prstGeom>
          <a:solidFill>
            <a:srgbClr val="06185F"/>
          </a:solidFill>
          <a:ln w="12700">
            <a:solidFill>
              <a:srgbClr val="06185F"/>
            </a:solidFill>
            <a:prstDash val="solid"/>
          </a:ln>
          <a:effectLst>
            <a:outerShdw sx="100000" sy="100000" kx="0" ky="0" algn="bl" rotWithShape="0" blurRad="50800" dist="25400" dir="8100000">
              <a:srgbClr val="000000">
                <a:alpha val="13000"/>
              </a:srgbClr>
            </a:outerShdw>
          </a:effectLst>
        </p:spPr>
      </p:sp>
      <p:sp>
        <p:nvSpPr>
          <p:cNvPr id="7" name="Text 5"/>
          <p:cNvSpPr/>
          <p:nvPr/>
        </p:nvSpPr>
        <p:spPr>
          <a:xfrm>
            <a:off x="256032" y="1335024"/>
            <a:ext cx="16642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ptos Display" pitchFamily="34" charset="0"/>
                <a:ea typeface="Aptos Display" pitchFamily="34" charset="-122"/>
                <a:cs typeface="Aptos Display" pitchFamily="34" charset="-120"/>
              </a:rPr>
              <a:t>SQL Server</a:t>
            </a:r>
            <a:endParaRPr lang="en-US" sz="1200" dirty="0"/>
          </a:p>
        </p:txBody>
      </p:sp>
      <p:sp>
        <p:nvSpPr>
          <p:cNvPr id="8" name="Text 6"/>
          <p:cNvSpPr/>
          <p:nvPr/>
        </p:nvSpPr>
        <p:spPr>
          <a:xfrm>
            <a:off x="256032" y="1682496"/>
            <a:ext cx="1664208" cy="457200"/>
          </a:xfrm>
          <a:prstGeom prst="rect">
            <a:avLst/>
          </a:prstGeom>
          <a:noFill/>
          <a:ln/>
        </p:spPr>
        <p:txBody>
          <a:bodyPr wrap="square" lIns="0" tIns="0" rIns="0" bIns="0" rtlCol="0" anchor="ctr"/>
          <a:lstStyle/>
          <a:p>
            <a:pPr algn="ctr" indent="0" marL="0">
              <a:buNone/>
            </a:pPr>
            <a:r>
              <a:rPr lang="en-US" sz="950" dirty="0">
                <a:solidFill>
                  <a:srgbClr val="76DCFD"/>
                </a:solidFill>
                <a:latin typeface="Aptos" pitchFamily="34" charset="0"/>
                <a:ea typeface="Aptos" pitchFamily="34" charset="-122"/>
                <a:cs typeface="Aptos" pitchFamily="34" charset="-120"/>
              </a:rPr>
              <a:t>Production</a:t>
            </a:r>
            <a:endParaRPr lang="en-US" sz="950" dirty="0"/>
          </a:p>
          <a:p>
            <a:pPr algn="ctr" indent="0" marL="0">
              <a:buNone/>
            </a:pPr>
            <a:r>
              <a:rPr lang="en-US" sz="950" dirty="0">
                <a:solidFill>
                  <a:srgbClr val="76DCFD"/>
                </a:solidFill>
                <a:latin typeface="Aptos" pitchFamily="34" charset="0"/>
                <a:ea typeface="Aptos" pitchFamily="34" charset="-122"/>
                <a:cs typeface="Aptos" pitchFamily="34" charset="-120"/>
              </a:rPr>
              <a:t>(On-Premises)</a:t>
            </a:r>
            <a:endParaRPr lang="en-US" sz="950" dirty="0"/>
          </a:p>
        </p:txBody>
      </p:sp>
      <p:sp>
        <p:nvSpPr>
          <p:cNvPr id="9" name="Text 7"/>
          <p:cNvSpPr/>
          <p:nvPr/>
        </p:nvSpPr>
        <p:spPr>
          <a:xfrm>
            <a:off x="256032" y="2212848"/>
            <a:ext cx="1664208" cy="438912"/>
          </a:xfrm>
          <a:prstGeom prst="rect">
            <a:avLst/>
          </a:prstGeom>
          <a:noFill/>
          <a:ln/>
        </p:spPr>
        <p:txBody>
          <a:bodyPr wrap="square" lIns="0" tIns="0" rIns="0" bIns="0" rtlCol="0" anchor="ctr"/>
          <a:lstStyle/>
          <a:p>
            <a:pPr algn="ctr" indent="0" marL="0">
              <a:buNone/>
            </a:pPr>
            <a:r>
              <a:rPr lang="en-US" sz="850" i="1" dirty="0">
                <a:solidFill>
                  <a:srgbClr val="B6BBC0"/>
                </a:solidFill>
                <a:latin typeface="Aptos" pitchFamily="34" charset="0"/>
                <a:ea typeface="Aptos" pitchFamily="34" charset="-122"/>
                <a:cs typeface="Aptos" pitchFamily="34" charset="-120"/>
              </a:rPr>
              <a:t>Transaction log</a:t>
            </a:r>
            <a:endParaRPr lang="en-US" sz="850" dirty="0"/>
          </a:p>
          <a:p>
            <a:pPr algn="ctr" indent="0" marL="0">
              <a:buNone/>
            </a:pPr>
            <a:r>
              <a:rPr lang="en-US" sz="850" i="1" dirty="0">
                <a:solidFill>
                  <a:srgbClr val="B6BBC0"/>
                </a:solidFill>
                <a:latin typeface="Aptos" pitchFamily="34" charset="0"/>
                <a:ea typeface="Aptos" pitchFamily="34" charset="-122"/>
                <a:cs typeface="Aptos" pitchFamily="34" charset="-120"/>
              </a:rPr>
              <a:t>Port 1433</a:t>
            </a:r>
            <a:endParaRPr lang="en-US" sz="850" dirty="0"/>
          </a:p>
        </p:txBody>
      </p:sp>
      <p:sp>
        <p:nvSpPr>
          <p:cNvPr id="10" name="Shape 8"/>
          <p:cNvSpPr/>
          <p:nvPr/>
        </p:nvSpPr>
        <p:spPr>
          <a:xfrm>
            <a:off x="1938528" y="1984248"/>
            <a:ext cx="420624" cy="0"/>
          </a:xfrm>
          <a:prstGeom prst="line">
            <a:avLst/>
          </a:prstGeom>
          <a:noFill/>
          <a:ln w="25400">
            <a:solidFill>
              <a:srgbClr val="06185F"/>
            </a:solidFill>
            <a:prstDash val="solid"/>
            <a:tailEnd type="arrow"/>
          </a:ln>
        </p:spPr>
      </p:sp>
      <p:sp>
        <p:nvSpPr>
          <p:cNvPr id="11" name="Shape 9"/>
          <p:cNvSpPr/>
          <p:nvPr/>
        </p:nvSpPr>
        <p:spPr>
          <a:xfrm>
            <a:off x="1901952" y="1243584"/>
            <a:ext cx="493776" cy="292608"/>
          </a:xfrm>
          <a:prstGeom prst="rect">
            <a:avLst/>
          </a:prstGeom>
          <a:solidFill>
            <a:srgbClr val="E7ECF0"/>
          </a:solidFill>
          <a:ln w="12700">
            <a:solidFill>
              <a:srgbClr val="B6BBC0"/>
            </a:solidFill>
            <a:prstDash val="solid"/>
          </a:ln>
        </p:spPr>
      </p:sp>
      <p:sp>
        <p:nvSpPr>
          <p:cNvPr id="12" name="Text 10"/>
          <p:cNvSpPr/>
          <p:nvPr/>
        </p:nvSpPr>
        <p:spPr>
          <a:xfrm>
            <a:off x="1901952" y="1243584"/>
            <a:ext cx="493776" cy="292608"/>
          </a:xfrm>
          <a:prstGeom prst="rect">
            <a:avLst/>
          </a:prstGeom>
          <a:noFill/>
          <a:ln/>
        </p:spPr>
        <p:txBody>
          <a:bodyPr wrap="square" lIns="12700" tIns="12700" rIns="12700" bIns="12700" rtlCol="0" anchor="ctr"/>
          <a:lstStyle/>
          <a:p>
            <a:pPr algn="ctr" indent="0" marL="0">
              <a:buNone/>
            </a:pPr>
            <a:r>
              <a:rPr lang="en-US" sz="700" i="1" dirty="0">
                <a:solidFill>
                  <a:srgbClr val="06185F"/>
                </a:solidFill>
                <a:latin typeface="Aptos" pitchFamily="34" charset="0"/>
                <a:ea typeface="Aptos" pitchFamily="34" charset="-122"/>
                <a:cs typeface="Aptos" pitchFamily="34" charset="-120"/>
              </a:rPr>
              <a:t>reads log</a:t>
            </a:r>
            <a:endParaRPr lang="en-US" sz="700" dirty="0"/>
          </a:p>
          <a:p>
            <a:pPr algn="ctr" indent="0" marL="0">
              <a:buNone/>
            </a:pPr>
            <a:r>
              <a:rPr lang="en-US" sz="700" i="1" dirty="0">
                <a:solidFill>
                  <a:srgbClr val="06185F"/>
                </a:solidFill>
                <a:latin typeface="Aptos" pitchFamily="34" charset="0"/>
                <a:ea typeface="Aptos" pitchFamily="34" charset="-122"/>
                <a:cs typeface="Aptos" pitchFamily="34" charset="-120"/>
              </a:rPr>
              <a:t>read-only</a:t>
            </a:r>
            <a:endParaRPr lang="en-US" sz="700" dirty="0"/>
          </a:p>
        </p:txBody>
      </p:sp>
      <p:sp>
        <p:nvSpPr>
          <p:cNvPr id="13" name="Shape 11"/>
          <p:cNvSpPr/>
          <p:nvPr/>
        </p:nvSpPr>
        <p:spPr>
          <a:xfrm>
            <a:off x="2423160" y="1188720"/>
            <a:ext cx="3310128" cy="1591056"/>
          </a:xfrm>
          <a:prstGeom prst="rect">
            <a:avLst/>
          </a:prstGeom>
          <a:solidFill>
            <a:srgbClr val="F5F8FF"/>
          </a:solidFill>
          <a:ln w="25400">
            <a:solidFill>
              <a:srgbClr val="E65100"/>
            </a:solidFill>
            <a:prstDash val="solid"/>
          </a:ln>
          <a:effectLst>
            <a:outerShdw sx="100000" sy="100000" kx="0" ky="0" algn="bl" rotWithShape="0" blurRad="50800" dist="25400" dir="8100000">
              <a:srgbClr val="000000">
                <a:alpha val="13000"/>
              </a:srgbClr>
            </a:outerShdw>
          </a:effectLst>
        </p:spPr>
      </p:sp>
      <p:sp>
        <p:nvSpPr>
          <p:cNvPr id="14" name="Text 12"/>
          <p:cNvSpPr/>
          <p:nvPr/>
        </p:nvSpPr>
        <p:spPr>
          <a:xfrm>
            <a:off x="2423160" y="1298448"/>
            <a:ext cx="3310128" cy="347472"/>
          </a:xfrm>
          <a:prstGeom prst="rect">
            <a:avLst/>
          </a:prstGeom>
          <a:noFill/>
          <a:ln/>
        </p:spPr>
        <p:txBody>
          <a:bodyPr wrap="square" lIns="0" tIns="0" rIns="0" bIns="0" rtlCol="0" anchor="ctr"/>
          <a:lstStyle/>
          <a:p>
            <a:pPr algn="ctr" indent="0" marL="0">
              <a:buNone/>
            </a:pPr>
            <a:r>
              <a:rPr lang="en-US" sz="1400" b="1" dirty="0">
                <a:solidFill>
                  <a:srgbClr val="E65100"/>
                </a:solidFill>
                <a:latin typeface="Aptos Display" pitchFamily="34" charset="0"/>
                <a:ea typeface="Aptos Display" pitchFamily="34" charset="-122"/>
                <a:cs typeface="Aptos Display" pitchFamily="34" charset="-120"/>
              </a:rPr>
              <a:t>Striim  (SaaS or Self-Managed)</a:t>
            </a:r>
            <a:endParaRPr lang="en-US" sz="1400" dirty="0"/>
          </a:p>
        </p:txBody>
      </p:sp>
      <p:sp>
        <p:nvSpPr>
          <p:cNvPr id="15" name="Shape 13"/>
          <p:cNvSpPr/>
          <p:nvPr/>
        </p:nvSpPr>
        <p:spPr>
          <a:xfrm>
            <a:off x="2532888" y="1737360"/>
            <a:ext cx="3090672" cy="201168"/>
          </a:xfrm>
          <a:prstGeom prst="rect">
            <a:avLst/>
          </a:prstGeom>
          <a:solidFill>
            <a:srgbClr val="E65100"/>
          </a:solidFill>
          <a:ln w="12700">
            <a:solidFill>
              <a:srgbClr val="E65100"/>
            </a:solidFill>
            <a:prstDash val="solid"/>
          </a:ln>
        </p:spPr>
      </p:sp>
      <p:sp>
        <p:nvSpPr>
          <p:cNvPr id="16" name="Text 14"/>
          <p:cNvSpPr/>
          <p:nvPr/>
        </p:nvSpPr>
        <p:spPr>
          <a:xfrm>
            <a:off x="2532888" y="1737360"/>
            <a:ext cx="3090672"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Option A — Striim Cloud (SaaS)</a:t>
            </a:r>
            <a:endParaRPr lang="en-US" sz="900" dirty="0"/>
          </a:p>
        </p:txBody>
      </p:sp>
      <p:sp>
        <p:nvSpPr>
          <p:cNvPr id="17" name="Text 15"/>
          <p:cNvSpPr/>
          <p:nvPr/>
        </p:nvSpPr>
        <p:spPr>
          <a:xfrm>
            <a:off x="2551176" y="1956816"/>
            <a:ext cx="3054096" cy="292608"/>
          </a:xfrm>
          <a:prstGeom prst="rect">
            <a:avLst/>
          </a:prstGeom>
          <a:noFill/>
          <a:ln/>
        </p:spPr>
        <p:txBody>
          <a:bodyPr wrap="square" lIns="0" tIns="0" rIns="0" bIns="0" rtlCol="0" anchor="ctr"/>
          <a:lstStyle/>
          <a:p>
            <a:pPr algn="ctr" indent="0" marL="0">
              <a:buNone/>
            </a:pPr>
            <a:r>
              <a:rPr lang="en-US" sz="850" dirty="0">
                <a:solidFill>
                  <a:srgbClr val="575A5D"/>
                </a:solidFill>
                <a:latin typeface="Aptos" pitchFamily="34" charset="0"/>
                <a:ea typeface="Aptos" pitchFamily="34" charset="-122"/>
                <a:cs typeface="Aptos" pitchFamily="34" charset="-120"/>
              </a:rPr>
              <a:t>No VM to manage — Striim hosts the engine. Sign up at striim.io. Connect to SQL Server over VPN.</a:t>
            </a:r>
            <a:endParaRPr lang="en-US" sz="850" dirty="0"/>
          </a:p>
        </p:txBody>
      </p:sp>
      <p:sp>
        <p:nvSpPr>
          <p:cNvPr id="18" name="Shape 16"/>
          <p:cNvSpPr/>
          <p:nvPr/>
        </p:nvSpPr>
        <p:spPr>
          <a:xfrm>
            <a:off x="2532888" y="2304288"/>
            <a:ext cx="3090672" cy="201168"/>
          </a:xfrm>
          <a:prstGeom prst="rect">
            <a:avLst/>
          </a:prstGeom>
          <a:solidFill>
            <a:srgbClr val="2E7D32"/>
          </a:solidFill>
          <a:ln w="12700">
            <a:solidFill>
              <a:srgbClr val="2E7D32"/>
            </a:solidFill>
            <a:prstDash val="solid"/>
          </a:ln>
        </p:spPr>
      </p:sp>
      <p:sp>
        <p:nvSpPr>
          <p:cNvPr id="19" name="Text 17"/>
          <p:cNvSpPr/>
          <p:nvPr/>
        </p:nvSpPr>
        <p:spPr>
          <a:xfrm>
            <a:off x="2532888" y="2304288"/>
            <a:ext cx="3090672"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Option B — GCP Compute Engine VM</a:t>
            </a:r>
            <a:endParaRPr lang="en-US" sz="900" dirty="0"/>
          </a:p>
        </p:txBody>
      </p:sp>
      <p:sp>
        <p:nvSpPr>
          <p:cNvPr id="20" name="Text 18"/>
          <p:cNvSpPr/>
          <p:nvPr/>
        </p:nvSpPr>
        <p:spPr>
          <a:xfrm>
            <a:off x="2551176" y="2523744"/>
            <a:ext cx="3054096" cy="201168"/>
          </a:xfrm>
          <a:prstGeom prst="rect">
            <a:avLst/>
          </a:prstGeom>
          <a:noFill/>
          <a:ln/>
        </p:spPr>
        <p:txBody>
          <a:bodyPr wrap="square" lIns="0" tIns="0" rIns="0" bIns="0" rtlCol="0" anchor="ctr"/>
          <a:lstStyle/>
          <a:p>
            <a:pPr algn="ctr" indent="0" marL="0">
              <a:buNone/>
            </a:pPr>
            <a:r>
              <a:rPr lang="en-US" sz="850" dirty="0">
                <a:solidFill>
                  <a:srgbClr val="575A5D"/>
                </a:solidFill>
                <a:latin typeface="Aptos" pitchFamily="34" charset="0"/>
                <a:ea typeface="Aptos" pitchFamily="34" charset="-122"/>
                <a:cs typeface="Aptos" pitchFamily="34" charset="-120"/>
              </a:rPr>
              <a:t>e2-standard-4 · Linux · install Striim package · connect to SQL Server over VPN or Interconnect</a:t>
            </a:r>
            <a:endParaRPr lang="en-US" sz="850" dirty="0"/>
          </a:p>
        </p:txBody>
      </p:sp>
      <p:sp>
        <p:nvSpPr>
          <p:cNvPr id="21" name="Shape 19"/>
          <p:cNvSpPr/>
          <p:nvPr/>
        </p:nvSpPr>
        <p:spPr>
          <a:xfrm>
            <a:off x="5788152" y="1984248"/>
            <a:ext cx="402336" cy="0"/>
          </a:xfrm>
          <a:prstGeom prst="line">
            <a:avLst/>
          </a:prstGeom>
          <a:noFill/>
          <a:ln w="25400">
            <a:solidFill>
              <a:srgbClr val="E65100"/>
            </a:solidFill>
            <a:prstDash val="solid"/>
            <a:tailEnd type="arrow"/>
          </a:ln>
        </p:spPr>
      </p:sp>
      <p:sp>
        <p:nvSpPr>
          <p:cNvPr id="22" name="Shape 20"/>
          <p:cNvSpPr/>
          <p:nvPr/>
        </p:nvSpPr>
        <p:spPr>
          <a:xfrm>
            <a:off x="6208776" y="1188720"/>
            <a:ext cx="2679192" cy="1591056"/>
          </a:xfrm>
          <a:prstGeom prst="rect">
            <a:avLst/>
          </a:prstGeom>
          <a:solidFill>
            <a:srgbClr val="EFF7F3"/>
          </a:solidFill>
          <a:ln w="12700">
            <a:solidFill>
              <a:srgbClr val="2E7D32"/>
            </a:solidFill>
            <a:prstDash val="solid"/>
          </a:ln>
        </p:spPr>
      </p:sp>
      <p:sp>
        <p:nvSpPr>
          <p:cNvPr id="23" name="Text 21"/>
          <p:cNvSpPr/>
          <p:nvPr/>
        </p:nvSpPr>
        <p:spPr>
          <a:xfrm>
            <a:off x="6208776" y="1261872"/>
            <a:ext cx="2679192" cy="237744"/>
          </a:xfrm>
          <a:prstGeom prst="rect">
            <a:avLst/>
          </a:prstGeom>
          <a:noFill/>
          <a:ln/>
        </p:spPr>
        <p:txBody>
          <a:bodyPr wrap="square" lIns="0" tIns="0" rIns="0" bIns="0" rtlCol="0" anchor="ctr"/>
          <a:lstStyle/>
          <a:p>
            <a:pPr algn="ctr" indent="0" marL="0">
              <a:buNone/>
            </a:pPr>
            <a:r>
              <a:rPr lang="en-US" sz="950" b="1" dirty="0">
                <a:solidFill>
                  <a:srgbClr val="2E7D32"/>
                </a:solidFill>
                <a:latin typeface="Aptos Display" pitchFamily="34" charset="0"/>
                <a:ea typeface="Aptos Display" pitchFamily="34" charset="-122"/>
                <a:cs typeface="Aptos Display" pitchFamily="34" charset="-120"/>
              </a:rPr>
              <a:t>GCP TARGETS</a:t>
            </a:r>
            <a:endParaRPr lang="en-US" sz="950" dirty="0"/>
          </a:p>
        </p:txBody>
      </p:sp>
      <p:sp>
        <p:nvSpPr>
          <p:cNvPr id="24" name="Shape 22"/>
          <p:cNvSpPr/>
          <p:nvPr/>
        </p:nvSpPr>
        <p:spPr>
          <a:xfrm>
            <a:off x="6300216" y="1554480"/>
            <a:ext cx="2496312" cy="329184"/>
          </a:xfrm>
          <a:prstGeom prst="rect">
            <a:avLst/>
          </a:prstGeom>
          <a:solidFill>
            <a:srgbClr val="2E7D32"/>
          </a:solidFill>
          <a:ln w="12700">
            <a:solidFill>
              <a:srgbClr val="2E7D32"/>
            </a:solidFill>
            <a:prstDash val="solid"/>
          </a:ln>
        </p:spPr>
      </p:sp>
      <p:sp>
        <p:nvSpPr>
          <p:cNvPr id="25" name="Text 23"/>
          <p:cNvSpPr/>
          <p:nvPr/>
        </p:nvSpPr>
        <p:spPr>
          <a:xfrm>
            <a:off x="6300216" y="1554480"/>
            <a:ext cx="2496312"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BigQuery (native connector)</a:t>
            </a:r>
            <a:endParaRPr lang="en-US" sz="950" dirty="0"/>
          </a:p>
        </p:txBody>
      </p:sp>
      <p:sp>
        <p:nvSpPr>
          <p:cNvPr id="26" name="Shape 24"/>
          <p:cNvSpPr/>
          <p:nvPr/>
        </p:nvSpPr>
        <p:spPr>
          <a:xfrm>
            <a:off x="6300216" y="1956816"/>
            <a:ext cx="2496312" cy="329184"/>
          </a:xfrm>
          <a:prstGeom prst="rect">
            <a:avLst/>
          </a:prstGeom>
          <a:solidFill>
            <a:srgbClr val="2E7D32"/>
          </a:solidFill>
          <a:ln w="12700">
            <a:solidFill>
              <a:srgbClr val="2E7D32"/>
            </a:solidFill>
            <a:prstDash val="solid"/>
          </a:ln>
        </p:spPr>
      </p:sp>
      <p:sp>
        <p:nvSpPr>
          <p:cNvPr id="27" name="Text 25"/>
          <p:cNvSpPr/>
          <p:nvPr/>
        </p:nvSpPr>
        <p:spPr>
          <a:xfrm>
            <a:off x="6300216" y="1956816"/>
            <a:ext cx="2496312"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Kafka on GCP / Pub/Sub</a:t>
            </a:r>
            <a:endParaRPr lang="en-US" sz="950" dirty="0"/>
          </a:p>
        </p:txBody>
      </p:sp>
      <p:sp>
        <p:nvSpPr>
          <p:cNvPr id="28" name="Shape 26"/>
          <p:cNvSpPr/>
          <p:nvPr/>
        </p:nvSpPr>
        <p:spPr>
          <a:xfrm>
            <a:off x="6300216" y="2359152"/>
            <a:ext cx="2496312" cy="329184"/>
          </a:xfrm>
          <a:prstGeom prst="rect">
            <a:avLst/>
          </a:prstGeom>
          <a:solidFill>
            <a:srgbClr val="2E7D32"/>
          </a:solidFill>
          <a:ln w="12700">
            <a:solidFill>
              <a:srgbClr val="2E7D32"/>
            </a:solidFill>
            <a:prstDash val="solid"/>
          </a:ln>
        </p:spPr>
      </p:sp>
      <p:sp>
        <p:nvSpPr>
          <p:cNvPr id="29" name="Text 27"/>
          <p:cNvSpPr/>
          <p:nvPr/>
        </p:nvSpPr>
        <p:spPr>
          <a:xfrm>
            <a:off x="6300216" y="2359152"/>
            <a:ext cx="2496312"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Cloud Storage (GCS)</a:t>
            </a:r>
            <a:endParaRPr lang="en-US" sz="950" dirty="0"/>
          </a:p>
        </p:txBody>
      </p:sp>
      <p:sp>
        <p:nvSpPr>
          <p:cNvPr id="30" name="Shape 28"/>
          <p:cNvSpPr/>
          <p:nvPr/>
        </p:nvSpPr>
        <p:spPr>
          <a:xfrm>
            <a:off x="256032" y="2852928"/>
            <a:ext cx="8631936" cy="256032"/>
          </a:xfrm>
          <a:prstGeom prst="rect">
            <a:avLst/>
          </a:prstGeom>
          <a:solidFill>
            <a:srgbClr val="E65100"/>
          </a:solidFill>
          <a:ln w="12700">
            <a:solidFill>
              <a:srgbClr val="E65100"/>
            </a:solidFill>
            <a:prstDash val="solid"/>
          </a:ln>
        </p:spPr>
      </p:sp>
      <p:sp>
        <p:nvSpPr>
          <p:cNvPr id="31" name="Text 29"/>
          <p:cNvSpPr/>
          <p:nvPr/>
        </p:nvSpPr>
        <p:spPr>
          <a:xfrm>
            <a:off x="256032" y="2852928"/>
            <a:ext cx="8631936"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Display" pitchFamily="34" charset="0"/>
                <a:ea typeface="Aptos Display" pitchFamily="34" charset="-122"/>
                <a:cs typeface="Aptos Display" pitchFamily="34" charset="-120"/>
              </a:rPr>
              <a:t>ADMINISTRATOR SETUP — WHAT YOU NEED TO DO</a:t>
            </a:r>
            <a:endParaRPr lang="en-US" sz="1000" dirty="0"/>
          </a:p>
        </p:txBody>
      </p:sp>
      <p:sp>
        <p:nvSpPr>
          <p:cNvPr id="32" name="Shape 30"/>
          <p:cNvSpPr/>
          <p:nvPr/>
        </p:nvSpPr>
        <p:spPr>
          <a:xfrm>
            <a:off x="256032" y="3163824"/>
            <a:ext cx="1371600" cy="1572768"/>
          </a:xfrm>
          <a:prstGeom prst="rect">
            <a:avLst/>
          </a:prstGeom>
          <a:solidFill>
            <a:srgbClr val="E7ECF0"/>
          </a:solidFill>
          <a:ln w="12700">
            <a:solidFill>
              <a:srgbClr val="B6BBC0"/>
            </a:solidFill>
            <a:prstDash val="solid"/>
          </a:ln>
        </p:spPr>
      </p:sp>
      <p:sp>
        <p:nvSpPr>
          <p:cNvPr id="33" name="Shape 31"/>
          <p:cNvSpPr/>
          <p:nvPr/>
        </p:nvSpPr>
        <p:spPr>
          <a:xfrm>
            <a:off x="256032" y="3163824"/>
            <a:ext cx="1371600" cy="310896"/>
          </a:xfrm>
          <a:prstGeom prst="rect">
            <a:avLst/>
          </a:prstGeom>
          <a:solidFill>
            <a:srgbClr val="E65100"/>
          </a:solidFill>
          <a:ln w="12700">
            <a:solidFill>
              <a:srgbClr val="E65100"/>
            </a:solidFill>
            <a:prstDash val="solid"/>
          </a:ln>
        </p:spPr>
      </p:sp>
      <p:sp>
        <p:nvSpPr>
          <p:cNvPr id="34" name="Text 32"/>
          <p:cNvSpPr/>
          <p:nvPr/>
        </p:nvSpPr>
        <p:spPr>
          <a:xfrm>
            <a:off x="256032" y="3163824"/>
            <a:ext cx="13716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a:t>
            </a:r>
            <a:endParaRPr lang="en-US" sz="1400" dirty="0"/>
          </a:p>
        </p:txBody>
      </p:sp>
      <p:sp>
        <p:nvSpPr>
          <p:cNvPr id="35" name="Text 33"/>
          <p:cNvSpPr/>
          <p:nvPr/>
        </p:nvSpPr>
        <p:spPr>
          <a:xfrm>
            <a:off x="320040" y="3529584"/>
            <a:ext cx="1243584" cy="347472"/>
          </a:xfrm>
          <a:prstGeom prst="rect">
            <a:avLst/>
          </a:prstGeom>
          <a:noFill/>
          <a:ln/>
        </p:spPr>
        <p:txBody>
          <a:bodyPr wrap="square" lIns="0" tIns="0" rIns="0" bIns="0" rtlCol="0" anchor="ctr"/>
          <a:lstStyle/>
          <a:p>
            <a:pPr indent="0" marL="0">
              <a:buNone/>
            </a:pPr>
            <a:r>
              <a:rPr lang="en-US" sz="950" b="1" dirty="0">
                <a:solidFill>
                  <a:srgbClr val="06185F"/>
                </a:solidFill>
                <a:latin typeface="Aptos Display" pitchFamily="34" charset="0"/>
                <a:ea typeface="Aptos Display" pitchFamily="34" charset="-122"/>
                <a:cs typeface="Aptos Display" pitchFamily="34" charset="-120"/>
              </a:rPr>
              <a:t>SQL Server permissions</a:t>
            </a:r>
            <a:endParaRPr lang="en-US" sz="950" dirty="0"/>
          </a:p>
        </p:txBody>
      </p:sp>
      <p:sp>
        <p:nvSpPr>
          <p:cNvPr id="36" name="Text 34"/>
          <p:cNvSpPr/>
          <p:nvPr/>
        </p:nvSpPr>
        <p:spPr>
          <a:xfrm>
            <a:off x="320040" y="3895344"/>
            <a:ext cx="1243584" cy="786384"/>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Grant VIEW SERVER STATE and VIEW DATABASE STATE to the Striim service account. Same as IIDR — no CDC tables needed.</a:t>
            </a:r>
            <a:endParaRPr lang="en-US" sz="850" dirty="0"/>
          </a:p>
        </p:txBody>
      </p:sp>
      <p:sp>
        <p:nvSpPr>
          <p:cNvPr id="37" name="Shape 35"/>
          <p:cNvSpPr/>
          <p:nvPr/>
        </p:nvSpPr>
        <p:spPr>
          <a:xfrm>
            <a:off x="1708099" y="3163824"/>
            <a:ext cx="1371600" cy="1572768"/>
          </a:xfrm>
          <a:prstGeom prst="rect">
            <a:avLst/>
          </a:prstGeom>
          <a:solidFill>
            <a:srgbClr val="E7ECF0"/>
          </a:solidFill>
          <a:ln w="12700">
            <a:solidFill>
              <a:srgbClr val="B6BBC0"/>
            </a:solidFill>
            <a:prstDash val="solid"/>
          </a:ln>
        </p:spPr>
      </p:sp>
      <p:sp>
        <p:nvSpPr>
          <p:cNvPr id="38" name="Shape 36"/>
          <p:cNvSpPr/>
          <p:nvPr/>
        </p:nvSpPr>
        <p:spPr>
          <a:xfrm>
            <a:off x="1708099" y="3163824"/>
            <a:ext cx="1371600" cy="310896"/>
          </a:xfrm>
          <a:prstGeom prst="rect">
            <a:avLst/>
          </a:prstGeom>
          <a:solidFill>
            <a:srgbClr val="E65100"/>
          </a:solidFill>
          <a:ln w="12700">
            <a:solidFill>
              <a:srgbClr val="E65100"/>
            </a:solidFill>
            <a:prstDash val="solid"/>
          </a:ln>
        </p:spPr>
      </p:sp>
      <p:sp>
        <p:nvSpPr>
          <p:cNvPr id="39" name="Text 37"/>
          <p:cNvSpPr/>
          <p:nvPr/>
        </p:nvSpPr>
        <p:spPr>
          <a:xfrm>
            <a:off x="1708099" y="3163824"/>
            <a:ext cx="13716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2</a:t>
            </a:r>
            <a:endParaRPr lang="en-US" sz="1400" dirty="0"/>
          </a:p>
        </p:txBody>
      </p:sp>
      <p:sp>
        <p:nvSpPr>
          <p:cNvPr id="40" name="Text 38"/>
          <p:cNvSpPr/>
          <p:nvPr/>
        </p:nvSpPr>
        <p:spPr>
          <a:xfrm>
            <a:off x="1772107" y="3529584"/>
            <a:ext cx="1243584" cy="347472"/>
          </a:xfrm>
          <a:prstGeom prst="rect">
            <a:avLst/>
          </a:prstGeom>
          <a:noFill/>
          <a:ln/>
        </p:spPr>
        <p:txBody>
          <a:bodyPr wrap="square" lIns="0" tIns="0" rIns="0" bIns="0" rtlCol="0" anchor="ctr"/>
          <a:lstStyle/>
          <a:p>
            <a:pPr indent="0" marL="0">
              <a:buNone/>
            </a:pPr>
            <a:r>
              <a:rPr lang="en-US" sz="950" b="1" dirty="0">
                <a:solidFill>
                  <a:srgbClr val="06185F"/>
                </a:solidFill>
                <a:latin typeface="Aptos Display" pitchFamily="34" charset="0"/>
                <a:ea typeface="Aptos Display" pitchFamily="34" charset="-122"/>
                <a:cs typeface="Aptos Display" pitchFamily="34" charset="-120"/>
              </a:rPr>
              <a:t>Choose deployment model</a:t>
            </a:r>
            <a:endParaRPr lang="en-US" sz="950" dirty="0"/>
          </a:p>
        </p:txBody>
      </p:sp>
      <p:sp>
        <p:nvSpPr>
          <p:cNvPr id="41" name="Text 39"/>
          <p:cNvSpPr/>
          <p:nvPr/>
        </p:nvSpPr>
        <p:spPr>
          <a:xfrm>
            <a:off x="1772107" y="3895344"/>
            <a:ext cx="1243584" cy="786384"/>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Option A: sign up for Striim Cloud — no infra to manage. Option B: provision GCP e2-standard-4, install Striim RPM/DEB package.</a:t>
            </a:r>
            <a:endParaRPr lang="en-US" sz="850" dirty="0"/>
          </a:p>
        </p:txBody>
      </p:sp>
      <p:sp>
        <p:nvSpPr>
          <p:cNvPr id="42" name="Shape 40"/>
          <p:cNvSpPr/>
          <p:nvPr/>
        </p:nvSpPr>
        <p:spPr>
          <a:xfrm>
            <a:off x="3160166" y="3163824"/>
            <a:ext cx="1371600" cy="1572768"/>
          </a:xfrm>
          <a:prstGeom prst="rect">
            <a:avLst/>
          </a:prstGeom>
          <a:solidFill>
            <a:srgbClr val="E7ECF0"/>
          </a:solidFill>
          <a:ln w="12700">
            <a:solidFill>
              <a:srgbClr val="B6BBC0"/>
            </a:solidFill>
            <a:prstDash val="solid"/>
          </a:ln>
        </p:spPr>
      </p:sp>
      <p:sp>
        <p:nvSpPr>
          <p:cNvPr id="43" name="Shape 41"/>
          <p:cNvSpPr/>
          <p:nvPr/>
        </p:nvSpPr>
        <p:spPr>
          <a:xfrm>
            <a:off x="3160166" y="3163824"/>
            <a:ext cx="1371600" cy="310896"/>
          </a:xfrm>
          <a:prstGeom prst="rect">
            <a:avLst/>
          </a:prstGeom>
          <a:solidFill>
            <a:srgbClr val="E65100"/>
          </a:solidFill>
          <a:ln w="12700">
            <a:solidFill>
              <a:srgbClr val="E65100"/>
            </a:solidFill>
            <a:prstDash val="solid"/>
          </a:ln>
        </p:spPr>
      </p:sp>
      <p:sp>
        <p:nvSpPr>
          <p:cNvPr id="44" name="Text 42"/>
          <p:cNvSpPr/>
          <p:nvPr/>
        </p:nvSpPr>
        <p:spPr>
          <a:xfrm>
            <a:off x="3160166" y="3163824"/>
            <a:ext cx="13716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3</a:t>
            </a:r>
            <a:endParaRPr lang="en-US" sz="1400" dirty="0"/>
          </a:p>
        </p:txBody>
      </p:sp>
      <p:sp>
        <p:nvSpPr>
          <p:cNvPr id="45" name="Text 43"/>
          <p:cNvSpPr/>
          <p:nvPr/>
        </p:nvSpPr>
        <p:spPr>
          <a:xfrm>
            <a:off x="3224174" y="3529584"/>
            <a:ext cx="1243584" cy="347472"/>
          </a:xfrm>
          <a:prstGeom prst="rect">
            <a:avLst/>
          </a:prstGeom>
          <a:noFill/>
          <a:ln/>
        </p:spPr>
        <p:txBody>
          <a:bodyPr wrap="square" lIns="0" tIns="0" rIns="0" bIns="0" rtlCol="0" anchor="ctr"/>
          <a:lstStyle/>
          <a:p>
            <a:pPr indent="0" marL="0">
              <a:buNone/>
            </a:pPr>
            <a:r>
              <a:rPr lang="en-US" sz="950" b="1" dirty="0">
                <a:solidFill>
                  <a:srgbClr val="06185F"/>
                </a:solidFill>
                <a:latin typeface="Aptos Display" pitchFamily="34" charset="0"/>
                <a:ea typeface="Aptos Display" pitchFamily="34" charset="-122"/>
                <a:cs typeface="Aptos Display" pitchFamily="34" charset="-120"/>
              </a:rPr>
              <a:t>Connect to SQL Server</a:t>
            </a:r>
            <a:endParaRPr lang="en-US" sz="950" dirty="0"/>
          </a:p>
        </p:txBody>
      </p:sp>
      <p:sp>
        <p:nvSpPr>
          <p:cNvPr id="46" name="Text 44"/>
          <p:cNvSpPr/>
          <p:nvPr/>
        </p:nvSpPr>
        <p:spPr>
          <a:xfrm>
            <a:off x="3224174" y="3895344"/>
            <a:ext cx="1243584" cy="786384"/>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In Striim Flow Designer: add SQL Server Reader component. Enter host, port 1433, credentials, table list. Wizard-driven.</a:t>
            </a:r>
            <a:endParaRPr lang="en-US" sz="850" dirty="0"/>
          </a:p>
        </p:txBody>
      </p:sp>
      <p:sp>
        <p:nvSpPr>
          <p:cNvPr id="47" name="Shape 45"/>
          <p:cNvSpPr/>
          <p:nvPr/>
        </p:nvSpPr>
        <p:spPr>
          <a:xfrm>
            <a:off x="4612234" y="3163824"/>
            <a:ext cx="1371600" cy="1572768"/>
          </a:xfrm>
          <a:prstGeom prst="rect">
            <a:avLst/>
          </a:prstGeom>
          <a:solidFill>
            <a:srgbClr val="E7ECF0"/>
          </a:solidFill>
          <a:ln w="12700">
            <a:solidFill>
              <a:srgbClr val="B6BBC0"/>
            </a:solidFill>
            <a:prstDash val="solid"/>
          </a:ln>
        </p:spPr>
      </p:sp>
      <p:sp>
        <p:nvSpPr>
          <p:cNvPr id="48" name="Shape 46"/>
          <p:cNvSpPr/>
          <p:nvPr/>
        </p:nvSpPr>
        <p:spPr>
          <a:xfrm>
            <a:off x="4612234" y="3163824"/>
            <a:ext cx="1371600" cy="310896"/>
          </a:xfrm>
          <a:prstGeom prst="rect">
            <a:avLst/>
          </a:prstGeom>
          <a:solidFill>
            <a:srgbClr val="E65100"/>
          </a:solidFill>
          <a:ln w="12700">
            <a:solidFill>
              <a:srgbClr val="E65100"/>
            </a:solidFill>
            <a:prstDash val="solid"/>
          </a:ln>
        </p:spPr>
      </p:sp>
      <p:sp>
        <p:nvSpPr>
          <p:cNvPr id="49" name="Text 47"/>
          <p:cNvSpPr/>
          <p:nvPr/>
        </p:nvSpPr>
        <p:spPr>
          <a:xfrm>
            <a:off x="4612234" y="3163824"/>
            <a:ext cx="13716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4</a:t>
            </a:r>
            <a:endParaRPr lang="en-US" sz="1400" dirty="0"/>
          </a:p>
        </p:txBody>
      </p:sp>
      <p:sp>
        <p:nvSpPr>
          <p:cNvPr id="50" name="Text 48"/>
          <p:cNvSpPr/>
          <p:nvPr/>
        </p:nvSpPr>
        <p:spPr>
          <a:xfrm>
            <a:off x="4676242" y="3529584"/>
            <a:ext cx="1243584" cy="347472"/>
          </a:xfrm>
          <a:prstGeom prst="rect">
            <a:avLst/>
          </a:prstGeom>
          <a:noFill/>
          <a:ln/>
        </p:spPr>
        <p:txBody>
          <a:bodyPr wrap="square" lIns="0" tIns="0" rIns="0" bIns="0" rtlCol="0" anchor="ctr"/>
          <a:lstStyle/>
          <a:p>
            <a:pPr indent="0" marL="0">
              <a:buNone/>
            </a:pPr>
            <a:r>
              <a:rPr lang="en-US" sz="950" b="1" dirty="0">
                <a:solidFill>
                  <a:srgbClr val="06185F"/>
                </a:solidFill>
                <a:latin typeface="Aptos Display" pitchFamily="34" charset="0"/>
                <a:ea typeface="Aptos Display" pitchFamily="34" charset="-122"/>
                <a:cs typeface="Aptos Display" pitchFamily="34" charset="-120"/>
              </a:rPr>
              <a:t>Configure GCP target</a:t>
            </a:r>
            <a:endParaRPr lang="en-US" sz="950" dirty="0"/>
          </a:p>
        </p:txBody>
      </p:sp>
      <p:sp>
        <p:nvSpPr>
          <p:cNvPr id="51" name="Text 49"/>
          <p:cNvSpPr/>
          <p:nvPr/>
        </p:nvSpPr>
        <p:spPr>
          <a:xfrm>
            <a:off x="4676242" y="3895344"/>
            <a:ext cx="1243584" cy="786384"/>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Add BigQuery Writer (native, no Kafka needed) or Kafka Writer for Kafka on GCP. Enter GCP project, dataset, service account key.</a:t>
            </a:r>
            <a:endParaRPr lang="en-US" sz="850" dirty="0"/>
          </a:p>
        </p:txBody>
      </p:sp>
      <p:sp>
        <p:nvSpPr>
          <p:cNvPr id="52" name="Shape 50"/>
          <p:cNvSpPr/>
          <p:nvPr/>
        </p:nvSpPr>
        <p:spPr>
          <a:xfrm>
            <a:off x="6064301" y="3163824"/>
            <a:ext cx="1371600" cy="1572768"/>
          </a:xfrm>
          <a:prstGeom prst="rect">
            <a:avLst/>
          </a:prstGeom>
          <a:solidFill>
            <a:srgbClr val="E7ECF0"/>
          </a:solidFill>
          <a:ln w="12700">
            <a:solidFill>
              <a:srgbClr val="B6BBC0"/>
            </a:solidFill>
            <a:prstDash val="solid"/>
          </a:ln>
        </p:spPr>
      </p:sp>
      <p:sp>
        <p:nvSpPr>
          <p:cNvPr id="53" name="Shape 51"/>
          <p:cNvSpPr/>
          <p:nvPr/>
        </p:nvSpPr>
        <p:spPr>
          <a:xfrm>
            <a:off x="6064301" y="3163824"/>
            <a:ext cx="1371600" cy="310896"/>
          </a:xfrm>
          <a:prstGeom prst="rect">
            <a:avLst/>
          </a:prstGeom>
          <a:solidFill>
            <a:srgbClr val="E65100"/>
          </a:solidFill>
          <a:ln w="12700">
            <a:solidFill>
              <a:srgbClr val="E65100"/>
            </a:solidFill>
            <a:prstDash val="solid"/>
          </a:ln>
        </p:spPr>
      </p:sp>
      <p:sp>
        <p:nvSpPr>
          <p:cNvPr id="54" name="Text 52"/>
          <p:cNvSpPr/>
          <p:nvPr/>
        </p:nvSpPr>
        <p:spPr>
          <a:xfrm>
            <a:off x="6064301" y="3163824"/>
            <a:ext cx="13716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5</a:t>
            </a:r>
            <a:endParaRPr lang="en-US" sz="1400" dirty="0"/>
          </a:p>
        </p:txBody>
      </p:sp>
      <p:sp>
        <p:nvSpPr>
          <p:cNvPr id="55" name="Text 53"/>
          <p:cNvSpPr/>
          <p:nvPr/>
        </p:nvSpPr>
        <p:spPr>
          <a:xfrm>
            <a:off x="6128309" y="3529584"/>
            <a:ext cx="1243584" cy="347472"/>
          </a:xfrm>
          <a:prstGeom prst="rect">
            <a:avLst/>
          </a:prstGeom>
          <a:noFill/>
          <a:ln/>
        </p:spPr>
        <p:txBody>
          <a:bodyPr wrap="square" lIns="0" tIns="0" rIns="0" bIns="0" rtlCol="0" anchor="ctr"/>
          <a:lstStyle/>
          <a:p>
            <a:pPr indent="0" marL="0">
              <a:buNone/>
            </a:pPr>
            <a:r>
              <a:rPr lang="en-US" sz="950" b="1" dirty="0">
                <a:solidFill>
                  <a:srgbClr val="06185F"/>
                </a:solidFill>
                <a:latin typeface="Aptos Display" pitchFamily="34" charset="0"/>
                <a:ea typeface="Aptos Display" pitchFamily="34" charset="-122"/>
                <a:cs typeface="Aptos Display" pitchFamily="34" charset="-120"/>
              </a:rPr>
              <a:t>Design pipeline</a:t>
            </a:r>
            <a:endParaRPr lang="en-US" sz="950" dirty="0"/>
          </a:p>
        </p:txBody>
      </p:sp>
      <p:sp>
        <p:nvSpPr>
          <p:cNvPr id="56" name="Text 54"/>
          <p:cNvSpPr/>
          <p:nvPr/>
        </p:nvSpPr>
        <p:spPr>
          <a:xfrm>
            <a:off x="6128309" y="3895344"/>
            <a:ext cx="1243584" cy="786384"/>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Drag source to target in Flow Designer. Optionally insert Streaming SQL processors for in-flight transforms, masking, or joins.</a:t>
            </a:r>
            <a:endParaRPr lang="en-US" sz="850" dirty="0"/>
          </a:p>
        </p:txBody>
      </p:sp>
      <p:sp>
        <p:nvSpPr>
          <p:cNvPr id="57" name="Shape 55"/>
          <p:cNvSpPr/>
          <p:nvPr/>
        </p:nvSpPr>
        <p:spPr>
          <a:xfrm>
            <a:off x="7516368" y="3163824"/>
            <a:ext cx="1371600" cy="1572768"/>
          </a:xfrm>
          <a:prstGeom prst="rect">
            <a:avLst/>
          </a:prstGeom>
          <a:solidFill>
            <a:srgbClr val="E7ECF0"/>
          </a:solidFill>
          <a:ln w="12700">
            <a:solidFill>
              <a:srgbClr val="B6BBC0"/>
            </a:solidFill>
            <a:prstDash val="solid"/>
          </a:ln>
        </p:spPr>
      </p:sp>
      <p:sp>
        <p:nvSpPr>
          <p:cNvPr id="58" name="Shape 56"/>
          <p:cNvSpPr/>
          <p:nvPr/>
        </p:nvSpPr>
        <p:spPr>
          <a:xfrm>
            <a:off x="7516368" y="3163824"/>
            <a:ext cx="1371600" cy="310896"/>
          </a:xfrm>
          <a:prstGeom prst="rect">
            <a:avLst/>
          </a:prstGeom>
          <a:solidFill>
            <a:srgbClr val="E65100"/>
          </a:solidFill>
          <a:ln w="12700">
            <a:solidFill>
              <a:srgbClr val="E65100"/>
            </a:solidFill>
            <a:prstDash val="solid"/>
          </a:ln>
        </p:spPr>
      </p:sp>
      <p:sp>
        <p:nvSpPr>
          <p:cNvPr id="59" name="Text 57"/>
          <p:cNvSpPr/>
          <p:nvPr/>
        </p:nvSpPr>
        <p:spPr>
          <a:xfrm>
            <a:off x="7516368" y="3163824"/>
            <a:ext cx="13716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6</a:t>
            </a:r>
            <a:endParaRPr lang="en-US" sz="1400" dirty="0"/>
          </a:p>
        </p:txBody>
      </p:sp>
      <p:sp>
        <p:nvSpPr>
          <p:cNvPr id="60" name="Text 58"/>
          <p:cNvSpPr/>
          <p:nvPr/>
        </p:nvSpPr>
        <p:spPr>
          <a:xfrm>
            <a:off x="7580376" y="3529584"/>
            <a:ext cx="1243584" cy="347472"/>
          </a:xfrm>
          <a:prstGeom prst="rect">
            <a:avLst/>
          </a:prstGeom>
          <a:noFill/>
          <a:ln/>
        </p:spPr>
        <p:txBody>
          <a:bodyPr wrap="square" lIns="0" tIns="0" rIns="0" bIns="0" rtlCol="0" anchor="ctr"/>
          <a:lstStyle/>
          <a:p>
            <a:pPr indent="0" marL="0">
              <a:buNone/>
            </a:pPr>
            <a:r>
              <a:rPr lang="en-US" sz="950" b="1" dirty="0">
                <a:solidFill>
                  <a:srgbClr val="06185F"/>
                </a:solidFill>
                <a:latin typeface="Aptos Display" pitchFamily="34" charset="0"/>
                <a:ea typeface="Aptos Display" pitchFamily="34" charset="-122"/>
                <a:cs typeface="Aptos Display" pitchFamily="34" charset="-120"/>
              </a:rPr>
              <a:t>Start pipeline</a:t>
            </a:r>
            <a:endParaRPr lang="en-US" sz="950" dirty="0"/>
          </a:p>
        </p:txBody>
      </p:sp>
      <p:sp>
        <p:nvSpPr>
          <p:cNvPr id="61" name="Text 59"/>
          <p:cNvSpPr/>
          <p:nvPr/>
        </p:nvSpPr>
        <p:spPr>
          <a:xfrm>
            <a:off x="7580376" y="3895344"/>
            <a:ext cx="1243584" cy="786384"/>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Click Start. Striim runs initial full snapshot, then switches to continuous incremental CDC automatically. Schema changes propagate without restart.</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Our Recommendation</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Shape 3"/>
          <p:cNvSpPr/>
          <p:nvPr/>
        </p:nvSpPr>
        <p:spPr>
          <a:xfrm>
            <a:off x="256032" y="850392"/>
            <a:ext cx="8631936" cy="237744"/>
          </a:xfrm>
          <a:prstGeom prst="rect">
            <a:avLst/>
          </a:prstGeom>
          <a:solidFill>
            <a:srgbClr val="EEF3FD"/>
          </a:solidFill>
          <a:ln w="12700">
            <a:solidFill>
              <a:srgbClr val="085CE5"/>
            </a:solidFill>
            <a:prstDash val="solid"/>
          </a:ln>
        </p:spPr>
      </p:sp>
      <p:sp>
        <p:nvSpPr>
          <p:cNvPr id="6" name="Text 4"/>
          <p:cNvSpPr/>
          <p:nvPr/>
        </p:nvSpPr>
        <p:spPr>
          <a:xfrm>
            <a:off x="320040" y="850392"/>
            <a:ext cx="8503920" cy="237744"/>
          </a:xfrm>
          <a:prstGeom prst="rect">
            <a:avLst/>
          </a:prstGeom>
          <a:noFill/>
          <a:ln/>
        </p:spPr>
        <p:txBody>
          <a:bodyPr wrap="square" lIns="25400" tIns="25400" rIns="25400" bIns="25400" rtlCol="0" anchor="ctr"/>
          <a:lstStyle/>
          <a:p>
            <a:pPr indent="0" marL="0">
              <a:buNone/>
            </a:pPr>
            <a:r>
              <a:rPr lang="en-US" sz="1050" b="1" dirty="0">
                <a:solidFill>
                  <a:srgbClr val="085CE5"/>
                </a:solidFill>
                <a:latin typeface="Aptos" pitchFamily="34" charset="0"/>
                <a:ea typeface="Aptos" pitchFamily="34" charset="-122"/>
                <a:cs typeface="Aptos" pitchFamily="34" charset="-120"/>
              </a:rPr>
              <a:t>Context: MS SQL Server (on-premises) → GCP as primary target</a:t>
            </a:r>
            <a:endParaRPr lang="en-US" sz="1050" dirty="0"/>
          </a:p>
        </p:txBody>
      </p:sp>
      <p:sp>
        <p:nvSpPr>
          <p:cNvPr id="7" name="Shape 5"/>
          <p:cNvSpPr/>
          <p:nvPr/>
        </p:nvSpPr>
        <p:spPr>
          <a:xfrm>
            <a:off x="256032" y="1170432"/>
            <a:ext cx="8631936" cy="859536"/>
          </a:xfrm>
          <a:prstGeom prst="rect">
            <a:avLst/>
          </a:prstGeom>
          <a:solidFill>
            <a:srgbClr val="F3E5F5"/>
          </a:solidFill>
          <a:ln w="19050">
            <a:solidFill>
              <a:srgbClr val="6A1B9A"/>
            </a:solidFill>
            <a:prstDash val="solid"/>
          </a:ln>
        </p:spPr>
      </p:sp>
      <p:sp>
        <p:nvSpPr>
          <p:cNvPr id="8" name="Shape 6"/>
          <p:cNvSpPr/>
          <p:nvPr/>
        </p:nvSpPr>
        <p:spPr>
          <a:xfrm>
            <a:off x="256032" y="1170432"/>
            <a:ext cx="73152" cy="859536"/>
          </a:xfrm>
          <a:prstGeom prst="rect">
            <a:avLst/>
          </a:prstGeom>
          <a:solidFill>
            <a:srgbClr val="6A1B9A"/>
          </a:solidFill>
          <a:ln w="12700">
            <a:solidFill>
              <a:srgbClr val="6A1B9A"/>
            </a:solidFill>
            <a:prstDash val="solid"/>
          </a:ln>
        </p:spPr>
      </p:sp>
      <p:sp>
        <p:nvSpPr>
          <p:cNvPr id="9" name="Text 7"/>
          <p:cNvSpPr/>
          <p:nvPr/>
        </p:nvSpPr>
        <p:spPr>
          <a:xfrm>
            <a:off x="457200" y="1188720"/>
            <a:ext cx="2011680" cy="274320"/>
          </a:xfrm>
          <a:prstGeom prst="rect">
            <a:avLst/>
          </a:prstGeom>
          <a:noFill/>
          <a:ln/>
        </p:spPr>
        <p:txBody>
          <a:bodyPr wrap="square" lIns="0" tIns="0" rIns="0" bIns="0" rtlCol="0" anchor="ctr"/>
          <a:lstStyle/>
          <a:p>
            <a:pPr indent="0" marL="0">
              <a:buNone/>
            </a:pPr>
            <a:r>
              <a:rPr lang="en-US" sz="1100" b="1" dirty="0">
                <a:solidFill>
                  <a:srgbClr val="6A1B9A"/>
                </a:solidFill>
                <a:latin typeface="Aptos Display" pitchFamily="34" charset="0"/>
                <a:ea typeface="Aptos Display" pitchFamily="34" charset="-122"/>
                <a:cs typeface="Aptos Display" pitchFamily="34" charset="-120"/>
              </a:rPr>
              <a:t>Phase 1  ·  Start now</a:t>
            </a:r>
            <a:endParaRPr lang="en-US" sz="1100" dirty="0"/>
          </a:p>
        </p:txBody>
      </p:sp>
      <p:sp>
        <p:nvSpPr>
          <p:cNvPr id="10" name="Text 8"/>
          <p:cNvSpPr/>
          <p:nvPr/>
        </p:nvSpPr>
        <p:spPr>
          <a:xfrm>
            <a:off x="457200" y="1463040"/>
            <a:ext cx="3291840" cy="274320"/>
          </a:xfrm>
          <a:prstGeom prst="rect">
            <a:avLst/>
          </a:prstGeom>
          <a:noFill/>
          <a:ln/>
        </p:spPr>
        <p:txBody>
          <a:bodyPr wrap="square" lIns="0" tIns="0" rIns="0" bIns="0" rtlCol="0" anchor="ctr"/>
          <a:lstStyle/>
          <a:p>
            <a:pPr indent="0" marL="0">
              <a:buNone/>
            </a:pPr>
            <a:r>
              <a:rPr lang="en-US" sz="1300" b="1" dirty="0">
                <a:solidFill>
                  <a:srgbClr val="6A1B9A"/>
                </a:solidFill>
                <a:latin typeface="Aptos Display" pitchFamily="34" charset="0"/>
                <a:ea typeface="Aptos Display" pitchFamily="34" charset="-122"/>
                <a:cs typeface="Aptos Display" pitchFamily="34" charset="-120"/>
              </a:rPr>
              <a:t>Native SQL Server CDC + Debezium + Kafka</a:t>
            </a:r>
            <a:endParaRPr lang="en-US" sz="1300" dirty="0"/>
          </a:p>
        </p:txBody>
      </p:sp>
      <p:sp>
        <p:nvSpPr>
          <p:cNvPr id="11" name="Text 9"/>
          <p:cNvSpPr/>
          <p:nvPr/>
        </p:nvSpPr>
        <p:spPr>
          <a:xfrm>
            <a:off x="3749040" y="1207008"/>
            <a:ext cx="5010912" cy="749808"/>
          </a:xfrm>
          <a:prstGeom prst="rect">
            <a:avLst/>
          </a:prstGeom>
          <a:noFill/>
          <a:ln/>
        </p:spPr>
        <p:txBody>
          <a:bodyPr wrap="square" lIns="0" tIns="0" rIns="0" bIns="0" rtlCol="0" anchor="ctr"/>
          <a:lstStyle/>
          <a:p>
            <a:pPr indent="0" marL="0">
              <a:buNone/>
            </a:pPr>
            <a:r>
              <a:rPr lang="en-US" sz="1050" dirty="0">
                <a:solidFill>
                  <a:srgbClr val="575A5D"/>
                </a:solidFill>
                <a:latin typeface="Aptos" pitchFamily="34" charset="0"/>
                <a:ea typeface="Aptos" pitchFamily="34" charset="-122"/>
                <a:cs typeface="Aptos" pitchFamily="34" charset="-120"/>
              </a:rPr>
              <a:t>No commercial CDC license. Builds the Kafka foundation that carries into Phase 2. Gets a real-time SQL Server change stream to GCP immediately — Kafka on GCP as the bridge.</a:t>
            </a:r>
            <a:endParaRPr lang="en-US" sz="1050" dirty="0"/>
          </a:p>
        </p:txBody>
      </p:sp>
      <p:sp>
        <p:nvSpPr>
          <p:cNvPr id="12" name="Text 10"/>
          <p:cNvSpPr/>
          <p:nvPr/>
        </p:nvSpPr>
        <p:spPr>
          <a:xfrm>
            <a:off x="256032" y="2121408"/>
            <a:ext cx="8631936" cy="310896"/>
          </a:xfrm>
          <a:prstGeom prst="rect">
            <a:avLst/>
          </a:prstGeom>
          <a:noFill/>
          <a:ln/>
        </p:spPr>
        <p:txBody>
          <a:bodyPr wrap="square" lIns="0" tIns="0" rIns="0" bIns="0" rtlCol="0" anchor="ctr"/>
          <a:lstStyle/>
          <a:p>
            <a:pPr indent="0" marL="0">
              <a:buNone/>
            </a:pPr>
            <a:r>
              <a:rPr lang="en-US" sz="1200" b="1" dirty="0">
                <a:solidFill>
                  <a:srgbClr val="06185F"/>
                </a:solidFill>
                <a:latin typeface="Aptos Display" pitchFamily="34" charset="0"/>
                <a:ea typeface="Aptos Display" pitchFamily="34" charset="-122"/>
                <a:cs typeface="Aptos Display" pitchFamily="34" charset="-120"/>
              </a:rPr>
              <a:t>Phase 2  ·  Move to direct log-based CDC — choose your fit for SQL Server → GCP</a:t>
            </a:r>
            <a:endParaRPr lang="en-US" sz="1200" dirty="0"/>
          </a:p>
        </p:txBody>
      </p:sp>
      <p:sp>
        <p:nvSpPr>
          <p:cNvPr id="13" name="Shape 11"/>
          <p:cNvSpPr/>
          <p:nvPr/>
        </p:nvSpPr>
        <p:spPr>
          <a:xfrm>
            <a:off x="256032" y="2505456"/>
            <a:ext cx="2798064" cy="2523744"/>
          </a:xfrm>
          <a:prstGeom prst="rect">
            <a:avLst/>
          </a:prstGeom>
          <a:solidFill>
            <a:srgbClr val="E7ECF0"/>
          </a:solidFill>
          <a:ln w="12700">
            <a:solidFill>
              <a:srgbClr val="B6BBC0"/>
            </a:solidFill>
            <a:prstDash val="solid"/>
          </a:ln>
          <a:effectLst>
            <a:outerShdw sx="100000" sy="100000" kx="0" ky="0" algn="bl" rotWithShape="0" blurRad="50800" dist="25400" dir="8100000">
              <a:srgbClr val="000000">
                <a:alpha val="13000"/>
              </a:srgbClr>
            </a:outerShdw>
          </a:effectLst>
        </p:spPr>
      </p:sp>
      <p:sp>
        <p:nvSpPr>
          <p:cNvPr id="14" name="Shape 12"/>
          <p:cNvSpPr/>
          <p:nvPr/>
        </p:nvSpPr>
        <p:spPr>
          <a:xfrm>
            <a:off x="256032" y="2505456"/>
            <a:ext cx="2798064" cy="73152"/>
          </a:xfrm>
          <a:prstGeom prst="rect">
            <a:avLst/>
          </a:prstGeom>
          <a:solidFill>
            <a:srgbClr val="1565C0"/>
          </a:solidFill>
          <a:ln w="12700">
            <a:solidFill>
              <a:srgbClr val="1565C0"/>
            </a:solidFill>
            <a:prstDash val="solid"/>
          </a:ln>
        </p:spPr>
      </p:sp>
      <p:sp>
        <p:nvSpPr>
          <p:cNvPr id="15" name="Text 13"/>
          <p:cNvSpPr/>
          <p:nvPr/>
        </p:nvSpPr>
        <p:spPr>
          <a:xfrm>
            <a:off x="347472" y="2633472"/>
            <a:ext cx="2615184" cy="347472"/>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If: IBM / Mainframe in Scope</a:t>
            </a:r>
            <a:endParaRPr lang="en-US" sz="1050" dirty="0"/>
          </a:p>
        </p:txBody>
      </p:sp>
      <p:sp>
        <p:nvSpPr>
          <p:cNvPr id="16" name="Shape 14"/>
          <p:cNvSpPr/>
          <p:nvPr/>
        </p:nvSpPr>
        <p:spPr>
          <a:xfrm>
            <a:off x="347472" y="3017520"/>
            <a:ext cx="2615184" cy="365760"/>
          </a:xfrm>
          <a:prstGeom prst="rect">
            <a:avLst/>
          </a:prstGeom>
          <a:solidFill>
            <a:srgbClr val="1565C0"/>
          </a:solidFill>
          <a:ln w="12700">
            <a:solidFill>
              <a:srgbClr val="1565C0"/>
            </a:solidFill>
            <a:prstDash val="solid"/>
          </a:ln>
        </p:spPr>
      </p:sp>
      <p:sp>
        <p:nvSpPr>
          <p:cNvPr id="17" name="Text 15"/>
          <p:cNvSpPr/>
          <p:nvPr/>
        </p:nvSpPr>
        <p:spPr>
          <a:xfrm>
            <a:off x="347472" y="3017520"/>
            <a:ext cx="2615184" cy="365760"/>
          </a:xfrm>
          <a:prstGeom prst="rect">
            <a:avLst/>
          </a:prstGeom>
          <a:noFill/>
          <a:ln/>
        </p:spPr>
        <p:txBody>
          <a:bodyPr wrap="square" lIns="50800" tIns="50800" rIns="50800" bIns="50800" rtlCol="0" anchor="ctr"/>
          <a:lstStyle/>
          <a:p>
            <a:pPr indent="0" marL="0">
              <a:buNone/>
            </a:pPr>
            <a:r>
              <a:rPr lang="en-US" sz="1100" b="1" dirty="0">
                <a:solidFill>
                  <a:srgbClr val="FFFFFF"/>
                </a:solidFill>
                <a:latin typeface="Aptos Display" pitchFamily="34" charset="0"/>
                <a:ea typeface="Aptos Display" pitchFamily="34" charset="-122"/>
                <a:cs typeface="Aptos Display" pitchFamily="34" charset="-120"/>
              </a:rPr>
              <a:t>IBM InfoSphere IIDR</a:t>
            </a:r>
            <a:endParaRPr lang="en-US" sz="1100" dirty="0"/>
          </a:p>
        </p:txBody>
      </p:sp>
      <p:sp>
        <p:nvSpPr>
          <p:cNvPr id="18" name="Shape 16"/>
          <p:cNvSpPr/>
          <p:nvPr/>
        </p:nvSpPr>
        <p:spPr>
          <a:xfrm>
            <a:off x="384048" y="3529584"/>
            <a:ext cx="45720" cy="219456"/>
          </a:xfrm>
          <a:prstGeom prst="rect">
            <a:avLst/>
          </a:prstGeom>
          <a:solidFill>
            <a:srgbClr val="1565C0"/>
          </a:solidFill>
          <a:ln w="12700">
            <a:solidFill>
              <a:srgbClr val="1565C0"/>
            </a:solidFill>
            <a:prstDash val="solid"/>
          </a:ln>
        </p:spPr>
      </p:sp>
      <p:sp>
        <p:nvSpPr>
          <p:cNvPr id="19" name="Text 17"/>
          <p:cNvSpPr/>
          <p:nvPr/>
        </p:nvSpPr>
        <p:spPr>
          <a:xfrm>
            <a:off x="512064" y="3474720"/>
            <a:ext cx="2432304" cy="347472"/>
          </a:xfrm>
          <a:prstGeom prst="rect">
            <a:avLst/>
          </a:prstGeom>
          <a:noFill/>
          <a:ln/>
        </p:spPr>
        <p:txBody>
          <a:bodyPr wrap="square" lIns="0" tIns="0" rIns="0" bIns="0" rtlCol="0" anchor="ctr"/>
          <a:lstStyle/>
          <a:p>
            <a:pPr indent="0" marL="0">
              <a:buNone/>
            </a:pPr>
            <a:r>
              <a:rPr lang="en-US" sz="1000" dirty="0">
                <a:solidFill>
                  <a:srgbClr val="06185F"/>
                </a:solidFill>
                <a:latin typeface="Aptos" pitchFamily="34" charset="0"/>
                <a:ea typeface="Aptos" pitchFamily="34" charset="-122"/>
                <a:cs typeface="Aptos" pitchFamily="34" charset="-120"/>
              </a:rPr>
              <a:t>Existing IBM enterprise licensing</a:t>
            </a:r>
            <a:endParaRPr lang="en-US" sz="1000" dirty="0"/>
          </a:p>
        </p:txBody>
      </p:sp>
      <p:sp>
        <p:nvSpPr>
          <p:cNvPr id="20" name="Shape 18"/>
          <p:cNvSpPr/>
          <p:nvPr/>
        </p:nvSpPr>
        <p:spPr>
          <a:xfrm>
            <a:off x="384048" y="3895344"/>
            <a:ext cx="45720" cy="219456"/>
          </a:xfrm>
          <a:prstGeom prst="rect">
            <a:avLst/>
          </a:prstGeom>
          <a:solidFill>
            <a:srgbClr val="1565C0"/>
          </a:solidFill>
          <a:ln w="12700">
            <a:solidFill>
              <a:srgbClr val="1565C0"/>
            </a:solidFill>
            <a:prstDash val="solid"/>
          </a:ln>
        </p:spPr>
      </p:sp>
      <p:sp>
        <p:nvSpPr>
          <p:cNvPr id="21" name="Text 19"/>
          <p:cNvSpPr/>
          <p:nvPr/>
        </p:nvSpPr>
        <p:spPr>
          <a:xfrm>
            <a:off x="512064" y="3840480"/>
            <a:ext cx="2432304" cy="347472"/>
          </a:xfrm>
          <a:prstGeom prst="rect">
            <a:avLst/>
          </a:prstGeom>
          <a:noFill/>
          <a:ln/>
        </p:spPr>
        <p:txBody>
          <a:bodyPr wrap="square" lIns="0" tIns="0" rIns="0" bIns="0" rtlCol="0" anchor="ctr"/>
          <a:lstStyle/>
          <a:p>
            <a:pPr indent="0" marL="0">
              <a:buNone/>
            </a:pPr>
            <a:r>
              <a:rPr lang="en-US" sz="1000" dirty="0">
                <a:solidFill>
                  <a:srgbClr val="06185F"/>
                </a:solidFill>
                <a:latin typeface="Aptos" pitchFamily="34" charset="0"/>
                <a:ea typeface="Aptos" pitchFamily="34" charset="-122"/>
                <a:cs typeface="Aptos" pitchFamily="34" charset="-120"/>
              </a:rPr>
              <a:t>Mainframe sources (IMS/VSAM) in scope</a:t>
            </a:r>
            <a:endParaRPr lang="en-US" sz="1000" dirty="0"/>
          </a:p>
        </p:txBody>
      </p:sp>
      <p:sp>
        <p:nvSpPr>
          <p:cNvPr id="22" name="Shape 20"/>
          <p:cNvSpPr/>
          <p:nvPr/>
        </p:nvSpPr>
        <p:spPr>
          <a:xfrm>
            <a:off x="384048" y="4261104"/>
            <a:ext cx="45720" cy="219456"/>
          </a:xfrm>
          <a:prstGeom prst="rect">
            <a:avLst/>
          </a:prstGeom>
          <a:solidFill>
            <a:srgbClr val="1565C0"/>
          </a:solidFill>
          <a:ln w="12700">
            <a:solidFill>
              <a:srgbClr val="1565C0"/>
            </a:solidFill>
            <a:prstDash val="solid"/>
          </a:ln>
        </p:spPr>
      </p:sp>
      <p:sp>
        <p:nvSpPr>
          <p:cNvPr id="23" name="Text 21"/>
          <p:cNvSpPr/>
          <p:nvPr/>
        </p:nvSpPr>
        <p:spPr>
          <a:xfrm>
            <a:off x="512064" y="4206240"/>
            <a:ext cx="2432304" cy="347472"/>
          </a:xfrm>
          <a:prstGeom prst="rect">
            <a:avLst/>
          </a:prstGeom>
          <a:noFill/>
          <a:ln/>
        </p:spPr>
        <p:txBody>
          <a:bodyPr wrap="square" lIns="0" tIns="0" rIns="0" bIns="0" rtlCol="0" anchor="ctr"/>
          <a:lstStyle/>
          <a:p>
            <a:pPr indent="0" marL="0">
              <a:buNone/>
            </a:pPr>
            <a:r>
              <a:rPr lang="en-US" sz="1000" dirty="0">
                <a:solidFill>
                  <a:srgbClr val="06185F"/>
                </a:solidFill>
                <a:latin typeface="Aptos" pitchFamily="34" charset="0"/>
                <a:ea typeface="Aptos" pitchFamily="34" charset="-122"/>
                <a:cs typeface="Aptos" pitchFamily="34" charset="-120"/>
              </a:rPr>
              <a:t>IBM DataStage or Cloud Pak for Data in use</a:t>
            </a:r>
            <a:endParaRPr lang="en-US" sz="1000" dirty="0"/>
          </a:p>
        </p:txBody>
      </p:sp>
      <p:sp>
        <p:nvSpPr>
          <p:cNvPr id="24" name="Shape 22"/>
          <p:cNvSpPr/>
          <p:nvPr/>
        </p:nvSpPr>
        <p:spPr>
          <a:xfrm>
            <a:off x="384048" y="4626864"/>
            <a:ext cx="45720" cy="219456"/>
          </a:xfrm>
          <a:prstGeom prst="rect">
            <a:avLst/>
          </a:prstGeom>
          <a:solidFill>
            <a:srgbClr val="1565C0"/>
          </a:solidFill>
          <a:ln w="12700">
            <a:solidFill>
              <a:srgbClr val="1565C0"/>
            </a:solidFill>
            <a:prstDash val="solid"/>
          </a:ln>
        </p:spPr>
      </p:sp>
      <p:sp>
        <p:nvSpPr>
          <p:cNvPr id="25" name="Text 23"/>
          <p:cNvSpPr/>
          <p:nvPr/>
        </p:nvSpPr>
        <p:spPr>
          <a:xfrm>
            <a:off x="512064" y="4572000"/>
            <a:ext cx="2432304" cy="347472"/>
          </a:xfrm>
          <a:prstGeom prst="rect">
            <a:avLst/>
          </a:prstGeom>
          <a:noFill/>
          <a:ln/>
        </p:spPr>
        <p:txBody>
          <a:bodyPr wrap="square" lIns="0" tIns="0" rIns="0" bIns="0" rtlCol="0" anchor="ctr"/>
          <a:lstStyle/>
          <a:p>
            <a:pPr indent="0" marL="0">
              <a:buNone/>
            </a:pPr>
            <a:r>
              <a:rPr lang="en-US" sz="1000" dirty="0">
                <a:solidFill>
                  <a:srgbClr val="06185F"/>
                </a:solidFill>
                <a:latin typeface="Aptos" pitchFamily="34" charset="0"/>
                <a:ea typeface="Aptos" pitchFamily="34" charset="-122"/>
                <a:cs typeface="Aptos" pitchFamily="34" charset="-120"/>
              </a:rPr>
              <a:t>GCP Compute Engine or on-prem deployment</a:t>
            </a:r>
            <a:endParaRPr lang="en-US" sz="1000" dirty="0"/>
          </a:p>
        </p:txBody>
      </p:sp>
      <p:sp>
        <p:nvSpPr>
          <p:cNvPr id="26" name="Shape 24"/>
          <p:cNvSpPr/>
          <p:nvPr/>
        </p:nvSpPr>
        <p:spPr>
          <a:xfrm>
            <a:off x="3145536" y="2505456"/>
            <a:ext cx="2798064" cy="2523744"/>
          </a:xfrm>
          <a:prstGeom prst="rect">
            <a:avLst/>
          </a:prstGeom>
          <a:solidFill>
            <a:srgbClr val="F0FBF5"/>
          </a:solidFill>
          <a:ln w="31750">
            <a:solidFill>
              <a:srgbClr val="2E7D32"/>
            </a:solidFill>
            <a:prstDash val="solid"/>
          </a:ln>
          <a:effectLst>
            <a:outerShdw sx="100000" sy="100000" kx="0" ky="0" algn="bl" rotWithShape="0" blurRad="50800" dist="25400" dir="8100000">
              <a:srgbClr val="000000">
                <a:alpha val="13000"/>
              </a:srgbClr>
            </a:outerShdw>
          </a:effectLst>
        </p:spPr>
      </p:sp>
      <p:sp>
        <p:nvSpPr>
          <p:cNvPr id="27" name="Shape 25"/>
          <p:cNvSpPr/>
          <p:nvPr/>
        </p:nvSpPr>
        <p:spPr>
          <a:xfrm>
            <a:off x="3145536" y="2505456"/>
            <a:ext cx="2798064" cy="73152"/>
          </a:xfrm>
          <a:prstGeom prst="rect">
            <a:avLst/>
          </a:prstGeom>
          <a:solidFill>
            <a:srgbClr val="2E7D32"/>
          </a:solidFill>
          <a:ln w="12700">
            <a:solidFill>
              <a:srgbClr val="2E7D32"/>
            </a:solidFill>
            <a:prstDash val="solid"/>
          </a:ln>
        </p:spPr>
      </p:sp>
      <p:sp>
        <p:nvSpPr>
          <p:cNvPr id="28" name="Text 26"/>
          <p:cNvSpPr/>
          <p:nvPr/>
        </p:nvSpPr>
        <p:spPr>
          <a:xfrm>
            <a:off x="3236976" y="2633472"/>
            <a:ext cx="2615184" cy="347472"/>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If: GCP-Native + Transformations</a:t>
            </a:r>
            <a:endParaRPr lang="en-US" sz="1050" dirty="0"/>
          </a:p>
        </p:txBody>
      </p:sp>
      <p:sp>
        <p:nvSpPr>
          <p:cNvPr id="29" name="Shape 27"/>
          <p:cNvSpPr/>
          <p:nvPr/>
        </p:nvSpPr>
        <p:spPr>
          <a:xfrm>
            <a:off x="3236976" y="3017520"/>
            <a:ext cx="2615184" cy="365760"/>
          </a:xfrm>
          <a:prstGeom prst="rect">
            <a:avLst/>
          </a:prstGeom>
          <a:solidFill>
            <a:srgbClr val="2E7D32"/>
          </a:solidFill>
          <a:ln w="12700">
            <a:solidFill>
              <a:srgbClr val="2E7D32"/>
            </a:solidFill>
            <a:prstDash val="solid"/>
          </a:ln>
        </p:spPr>
      </p:sp>
      <p:sp>
        <p:nvSpPr>
          <p:cNvPr id="30" name="Text 28"/>
          <p:cNvSpPr/>
          <p:nvPr/>
        </p:nvSpPr>
        <p:spPr>
          <a:xfrm>
            <a:off x="3236976" y="3017520"/>
            <a:ext cx="2615184" cy="365760"/>
          </a:xfrm>
          <a:prstGeom prst="rect">
            <a:avLst/>
          </a:prstGeom>
          <a:noFill/>
          <a:ln/>
        </p:spPr>
        <p:txBody>
          <a:bodyPr wrap="square" lIns="50800" tIns="50800" rIns="50800" bIns="50800" rtlCol="0" anchor="ctr"/>
          <a:lstStyle/>
          <a:p>
            <a:pPr indent="0" marL="0">
              <a:buNone/>
            </a:pPr>
            <a:r>
              <a:rPr lang="en-US" sz="1100" b="1" dirty="0">
                <a:solidFill>
                  <a:srgbClr val="FFFFFF"/>
                </a:solidFill>
                <a:latin typeface="Aptos Display" pitchFamily="34" charset="0"/>
                <a:ea typeface="Aptos Display" pitchFamily="34" charset="-122"/>
                <a:cs typeface="Aptos Display" pitchFamily="34" charset="-120"/>
              </a:rPr>
              <a:t>Striim  ★ Best for SQL Server → GCP</a:t>
            </a:r>
            <a:endParaRPr lang="en-US" sz="1100" dirty="0"/>
          </a:p>
        </p:txBody>
      </p:sp>
      <p:sp>
        <p:nvSpPr>
          <p:cNvPr id="31" name="Shape 29"/>
          <p:cNvSpPr/>
          <p:nvPr/>
        </p:nvSpPr>
        <p:spPr>
          <a:xfrm>
            <a:off x="3273552" y="3529584"/>
            <a:ext cx="45720" cy="219456"/>
          </a:xfrm>
          <a:prstGeom prst="rect">
            <a:avLst/>
          </a:prstGeom>
          <a:solidFill>
            <a:srgbClr val="2E7D32"/>
          </a:solidFill>
          <a:ln w="12700">
            <a:solidFill>
              <a:srgbClr val="2E7D32"/>
            </a:solidFill>
            <a:prstDash val="solid"/>
          </a:ln>
        </p:spPr>
      </p:sp>
      <p:sp>
        <p:nvSpPr>
          <p:cNvPr id="32" name="Text 30"/>
          <p:cNvSpPr/>
          <p:nvPr/>
        </p:nvSpPr>
        <p:spPr>
          <a:xfrm>
            <a:off x="3401568" y="3474720"/>
            <a:ext cx="2432304" cy="347472"/>
          </a:xfrm>
          <a:prstGeom prst="rect">
            <a:avLst/>
          </a:prstGeom>
          <a:noFill/>
          <a:ln/>
        </p:spPr>
        <p:txBody>
          <a:bodyPr wrap="square" lIns="0" tIns="0" rIns="0" bIns="0" rtlCol="0" anchor="ctr"/>
          <a:lstStyle/>
          <a:p>
            <a:pPr indent="0" marL="0">
              <a:buNone/>
            </a:pPr>
            <a:r>
              <a:rPr lang="en-US" sz="1000" dirty="0">
                <a:solidFill>
                  <a:srgbClr val="06185F"/>
                </a:solidFill>
                <a:latin typeface="Aptos" pitchFamily="34" charset="0"/>
                <a:ea typeface="Aptos" pitchFamily="34" charset="-122"/>
                <a:cs typeface="Aptos" pitchFamily="34" charset="-120"/>
              </a:rPr>
              <a:t>Native BigQuery Writer — no Kafka intermediary</a:t>
            </a:r>
            <a:endParaRPr lang="en-US" sz="1000" dirty="0"/>
          </a:p>
        </p:txBody>
      </p:sp>
      <p:sp>
        <p:nvSpPr>
          <p:cNvPr id="33" name="Shape 31"/>
          <p:cNvSpPr/>
          <p:nvPr/>
        </p:nvSpPr>
        <p:spPr>
          <a:xfrm>
            <a:off x="3273552" y="3895344"/>
            <a:ext cx="45720" cy="219456"/>
          </a:xfrm>
          <a:prstGeom prst="rect">
            <a:avLst/>
          </a:prstGeom>
          <a:solidFill>
            <a:srgbClr val="2E7D32"/>
          </a:solidFill>
          <a:ln w="12700">
            <a:solidFill>
              <a:srgbClr val="2E7D32"/>
            </a:solidFill>
            <a:prstDash val="solid"/>
          </a:ln>
        </p:spPr>
      </p:sp>
      <p:sp>
        <p:nvSpPr>
          <p:cNvPr id="34" name="Text 32"/>
          <p:cNvSpPr/>
          <p:nvPr/>
        </p:nvSpPr>
        <p:spPr>
          <a:xfrm>
            <a:off x="3401568" y="3840480"/>
            <a:ext cx="2432304" cy="347472"/>
          </a:xfrm>
          <a:prstGeom prst="rect">
            <a:avLst/>
          </a:prstGeom>
          <a:noFill/>
          <a:ln/>
        </p:spPr>
        <p:txBody>
          <a:bodyPr wrap="square" lIns="0" tIns="0" rIns="0" bIns="0" rtlCol="0" anchor="ctr"/>
          <a:lstStyle/>
          <a:p>
            <a:pPr indent="0" marL="0">
              <a:buNone/>
            </a:pPr>
            <a:r>
              <a:rPr lang="en-US" sz="1000" dirty="0">
                <a:solidFill>
                  <a:srgbClr val="06185F"/>
                </a:solidFill>
                <a:latin typeface="Aptos" pitchFamily="34" charset="0"/>
                <a:ea typeface="Aptos" pitchFamily="34" charset="-122"/>
                <a:cs typeface="Aptos" pitchFamily="34" charset="-120"/>
              </a:rPr>
              <a:t>Striim Cloud SaaS runs on GCP natively</a:t>
            </a:r>
            <a:endParaRPr lang="en-US" sz="1000" dirty="0"/>
          </a:p>
        </p:txBody>
      </p:sp>
      <p:sp>
        <p:nvSpPr>
          <p:cNvPr id="35" name="Shape 33"/>
          <p:cNvSpPr/>
          <p:nvPr/>
        </p:nvSpPr>
        <p:spPr>
          <a:xfrm>
            <a:off x="3273552" y="4261104"/>
            <a:ext cx="45720" cy="219456"/>
          </a:xfrm>
          <a:prstGeom prst="rect">
            <a:avLst/>
          </a:prstGeom>
          <a:solidFill>
            <a:srgbClr val="2E7D32"/>
          </a:solidFill>
          <a:ln w="12700">
            <a:solidFill>
              <a:srgbClr val="2E7D32"/>
            </a:solidFill>
            <a:prstDash val="solid"/>
          </a:ln>
        </p:spPr>
      </p:sp>
      <p:sp>
        <p:nvSpPr>
          <p:cNvPr id="36" name="Text 34"/>
          <p:cNvSpPr/>
          <p:nvPr/>
        </p:nvSpPr>
        <p:spPr>
          <a:xfrm>
            <a:off x="3401568" y="4206240"/>
            <a:ext cx="2432304" cy="347472"/>
          </a:xfrm>
          <a:prstGeom prst="rect">
            <a:avLst/>
          </a:prstGeom>
          <a:noFill/>
          <a:ln/>
        </p:spPr>
        <p:txBody>
          <a:bodyPr wrap="square" lIns="0" tIns="0" rIns="0" bIns="0" rtlCol="0" anchor="ctr"/>
          <a:lstStyle/>
          <a:p>
            <a:pPr indent="0" marL="0">
              <a:buNone/>
            </a:pPr>
            <a:r>
              <a:rPr lang="en-US" sz="1000" dirty="0">
                <a:solidFill>
                  <a:srgbClr val="06185F"/>
                </a:solidFill>
                <a:latin typeface="Aptos" pitchFamily="34" charset="0"/>
                <a:ea typeface="Aptos" pitchFamily="34" charset="-122"/>
                <a:cs typeface="Aptos" pitchFamily="34" charset="-120"/>
              </a:rPr>
              <a:t>Streaming SQL for in-flight enrichment</a:t>
            </a:r>
            <a:endParaRPr lang="en-US" sz="1000" dirty="0"/>
          </a:p>
        </p:txBody>
      </p:sp>
      <p:sp>
        <p:nvSpPr>
          <p:cNvPr id="37" name="Shape 35"/>
          <p:cNvSpPr/>
          <p:nvPr/>
        </p:nvSpPr>
        <p:spPr>
          <a:xfrm>
            <a:off x="3273552" y="4626864"/>
            <a:ext cx="45720" cy="219456"/>
          </a:xfrm>
          <a:prstGeom prst="rect">
            <a:avLst/>
          </a:prstGeom>
          <a:solidFill>
            <a:srgbClr val="2E7D32"/>
          </a:solidFill>
          <a:ln w="12700">
            <a:solidFill>
              <a:srgbClr val="2E7D32"/>
            </a:solidFill>
            <a:prstDash val="solid"/>
          </a:ln>
        </p:spPr>
      </p:sp>
      <p:sp>
        <p:nvSpPr>
          <p:cNvPr id="38" name="Text 36"/>
          <p:cNvSpPr/>
          <p:nvPr/>
        </p:nvSpPr>
        <p:spPr>
          <a:xfrm>
            <a:off x="3401568" y="4572000"/>
            <a:ext cx="2432304" cy="347472"/>
          </a:xfrm>
          <a:prstGeom prst="rect">
            <a:avLst/>
          </a:prstGeom>
          <a:noFill/>
          <a:ln/>
        </p:spPr>
        <p:txBody>
          <a:bodyPr wrap="square" lIns="0" tIns="0" rIns="0" bIns="0" rtlCol="0" anchor="ctr"/>
          <a:lstStyle/>
          <a:p>
            <a:pPr indent="0" marL="0">
              <a:buNone/>
            </a:pPr>
            <a:r>
              <a:rPr lang="en-US" sz="1000" dirty="0">
                <a:solidFill>
                  <a:srgbClr val="06185F"/>
                </a:solidFill>
                <a:latin typeface="Aptos" pitchFamily="34" charset="0"/>
                <a:ea typeface="Aptos" pitchFamily="34" charset="-122"/>
                <a:cs typeface="Aptos" pitchFamily="34" charset="-120"/>
              </a:rPr>
              <a:t>Simplest path: SQL Server → BigQuery direct</a:t>
            </a:r>
            <a:endParaRPr lang="en-US" sz="1000" dirty="0"/>
          </a:p>
        </p:txBody>
      </p:sp>
      <p:sp>
        <p:nvSpPr>
          <p:cNvPr id="39" name="Shape 37"/>
          <p:cNvSpPr/>
          <p:nvPr/>
        </p:nvSpPr>
        <p:spPr>
          <a:xfrm>
            <a:off x="6035040" y="2505456"/>
            <a:ext cx="2798064" cy="2523744"/>
          </a:xfrm>
          <a:prstGeom prst="rect">
            <a:avLst/>
          </a:prstGeom>
          <a:solidFill>
            <a:srgbClr val="E7ECF0"/>
          </a:solidFill>
          <a:ln w="12700">
            <a:solidFill>
              <a:srgbClr val="B6BBC0"/>
            </a:solidFill>
            <a:prstDash val="solid"/>
          </a:ln>
          <a:effectLst>
            <a:outerShdw sx="100000" sy="100000" kx="0" ky="0" algn="bl" rotWithShape="0" blurRad="50800" dist="25400" dir="8100000">
              <a:srgbClr val="000000">
                <a:alpha val="13000"/>
              </a:srgbClr>
            </a:outerShdw>
          </a:effectLst>
        </p:spPr>
      </p:sp>
      <p:sp>
        <p:nvSpPr>
          <p:cNvPr id="40" name="Shape 38"/>
          <p:cNvSpPr/>
          <p:nvPr/>
        </p:nvSpPr>
        <p:spPr>
          <a:xfrm>
            <a:off x="6035040" y="2505456"/>
            <a:ext cx="2798064" cy="73152"/>
          </a:xfrm>
          <a:prstGeom prst="rect">
            <a:avLst/>
          </a:prstGeom>
          <a:solidFill>
            <a:srgbClr val="00796B"/>
          </a:solidFill>
          <a:ln w="12700">
            <a:solidFill>
              <a:srgbClr val="00796B"/>
            </a:solidFill>
            <a:prstDash val="solid"/>
          </a:ln>
        </p:spPr>
      </p:sp>
      <p:sp>
        <p:nvSpPr>
          <p:cNvPr id="41" name="Text 39"/>
          <p:cNvSpPr/>
          <p:nvPr/>
        </p:nvSpPr>
        <p:spPr>
          <a:xfrm>
            <a:off x="6126480" y="2633472"/>
            <a:ext cx="2615184" cy="347472"/>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If: Broad Coverage + DW Loading</a:t>
            </a:r>
            <a:endParaRPr lang="en-US" sz="1050" dirty="0"/>
          </a:p>
        </p:txBody>
      </p:sp>
      <p:sp>
        <p:nvSpPr>
          <p:cNvPr id="42" name="Shape 40"/>
          <p:cNvSpPr/>
          <p:nvPr/>
        </p:nvSpPr>
        <p:spPr>
          <a:xfrm>
            <a:off x="6126480" y="3017520"/>
            <a:ext cx="2615184" cy="365760"/>
          </a:xfrm>
          <a:prstGeom prst="rect">
            <a:avLst/>
          </a:prstGeom>
          <a:solidFill>
            <a:srgbClr val="00796B"/>
          </a:solidFill>
          <a:ln w="12700">
            <a:solidFill>
              <a:srgbClr val="00796B"/>
            </a:solidFill>
            <a:prstDash val="solid"/>
          </a:ln>
        </p:spPr>
      </p:sp>
      <p:sp>
        <p:nvSpPr>
          <p:cNvPr id="43" name="Text 41"/>
          <p:cNvSpPr/>
          <p:nvPr/>
        </p:nvSpPr>
        <p:spPr>
          <a:xfrm>
            <a:off x="6126480" y="3017520"/>
            <a:ext cx="2615184" cy="365760"/>
          </a:xfrm>
          <a:prstGeom prst="rect">
            <a:avLst/>
          </a:prstGeom>
          <a:noFill/>
          <a:ln/>
        </p:spPr>
        <p:txBody>
          <a:bodyPr wrap="square" lIns="50800" tIns="50800" rIns="50800" bIns="50800" rtlCol="0" anchor="ctr"/>
          <a:lstStyle/>
          <a:p>
            <a:pPr indent="0" marL="0">
              <a:buNone/>
            </a:pPr>
            <a:r>
              <a:rPr lang="en-US" sz="1100" b="1" dirty="0">
                <a:solidFill>
                  <a:srgbClr val="FFFFFF"/>
                </a:solidFill>
                <a:latin typeface="Aptos Display" pitchFamily="34" charset="0"/>
                <a:ea typeface="Aptos Display" pitchFamily="34" charset="-122"/>
                <a:cs typeface="Aptos Display" pitchFamily="34" charset="-120"/>
              </a:rPr>
              <a:t>Qlik Replicate</a:t>
            </a:r>
            <a:endParaRPr lang="en-US" sz="1100" dirty="0"/>
          </a:p>
        </p:txBody>
      </p:sp>
      <p:sp>
        <p:nvSpPr>
          <p:cNvPr id="44" name="Shape 42"/>
          <p:cNvSpPr/>
          <p:nvPr/>
        </p:nvSpPr>
        <p:spPr>
          <a:xfrm>
            <a:off x="6163056" y="3529584"/>
            <a:ext cx="45720" cy="219456"/>
          </a:xfrm>
          <a:prstGeom prst="rect">
            <a:avLst/>
          </a:prstGeom>
          <a:solidFill>
            <a:srgbClr val="00796B"/>
          </a:solidFill>
          <a:ln w="12700">
            <a:solidFill>
              <a:srgbClr val="00796B"/>
            </a:solidFill>
            <a:prstDash val="solid"/>
          </a:ln>
        </p:spPr>
      </p:sp>
      <p:sp>
        <p:nvSpPr>
          <p:cNvPr id="45" name="Text 43"/>
          <p:cNvSpPr/>
          <p:nvPr/>
        </p:nvSpPr>
        <p:spPr>
          <a:xfrm>
            <a:off x="6291072" y="3474720"/>
            <a:ext cx="2432304" cy="347472"/>
          </a:xfrm>
          <a:prstGeom prst="rect">
            <a:avLst/>
          </a:prstGeom>
          <a:noFill/>
          <a:ln/>
        </p:spPr>
        <p:txBody>
          <a:bodyPr wrap="square" lIns="0" tIns="0" rIns="0" bIns="0" rtlCol="0" anchor="ctr"/>
          <a:lstStyle/>
          <a:p>
            <a:pPr indent="0" marL="0">
              <a:buNone/>
            </a:pPr>
            <a:r>
              <a:rPr lang="en-US" sz="1000" dirty="0">
                <a:solidFill>
                  <a:srgbClr val="06185F"/>
                </a:solidFill>
                <a:latin typeface="Aptos" pitchFamily="34" charset="0"/>
                <a:ea typeface="Aptos" pitchFamily="34" charset="-122"/>
                <a:cs typeface="Aptos" pitchFamily="34" charset="-120"/>
              </a:rPr>
              <a:t>Widest source/target matrix</a:t>
            </a:r>
            <a:endParaRPr lang="en-US" sz="1000" dirty="0"/>
          </a:p>
        </p:txBody>
      </p:sp>
      <p:sp>
        <p:nvSpPr>
          <p:cNvPr id="46" name="Shape 44"/>
          <p:cNvSpPr/>
          <p:nvPr/>
        </p:nvSpPr>
        <p:spPr>
          <a:xfrm>
            <a:off x="6163056" y="3895344"/>
            <a:ext cx="45720" cy="219456"/>
          </a:xfrm>
          <a:prstGeom prst="rect">
            <a:avLst/>
          </a:prstGeom>
          <a:solidFill>
            <a:srgbClr val="00796B"/>
          </a:solidFill>
          <a:ln w="12700">
            <a:solidFill>
              <a:srgbClr val="00796B"/>
            </a:solidFill>
            <a:prstDash val="solid"/>
          </a:ln>
        </p:spPr>
      </p:sp>
      <p:sp>
        <p:nvSpPr>
          <p:cNvPr id="47" name="Text 45"/>
          <p:cNvSpPr/>
          <p:nvPr/>
        </p:nvSpPr>
        <p:spPr>
          <a:xfrm>
            <a:off x="6291072" y="3840480"/>
            <a:ext cx="2432304" cy="347472"/>
          </a:xfrm>
          <a:prstGeom prst="rect">
            <a:avLst/>
          </a:prstGeom>
          <a:noFill/>
          <a:ln/>
        </p:spPr>
        <p:txBody>
          <a:bodyPr wrap="square" lIns="0" tIns="0" rIns="0" bIns="0" rtlCol="0" anchor="ctr"/>
          <a:lstStyle/>
          <a:p>
            <a:pPr indent="0" marL="0">
              <a:buNone/>
            </a:pPr>
            <a:r>
              <a:rPr lang="en-US" sz="1000" dirty="0">
                <a:solidFill>
                  <a:srgbClr val="06185F"/>
                </a:solidFill>
                <a:latin typeface="Aptos" pitchFamily="34" charset="0"/>
                <a:ea typeface="Aptos" pitchFamily="34" charset="-122"/>
                <a:cs typeface="Aptos" pitchFamily="34" charset="-120"/>
              </a:rPr>
              <a:t>DW loading without complex transformation</a:t>
            </a:r>
            <a:endParaRPr lang="en-US" sz="1000" dirty="0"/>
          </a:p>
        </p:txBody>
      </p:sp>
      <p:sp>
        <p:nvSpPr>
          <p:cNvPr id="48" name="Shape 46"/>
          <p:cNvSpPr/>
          <p:nvPr/>
        </p:nvSpPr>
        <p:spPr>
          <a:xfrm>
            <a:off x="6163056" y="4261104"/>
            <a:ext cx="45720" cy="219456"/>
          </a:xfrm>
          <a:prstGeom prst="rect">
            <a:avLst/>
          </a:prstGeom>
          <a:solidFill>
            <a:srgbClr val="00796B"/>
          </a:solidFill>
          <a:ln w="12700">
            <a:solidFill>
              <a:srgbClr val="00796B"/>
            </a:solidFill>
            <a:prstDash val="solid"/>
          </a:ln>
        </p:spPr>
      </p:sp>
      <p:sp>
        <p:nvSpPr>
          <p:cNvPr id="49" name="Text 47"/>
          <p:cNvSpPr/>
          <p:nvPr/>
        </p:nvSpPr>
        <p:spPr>
          <a:xfrm>
            <a:off x="6291072" y="4206240"/>
            <a:ext cx="2432304" cy="347472"/>
          </a:xfrm>
          <a:prstGeom prst="rect">
            <a:avLst/>
          </a:prstGeom>
          <a:noFill/>
          <a:ln/>
        </p:spPr>
        <p:txBody>
          <a:bodyPr wrap="square" lIns="0" tIns="0" rIns="0" bIns="0" rtlCol="0" anchor="ctr"/>
          <a:lstStyle/>
          <a:p>
            <a:pPr indent="0" marL="0">
              <a:buNone/>
            </a:pPr>
            <a:r>
              <a:rPr lang="en-US" sz="1000" dirty="0">
                <a:solidFill>
                  <a:srgbClr val="06185F"/>
                </a:solidFill>
                <a:latin typeface="Aptos" pitchFamily="34" charset="0"/>
                <a:ea typeface="Aptos" pitchFamily="34" charset="-122"/>
                <a:cs typeface="Aptos" pitchFamily="34" charset="-120"/>
              </a:rPr>
              <a:t>On-prem or GCP VM deployment</a:t>
            </a:r>
            <a:endParaRPr lang="en-US" sz="1000" dirty="0"/>
          </a:p>
        </p:txBody>
      </p:sp>
      <p:sp>
        <p:nvSpPr>
          <p:cNvPr id="50" name="Shape 48"/>
          <p:cNvSpPr/>
          <p:nvPr/>
        </p:nvSpPr>
        <p:spPr>
          <a:xfrm>
            <a:off x="6163056" y="4626864"/>
            <a:ext cx="45720" cy="219456"/>
          </a:xfrm>
          <a:prstGeom prst="rect">
            <a:avLst/>
          </a:prstGeom>
          <a:solidFill>
            <a:srgbClr val="00796B"/>
          </a:solidFill>
          <a:ln w="12700">
            <a:solidFill>
              <a:srgbClr val="00796B"/>
            </a:solidFill>
            <a:prstDash val="solid"/>
          </a:ln>
        </p:spPr>
      </p:sp>
      <p:sp>
        <p:nvSpPr>
          <p:cNvPr id="51" name="Text 49"/>
          <p:cNvSpPr/>
          <p:nvPr/>
        </p:nvSpPr>
        <p:spPr>
          <a:xfrm>
            <a:off x="6291072" y="4572000"/>
            <a:ext cx="2432304" cy="347472"/>
          </a:xfrm>
          <a:prstGeom prst="rect">
            <a:avLst/>
          </a:prstGeom>
          <a:noFill/>
          <a:ln/>
        </p:spPr>
        <p:txBody>
          <a:bodyPr wrap="square" lIns="0" tIns="0" rIns="0" bIns="0" rtlCol="0" anchor="ctr"/>
          <a:lstStyle/>
          <a:p>
            <a:pPr indent="0" marL="0">
              <a:buNone/>
            </a:pPr>
            <a:r>
              <a:rPr lang="en-US" sz="1000" dirty="0">
                <a:solidFill>
                  <a:srgbClr val="06185F"/>
                </a:solidFill>
                <a:latin typeface="Aptos" pitchFamily="34" charset="0"/>
                <a:ea typeface="Aptos" pitchFamily="34" charset="-122"/>
                <a:cs typeface="Aptos" pitchFamily="34" charset="-120"/>
              </a:rPr>
              <a:t>Intuitive task-based management console</a:t>
            </a:r>
            <a:endParaRPr lang="en-US" sz="1000" dirty="0"/>
          </a:p>
        </p:txBody>
      </p:sp>
      <p:sp>
        <p:nvSpPr>
          <p:cNvPr id="52" name="Shape 50"/>
          <p:cNvSpPr/>
          <p:nvPr/>
        </p:nvSpPr>
        <p:spPr>
          <a:xfrm>
            <a:off x="256032" y="4818888"/>
            <a:ext cx="8631936" cy="274320"/>
          </a:xfrm>
          <a:prstGeom prst="rect">
            <a:avLst/>
          </a:prstGeom>
          <a:solidFill>
            <a:srgbClr val="085CE5">
              <a:alpha val="10000"/>
            </a:srgbClr>
          </a:solidFill>
          <a:ln w="12700">
            <a:solidFill>
              <a:srgbClr val="085CE5"/>
            </a:solidFill>
            <a:prstDash val="solid"/>
          </a:ln>
        </p:spPr>
      </p:sp>
      <p:sp>
        <p:nvSpPr>
          <p:cNvPr id="53" name="Text 51"/>
          <p:cNvSpPr/>
          <p:nvPr/>
        </p:nvSpPr>
        <p:spPr>
          <a:xfrm>
            <a:off x="320040" y="4818888"/>
            <a:ext cx="8503920" cy="274320"/>
          </a:xfrm>
          <a:prstGeom prst="rect">
            <a:avLst/>
          </a:prstGeom>
          <a:noFill/>
          <a:ln/>
        </p:spPr>
        <p:txBody>
          <a:bodyPr wrap="square" lIns="25400" tIns="25400" rIns="25400" bIns="25400" rtlCol="0" anchor="ctr"/>
          <a:lstStyle/>
          <a:p>
            <a:pPr indent="0" marL="0">
              <a:buNone/>
            </a:pPr>
            <a:r>
              <a:rPr lang="en-US" sz="950" i="1" dirty="0">
                <a:solidFill>
                  <a:srgbClr val="06185F"/>
                </a:solidFill>
                <a:latin typeface="Aptos" pitchFamily="34" charset="0"/>
                <a:ea typeface="Aptos" pitchFamily="34" charset="-122"/>
                <a:cs typeface="Aptos" pitchFamily="34" charset="-120"/>
              </a:rPr>
              <a:t>All Phase 2 options: direct log reading, no SQL Agent dependency, automated schema evolution, AG failover awareness, enterprise support. Striim is the primary recommendation for SQL Server → GCP.</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Recipe: SQL Server → GCP via Native CDC + Debezium</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Shape 3"/>
          <p:cNvSpPr/>
          <p:nvPr/>
        </p:nvSpPr>
        <p:spPr>
          <a:xfrm>
            <a:off x="256032" y="850392"/>
            <a:ext cx="8631936" cy="237744"/>
          </a:xfrm>
          <a:prstGeom prst="rect">
            <a:avLst/>
          </a:prstGeom>
          <a:solidFill>
            <a:srgbClr val="F3E5F5"/>
          </a:solidFill>
          <a:ln w="12700">
            <a:solidFill>
              <a:srgbClr val="6A1B9A"/>
            </a:solidFill>
            <a:prstDash val="solid"/>
          </a:ln>
        </p:spPr>
      </p:sp>
      <p:sp>
        <p:nvSpPr>
          <p:cNvPr id="6" name="Text 4"/>
          <p:cNvSpPr/>
          <p:nvPr/>
        </p:nvSpPr>
        <p:spPr>
          <a:xfrm>
            <a:off x="320040" y="850392"/>
            <a:ext cx="8503920" cy="237744"/>
          </a:xfrm>
          <a:prstGeom prst="rect">
            <a:avLst/>
          </a:prstGeom>
          <a:noFill/>
          <a:ln/>
        </p:spPr>
        <p:txBody>
          <a:bodyPr wrap="square" lIns="25400" tIns="25400" rIns="25400" bIns="25400" rtlCol="0" anchor="ctr"/>
          <a:lstStyle/>
          <a:p>
            <a:pPr indent="0" marL="0">
              <a:buNone/>
            </a:pPr>
            <a:r>
              <a:rPr lang="en-US" sz="1000" b="1" dirty="0">
                <a:solidFill>
                  <a:srgbClr val="6A1B9A"/>
                </a:solidFill>
                <a:latin typeface="Aptos" pitchFamily="34" charset="0"/>
                <a:ea typeface="Aptos" pitchFamily="34" charset="-122"/>
                <a:cs typeface="Aptos" pitchFamily="34" charset="-120"/>
              </a:rPr>
              <a:t>Phase 1 path  •  Open-source, no commercial CDC license  •  3 moving parts: SQL Server Agent + Kafka Connect + Debezium</a:t>
            </a:r>
            <a:endParaRPr lang="en-US" sz="1000" dirty="0"/>
          </a:p>
        </p:txBody>
      </p:sp>
      <p:sp>
        <p:nvSpPr>
          <p:cNvPr id="7" name="Shape 5"/>
          <p:cNvSpPr/>
          <p:nvPr/>
        </p:nvSpPr>
        <p:spPr>
          <a:xfrm>
            <a:off x="256032" y="1161288"/>
            <a:ext cx="4151376" cy="566928"/>
          </a:xfrm>
          <a:prstGeom prst="rect">
            <a:avLst/>
          </a:prstGeom>
          <a:solidFill>
            <a:srgbClr val="E7ECF0"/>
          </a:solidFill>
          <a:ln w="12700">
            <a:solidFill>
              <a:srgbClr val="B6BBC0"/>
            </a:solidFill>
            <a:prstDash val="solid"/>
          </a:ln>
        </p:spPr>
      </p:sp>
      <p:sp>
        <p:nvSpPr>
          <p:cNvPr id="8" name="Shape 6"/>
          <p:cNvSpPr/>
          <p:nvPr/>
        </p:nvSpPr>
        <p:spPr>
          <a:xfrm>
            <a:off x="256032" y="1161288"/>
            <a:ext cx="310896" cy="566928"/>
          </a:xfrm>
          <a:prstGeom prst="rect">
            <a:avLst/>
          </a:prstGeom>
          <a:solidFill>
            <a:srgbClr val="6A1B9A"/>
          </a:solidFill>
          <a:ln w="12700">
            <a:solidFill>
              <a:srgbClr val="6A1B9A"/>
            </a:solidFill>
            <a:prstDash val="solid"/>
          </a:ln>
        </p:spPr>
      </p:sp>
      <p:sp>
        <p:nvSpPr>
          <p:cNvPr id="9" name="Text 7"/>
          <p:cNvSpPr/>
          <p:nvPr/>
        </p:nvSpPr>
        <p:spPr>
          <a:xfrm>
            <a:off x="256032" y="1161288"/>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a:t>
            </a:r>
            <a:endParaRPr lang="en-US" sz="1400" dirty="0"/>
          </a:p>
        </p:txBody>
      </p:sp>
      <p:sp>
        <p:nvSpPr>
          <p:cNvPr id="10" name="Text 8"/>
          <p:cNvSpPr/>
          <p:nvPr/>
        </p:nvSpPr>
        <p:spPr>
          <a:xfrm>
            <a:off x="640080" y="1207008"/>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Enable CDC on the database</a:t>
            </a:r>
            <a:endParaRPr lang="en-US" sz="1050" dirty="0"/>
          </a:p>
        </p:txBody>
      </p:sp>
      <p:sp>
        <p:nvSpPr>
          <p:cNvPr id="11" name="Text 9"/>
          <p:cNvSpPr/>
          <p:nvPr/>
        </p:nvSpPr>
        <p:spPr>
          <a:xfrm>
            <a:off x="640080" y="1417320"/>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EXEC sys.sp_cdc_enable_db  — requires sysadmin or db_owner. One command per database. No application restart needed.</a:t>
            </a:r>
            <a:endParaRPr lang="en-US" sz="850" dirty="0"/>
          </a:p>
        </p:txBody>
      </p:sp>
      <p:sp>
        <p:nvSpPr>
          <p:cNvPr id="12" name="Shape 10"/>
          <p:cNvSpPr/>
          <p:nvPr/>
        </p:nvSpPr>
        <p:spPr>
          <a:xfrm>
            <a:off x="256032" y="1792224"/>
            <a:ext cx="4151376" cy="566928"/>
          </a:xfrm>
          <a:prstGeom prst="rect">
            <a:avLst/>
          </a:prstGeom>
          <a:solidFill>
            <a:srgbClr val="E7ECF0"/>
          </a:solidFill>
          <a:ln w="12700">
            <a:solidFill>
              <a:srgbClr val="B6BBC0"/>
            </a:solidFill>
            <a:prstDash val="solid"/>
          </a:ln>
        </p:spPr>
      </p:sp>
      <p:sp>
        <p:nvSpPr>
          <p:cNvPr id="13" name="Shape 11"/>
          <p:cNvSpPr/>
          <p:nvPr/>
        </p:nvSpPr>
        <p:spPr>
          <a:xfrm>
            <a:off x="256032" y="1792224"/>
            <a:ext cx="310896" cy="566928"/>
          </a:xfrm>
          <a:prstGeom prst="rect">
            <a:avLst/>
          </a:prstGeom>
          <a:solidFill>
            <a:srgbClr val="6A1B9A"/>
          </a:solidFill>
          <a:ln w="12700">
            <a:solidFill>
              <a:srgbClr val="6A1B9A"/>
            </a:solidFill>
            <a:prstDash val="solid"/>
          </a:ln>
        </p:spPr>
      </p:sp>
      <p:sp>
        <p:nvSpPr>
          <p:cNvPr id="14" name="Text 12"/>
          <p:cNvSpPr/>
          <p:nvPr/>
        </p:nvSpPr>
        <p:spPr>
          <a:xfrm>
            <a:off x="256032" y="1792224"/>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2</a:t>
            </a:r>
            <a:endParaRPr lang="en-US" sz="1400" dirty="0"/>
          </a:p>
        </p:txBody>
      </p:sp>
      <p:sp>
        <p:nvSpPr>
          <p:cNvPr id="15" name="Text 13"/>
          <p:cNvSpPr/>
          <p:nvPr/>
        </p:nvSpPr>
        <p:spPr>
          <a:xfrm>
            <a:off x="640080" y="1837944"/>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Enable CDC per table</a:t>
            </a:r>
            <a:endParaRPr lang="en-US" sz="1050" dirty="0"/>
          </a:p>
        </p:txBody>
      </p:sp>
      <p:sp>
        <p:nvSpPr>
          <p:cNvPr id="16" name="Text 14"/>
          <p:cNvSpPr/>
          <p:nvPr/>
        </p:nvSpPr>
        <p:spPr>
          <a:xfrm>
            <a:off x="640080" y="2048256"/>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EXEC sys.sp_cdc_enable_table for each table to track. Enables SQL Server Agent capture + cleanup jobs automatically.</a:t>
            </a:r>
            <a:endParaRPr lang="en-US" sz="850" dirty="0"/>
          </a:p>
        </p:txBody>
      </p:sp>
      <p:sp>
        <p:nvSpPr>
          <p:cNvPr id="17" name="Shape 15"/>
          <p:cNvSpPr/>
          <p:nvPr/>
        </p:nvSpPr>
        <p:spPr>
          <a:xfrm>
            <a:off x="256032" y="2423160"/>
            <a:ext cx="4151376" cy="566928"/>
          </a:xfrm>
          <a:prstGeom prst="rect">
            <a:avLst/>
          </a:prstGeom>
          <a:solidFill>
            <a:srgbClr val="E7ECF0"/>
          </a:solidFill>
          <a:ln w="12700">
            <a:solidFill>
              <a:srgbClr val="B6BBC0"/>
            </a:solidFill>
            <a:prstDash val="solid"/>
          </a:ln>
        </p:spPr>
      </p:sp>
      <p:sp>
        <p:nvSpPr>
          <p:cNvPr id="18" name="Shape 16"/>
          <p:cNvSpPr/>
          <p:nvPr/>
        </p:nvSpPr>
        <p:spPr>
          <a:xfrm>
            <a:off x="256032" y="2423160"/>
            <a:ext cx="310896" cy="566928"/>
          </a:xfrm>
          <a:prstGeom prst="rect">
            <a:avLst/>
          </a:prstGeom>
          <a:solidFill>
            <a:srgbClr val="E65100"/>
          </a:solidFill>
          <a:ln w="12700">
            <a:solidFill>
              <a:srgbClr val="E65100"/>
            </a:solidFill>
            <a:prstDash val="solid"/>
          </a:ln>
        </p:spPr>
      </p:sp>
      <p:sp>
        <p:nvSpPr>
          <p:cNvPr id="19" name="Text 17"/>
          <p:cNvSpPr/>
          <p:nvPr/>
        </p:nvSpPr>
        <p:spPr>
          <a:xfrm>
            <a:off x="256032" y="2423160"/>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3</a:t>
            </a:r>
            <a:endParaRPr lang="en-US" sz="1400" dirty="0"/>
          </a:p>
        </p:txBody>
      </p:sp>
      <p:sp>
        <p:nvSpPr>
          <p:cNvPr id="20" name="Text 18"/>
          <p:cNvSpPr/>
          <p:nvPr/>
        </p:nvSpPr>
        <p:spPr>
          <a:xfrm>
            <a:off x="640080" y="2468880"/>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Confirm SQL Server Agent health</a:t>
            </a:r>
            <a:endParaRPr lang="en-US" sz="1050" dirty="0"/>
          </a:p>
        </p:txBody>
      </p:sp>
      <p:sp>
        <p:nvSpPr>
          <p:cNvPr id="21" name="Text 19"/>
          <p:cNvSpPr/>
          <p:nvPr/>
        </p:nvSpPr>
        <p:spPr>
          <a:xfrm>
            <a:off x="640080" y="2679192"/>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Agent must be running and healthy at all times. Capture/cleanup jobs are SQL Agent jobs — monitor their status and uptime.</a:t>
            </a:r>
            <a:endParaRPr lang="en-US" sz="850" dirty="0"/>
          </a:p>
        </p:txBody>
      </p:sp>
      <p:sp>
        <p:nvSpPr>
          <p:cNvPr id="22" name="Shape 20"/>
          <p:cNvSpPr/>
          <p:nvPr/>
        </p:nvSpPr>
        <p:spPr>
          <a:xfrm>
            <a:off x="256032" y="3054096"/>
            <a:ext cx="4151376" cy="566928"/>
          </a:xfrm>
          <a:prstGeom prst="rect">
            <a:avLst/>
          </a:prstGeom>
          <a:solidFill>
            <a:srgbClr val="E7ECF0"/>
          </a:solidFill>
          <a:ln w="12700">
            <a:solidFill>
              <a:srgbClr val="B6BBC0"/>
            </a:solidFill>
            <a:prstDash val="solid"/>
          </a:ln>
        </p:spPr>
      </p:sp>
      <p:sp>
        <p:nvSpPr>
          <p:cNvPr id="23" name="Shape 21"/>
          <p:cNvSpPr/>
          <p:nvPr/>
        </p:nvSpPr>
        <p:spPr>
          <a:xfrm>
            <a:off x="256032" y="3054096"/>
            <a:ext cx="310896" cy="566928"/>
          </a:xfrm>
          <a:prstGeom prst="rect">
            <a:avLst/>
          </a:prstGeom>
          <a:solidFill>
            <a:srgbClr val="6A1B9A"/>
          </a:solidFill>
          <a:ln w="12700">
            <a:solidFill>
              <a:srgbClr val="6A1B9A"/>
            </a:solidFill>
            <a:prstDash val="solid"/>
          </a:ln>
        </p:spPr>
      </p:sp>
      <p:sp>
        <p:nvSpPr>
          <p:cNvPr id="24" name="Text 22"/>
          <p:cNvSpPr/>
          <p:nvPr/>
        </p:nvSpPr>
        <p:spPr>
          <a:xfrm>
            <a:off x="256032" y="3054096"/>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4</a:t>
            </a:r>
            <a:endParaRPr lang="en-US" sz="1400" dirty="0"/>
          </a:p>
        </p:txBody>
      </p:sp>
      <p:sp>
        <p:nvSpPr>
          <p:cNvPr id="25" name="Text 23"/>
          <p:cNvSpPr/>
          <p:nvPr/>
        </p:nvSpPr>
        <p:spPr>
          <a:xfrm>
            <a:off x="640080" y="3099816"/>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Deploy Kafka + Kafka Connect</a:t>
            </a:r>
            <a:endParaRPr lang="en-US" sz="1050" dirty="0"/>
          </a:p>
        </p:txBody>
      </p:sp>
      <p:sp>
        <p:nvSpPr>
          <p:cNvPr id="26" name="Text 24"/>
          <p:cNvSpPr/>
          <p:nvPr/>
        </p:nvSpPr>
        <p:spPr>
          <a:xfrm>
            <a:off x="640080" y="3310128"/>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Confluent Cloud on GCP is the simplest option. Self-managed: Kafka cluster + Kafka Connect cluster on GCP Compute Engine VMs.</a:t>
            </a:r>
            <a:endParaRPr lang="en-US" sz="850" dirty="0"/>
          </a:p>
        </p:txBody>
      </p:sp>
      <p:sp>
        <p:nvSpPr>
          <p:cNvPr id="27" name="Shape 25"/>
          <p:cNvSpPr/>
          <p:nvPr/>
        </p:nvSpPr>
        <p:spPr>
          <a:xfrm>
            <a:off x="4517136" y="1161288"/>
            <a:ext cx="4151376" cy="566928"/>
          </a:xfrm>
          <a:prstGeom prst="rect">
            <a:avLst/>
          </a:prstGeom>
          <a:solidFill>
            <a:srgbClr val="E7ECF0"/>
          </a:solidFill>
          <a:ln w="12700">
            <a:solidFill>
              <a:srgbClr val="B6BBC0"/>
            </a:solidFill>
            <a:prstDash val="solid"/>
          </a:ln>
        </p:spPr>
      </p:sp>
      <p:sp>
        <p:nvSpPr>
          <p:cNvPr id="28" name="Shape 26"/>
          <p:cNvSpPr/>
          <p:nvPr/>
        </p:nvSpPr>
        <p:spPr>
          <a:xfrm>
            <a:off x="4517136" y="1161288"/>
            <a:ext cx="310896" cy="566928"/>
          </a:xfrm>
          <a:prstGeom prst="rect">
            <a:avLst/>
          </a:prstGeom>
          <a:solidFill>
            <a:srgbClr val="6A1B9A"/>
          </a:solidFill>
          <a:ln w="12700">
            <a:solidFill>
              <a:srgbClr val="6A1B9A"/>
            </a:solidFill>
            <a:prstDash val="solid"/>
          </a:ln>
        </p:spPr>
      </p:sp>
      <p:sp>
        <p:nvSpPr>
          <p:cNvPr id="29" name="Text 27"/>
          <p:cNvSpPr/>
          <p:nvPr/>
        </p:nvSpPr>
        <p:spPr>
          <a:xfrm>
            <a:off x="4517136" y="1161288"/>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5</a:t>
            </a:r>
            <a:endParaRPr lang="en-US" sz="1400" dirty="0"/>
          </a:p>
        </p:txBody>
      </p:sp>
      <p:sp>
        <p:nvSpPr>
          <p:cNvPr id="30" name="Text 28"/>
          <p:cNvSpPr/>
          <p:nvPr/>
        </p:nvSpPr>
        <p:spPr>
          <a:xfrm>
            <a:off x="4901184" y="1207008"/>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Install Debezium connector</a:t>
            </a:r>
            <a:endParaRPr lang="en-US" sz="1050" dirty="0"/>
          </a:p>
        </p:txBody>
      </p:sp>
      <p:sp>
        <p:nvSpPr>
          <p:cNvPr id="31" name="Text 29"/>
          <p:cNvSpPr/>
          <p:nvPr/>
        </p:nvSpPr>
        <p:spPr>
          <a:xfrm>
            <a:off x="4901184" y="1417320"/>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Download Debezium SQL Server connector JAR. Deploy to Kafka Connect. Configure JSON: SQL Server hostname, credentials, table whitelist.</a:t>
            </a:r>
            <a:endParaRPr lang="en-US" sz="850" dirty="0"/>
          </a:p>
        </p:txBody>
      </p:sp>
      <p:sp>
        <p:nvSpPr>
          <p:cNvPr id="32" name="Shape 30"/>
          <p:cNvSpPr/>
          <p:nvPr/>
        </p:nvSpPr>
        <p:spPr>
          <a:xfrm>
            <a:off x="4517136" y="1792224"/>
            <a:ext cx="4151376" cy="566928"/>
          </a:xfrm>
          <a:prstGeom prst="rect">
            <a:avLst/>
          </a:prstGeom>
          <a:solidFill>
            <a:srgbClr val="E7ECF0"/>
          </a:solidFill>
          <a:ln w="12700">
            <a:solidFill>
              <a:srgbClr val="B6BBC0"/>
            </a:solidFill>
            <a:prstDash val="solid"/>
          </a:ln>
        </p:spPr>
      </p:sp>
      <p:sp>
        <p:nvSpPr>
          <p:cNvPr id="33" name="Shape 31"/>
          <p:cNvSpPr/>
          <p:nvPr/>
        </p:nvSpPr>
        <p:spPr>
          <a:xfrm>
            <a:off x="4517136" y="1792224"/>
            <a:ext cx="310896" cy="566928"/>
          </a:xfrm>
          <a:prstGeom prst="rect">
            <a:avLst/>
          </a:prstGeom>
          <a:solidFill>
            <a:srgbClr val="6A1B9A"/>
          </a:solidFill>
          <a:ln w="12700">
            <a:solidFill>
              <a:srgbClr val="6A1B9A"/>
            </a:solidFill>
            <a:prstDash val="solid"/>
          </a:ln>
        </p:spPr>
      </p:sp>
      <p:sp>
        <p:nvSpPr>
          <p:cNvPr id="34" name="Text 32"/>
          <p:cNvSpPr/>
          <p:nvPr/>
        </p:nvSpPr>
        <p:spPr>
          <a:xfrm>
            <a:off x="4517136" y="1792224"/>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6</a:t>
            </a:r>
            <a:endParaRPr lang="en-US" sz="1400" dirty="0"/>
          </a:p>
        </p:txBody>
      </p:sp>
      <p:sp>
        <p:nvSpPr>
          <p:cNvPr id="35" name="Text 33"/>
          <p:cNvSpPr/>
          <p:nvPr/>
        </p:nvSpPr>
        <p:spPr>
          <a:xfrm>
            <a:off x="4901184" y="1837944"/>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Deploy BigQuery sink connector</a:t>
            </a:r>
            <a:endParaRPr lang="en-US" sz="1050" dirty="0"/>
          </a:p>
        </p:txBody>
      </p:sp>
      <p:sp>
        <p:nvSpPr>
          <p:cNvPr id="36" name="Text 34"/>
          <p:cNvSpPr/>
          <p:nvPr/>
        </p:nvSpPr>
        <p:spPr>
          <a:xfrm>
            <a:off x="4901184" y="2048256"/>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Use the BigQuery Kafka Connector (Google) or Confluent BigQuery Sink. Provide GCP project ID, dataset name, service account key.</a:t>
            </a:r>
            <a:endParaRPr lang="en-US" sz="850" dirty="0"/>
          </a:p>
        </p:txBody>
      </p:sp>
      <p:sp>
        <p:nvSpPr>
          <p:cNvPr id="37" name="Shape 35"/>
          <p:cNvSpPr/>
          <p:nvPr/>
        </p:nvSpPr>
        <p:spPr>
          <a:xfrm>
            <a:off x="4517136" y="2423160"/>
            <a:ext cx="4151376" cy="566928"/>
          </a:xfrm>
          <a:prstGeom prst="rect">
            <a:avLst/>
          </a:prstGeom>
          <a:solidFill>
            <a:srgbClr val="E7ECF0"/>
          </a:solidFill>
          <a:ln w="12700">
            <a:solidFill>
              <a:srgbClr val="B6BBC0"/>
            </a:solidFill>
            <a:prstDash val="solid"/>
          </a:ln>
        </p:spPr>
      </p:sp>
      <p:sp>
        <p:nvSpPr>
          <p:cNvPr id="38" name="Shape 36"/>
          <p:cNvSpPr/>
          <p:nvPr/>
        </p:nvSpPr>
        <p:spPr>
          <a:xfrm>
            <a:off x="4517136" y="2423160"/>
            <a:ext cx="310896" cy="566928"/>
          </a:xfrm>
          <a:prstGeom prst="rect">
            <a:avLst/>
          </a:prstGeom>
          <a:solidFill>
            <a:srgbClr val="6A1B9A"/>
          </a:solidFill>
          <a:ln w="12700">
            <a:solidFill>
              <a:srgbClr val="6A1B9A"/>
            </a:solidFill>
            <a:prstDash val="solid"/>
          </a:ln>
        </p:spPr>
      </p:sp>
      <p:sp>
        <p:nvSpPr>
          <p:cNvPr id="39" name="Text 37"/>
          <p:cNvSpPr/>
          <p:nvPr/>
        </p:nvSpPr>
        <p:spPr>
          <a:xfrm>
            <a:off x="4517136" y="2423160"/>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7</a:t>
            </a:r>
            <a:endParaRPr lang="en-US" sz="1400" dirty="0"/>
          </a:p>
        </p:txBody>
      </p:sp>
      <p:sp>
        <p:nvSpPr>
          <p:cNvPr id="40" name="Text 38"/>
          <p:cNvSpPr/>
          <p:nvPr/>
        </p:nvSpPr>
        <p:spPr>
          <a:xfrm>
            <a:off x="4901184" y="2468880"/>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Validate and monitor</a:t>
            </a:r>
            <a:endParaRPr lang="en-US" sz="1050" dirty="0"/>
          </a:p>
        </p:txBody>
      </p:sp>
      <p:sp>
        <p:nvSpPr>
          <p:cNvPr id="41" name="Text 39"/>
          <p:cNvSpPr/>
          <p:nvPr/>
        </p:nvSpPr>
        <p:spPr>
          <a:xfrm>
            <a:off x="4901184" y="2679192"/>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Verify row counts source vs. target. Set up alerting on CDC lag and Agent job failures. Establish baseline for change volume.</a:t>
            </a:r>
            <a:endParaRPr lang="en-US" sz="850" dirty="0"/>
          </a:p>
        </p:txBody>
      </p:sp>
      <p:sp>
        <p:nvSpPr>
          <p:cNvPr id="42" name="Shape 40"/>
          <p:cNvSpPr/>
          <p:nvPr/>
        </p:nvSpPr>
        <p:spPr>
          <a:xfrm>
            <a:off x="4517136" y="3054096"/>
            <a:ext cx="4151376" cy="566928"/>
          </a:xfrm>
          <a:prstGeom prst="rect">
            <a:avLst/>
          </a:prstGeom>
          <a:solidFill>
            <a:srgbClr val="E7ECF0"/>
          </a:solidFill>
          <a:ln w="12700">
            <a:solidFill>
              <a:srgbClr val="B6BBC0"/>
            </a:solidFill>
            <a:prstDash val="solid"/>
          </a:ln>
        </p:spPr>
      </p:sp>
      <p:sp>
        <p:nvSpPr>
          <p:cNvPr id="43" name="Shape 41"/>
          <p:cNvSpPr/>
          <p:nvPr/>
        </p:nvSpPr>
        <p:spPr>
          <a:xfrm>
            <a:off x="4517136" y="3054096"/>
            <a:ext cx="310896" cy="566928"/>
          </a:xfrm>
          <a:prstGeom prst="rect">
            <a:avLst/>
          </a:prstGeom>
          <a:solidFill>
            <a:srgbClr val="E65100"/>
          </a:solidFill>
          <a:ln w="12700">
            <a:solidFill>
              <a:srgbClr val="E65100"/>
            </a:solidFill>
            <a:prstDash val="solid"/>
          </a:ln>
        </p:spPr>
      </p:sp>
      <p:sp>
        <p:nvSpPr>
          <p:cNvPr id="44" name="Text 42"/>
          <p:cNvSpPr/>
          <p:nvPr/>
        </p:nvSpPr>
        <p:spPr>
          <a:xfrm>
            <a:off x="4517136" y="3054096"/>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8</a:t>
            </a:r>
            <a:endParaRPr lang="en-US" sz="1400" dirty="0"/>
          </a:p>
        </p:txBody>
      </p:sp>
      <p:sp>
        <p:nvSpPr>
          <p:cNvPr id="45" name="Text 43"/>
          <p:cNvSpPr/>
          <p:nvPr/>
        </p:nvSpPr>
        <p:spPr>
          <a:xfrm>
            <a:off x="4901184" y="3099816"/>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Build schema change runbook</a:t>
            </a:r>
            <a:endParaRPr lang="en-US" sz="1050" dirty="0"/>
          </a:p>
        </p:txBody>
      </p:sp>
      <p:sp>
        <p:nvSpPr>
          <p:cNvPr id="46" name="Text 44"/>
          <p:cNvSpPr/>
          <p:nvPr/>
        </p:nvSpPr>
        <p:spPr>
          <a:xfrm>
            <a:off x="4901184" y="3310128"/>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When a source table changes: ALTER TABLE → reconfigure CDC → update Debezium config → rolling restart. Document the procedure.</a:t>
            </a:r>
            <a:endParaRPr lang="en-US" sz="850" dirty="0"/>
          </a:p>
        </p:txBody>
      </p:sp>
      <p:sp>
        <p:nvSpPr>
          <p:cNvPr id="47" name="Shape 45"/>
          <p:cNvSpPr/>
          <p:nvPr/>
        </p:nvSpPr>
        <p:spPr>
          <a:xfrm>
            <a:off x="256032" y="4572000"/>
            <a:ext cx="2804160" cy="402336"/>
          </a:xfrm>
          <a:prstGeom prst="rect">
            <a:avLst/>
          </a:prstGeom>
          <a:solidFill>
            <a:srgbClr val="FFF3E0"/>
          </a:solidFill>
          <a:ln w="12700">
            <a:solidFill>
              <a:srgbClr val="E65100"/>
            </a:solidFill>
            <a:prstDash val="solid"/>
          </a:ln>
        </p:spPr>
      </p:sp>
      <p:sp>
        <p:nvSpPr>
          <p:cNvPr id="48" name="Text 46"/>
          <p:cNvSpPr/>
          <p:nvPr/>
        </p:nvSpPr>
        <p:spPr>
          <a:xfrm>
            <a:off x="310896" y="4572000"/>
            <a:ext cx="2694432" cy="402336"/>
          </a:xfrm>
          <a:prstGeom prst="rect">
            <a:avLst/>
          </a:prstGeom>
          <a:noFill/>
          <a:ln/>
        </p:spPr>
        <p:txBody>
          <a:bodyPr wrap="square" lIns="38100" tIns="38100" rIns="38100" bIns="38100" rtlCol="0" anchor="ctr"/>
          <a:lstStyle/>
          <a:p>
            <a:pPr indent="0" marL="0">
              <a:buNone/>
            </a:pPr>
            <a:r>
              <a:rPr lang="en-US" sz="950" b="1" dirty="0">
                <a:solidFill>
                  <a:srgbClr val="E65100"/>
                </a:solidFill>
                <a:latin typeface="Aptos" pitchFamily="34" charset="0"/>
                <a:ea typeface="Aptos" pitchFamily="34" charset="-122"/>
                <a:cs typeface="Aptos" pitchFamily="34" charset="-120"/>
              </a:rPr>
              <a:t>⚠  SQL Server Agent must run 24/7 — stall or failure silently stops CDC capture</a:t>
            </a:r>
            <a:endParaRPr lang="en-US" sz="950" dirty="0"/>
          </a:p>
        </p:txBody>
      </p:sp>
      <p:sp>
        <p:nvSpPr>
          <p:cNvPr id="49" name="Shape 47"/>
          <p:cNvSpPr/>
          <p:nvPr/>
        </p:nvSpPr>
        <p:spPr>
          <a:xfrm>
            <a:off x="3169920" y="4572000"/>
            <a:ext cx="2804160" cy="402336"/>
          </a:xfrm>
          <a:prstGeom prst="rect">
            <a:avLst/>
          </a:prstGeom>
          <a:solidFill>
            <a:srgbClr val="FFF3E0"/>
          </a:solidFill>
          <a:ln w="12700">
            <a:solidFill>
              <a:srgbClr val="E65100"/>
            </a:solidFill>
            <a:prstDash val="solid"/>
          </a:ln>
        </p:spPr>
      </p:sp>
      <p:sp>
        <p:nvSpPr>
          <p:cNvPr id="50" name="Text 48"/>
          <p:cNvSpPr/>
          <p:nvPr/>
        </p:nvSpPr>
        <p:spPr>
          <a:xfrm>
            <a:off x="3224784" y="4572000"/>
            <a:ext cx="2694432" cy="402336"/>
          </a:xfrm>
          <a:prstGeom prst="rect">
            <a:avLst/>
          </a:prstGeom>
          <a:noFill/>
          <a:ln/>
        </p:spPr>
        <p:txBody>
          <a:bodyPr wrap="square" lIns="38100" tIns="38100" rIns="38100" bIns="38100" rtlCol="0" anchor="ctr"/>
          <a:lstStyle/>
          <a:p>
            <a:pPr indent="0" marL="0">
              <a:buNone/>
            </a:pPr>
            <a:r>
              <a:rPr lang="en-US" sz="950" b="1" dirty="0">
                <a:solidFill>
                  <a:srgbClr val="E65100"/>
                </a:solidFill>
                <a:latin typeface="Aptos" pitchFamily="34" charset="0"/>
                <a:ea typeface="Aptos" pitchFamily="34" charset="-122"/>
                <a:cs typeface="Aptos" pitchFamily="34" charset="-120"/>
              </a:rPr>
              <a:t>⚠  Schema changes need manual runbook + Debezium restart</a:t>
            </a:r>
            <a:endParaRPr lang="en-US" sz="950" dirty="0"/>
          </a:p>
        </p:txBody>
      </p:sp>
      <p:sp>
        <p:nvSpPr>
          <p:cNvPr id="51" name="Shape 49"/>
          <p:cNvSpPr/>
          <p:nvPr/>
        </p:nvSpPr>
        <p:spPr>
          <a:xfrm>
            <a:off x="6083808" y="4572000"/>
            <a:ext cx="2804160" cy="402336"/>
          </a:xfrm>
          <a:prstGeom prst="rect">
            <a:avLst/>
          </a:prstGeom>
          <a:solidFill>
            <a:srgbClr val="FFF3E0"/>
          </a:solidFill>
          <a:ln w="12700">
            <a:solidFill>
              <a:srgbClr val="E65100"/>
            </a:solidFill>
            <a:prstDash val="solid"/>
          </a:ln>
        </p:spPr>
      </p:sp>
      <p:sp>
        <p:nvSpPr>
          <p:cNvPr id="52" name="Text 50"/>
          <p:cNvSpPr/>
          <p:nvPr/>
        </p:nvSpPr>
        <p:spPr>
          <a:xfrm>
            <a:off x="6138672" y="4572000"/>
            <a:ext cx="2694432" cy="402336"/>
          </a:xfrm>
          <a:prstGeom prst="rect">
            <a:avLst/>
          </a:prstGeom>
          <a:noFill/>
          <a:ln/>
        </p:spPr>
        <p:txBody>
          <a:bodyPr wrap="square" lIns="38100" tIns="38100" rIns="38100" bIns="38100" rtlCol="0" anchor="ctr"/>
          <a:lstStyle/>
          <a:p>
            <a:pPr indent="0" marL="0">
              <a:buNone/>
            </a:pPr>
            <a:r>
              <a:rPr lang="en-US" sz="950" b="1" dirty="0">
                <a:solidFill>
                  <a:srgbClr val="E65100"/>
                </a:solidFill>
                <a:latin typeface="Aptos" pitchFamily="34" charset="0"/>
                <a:ea typeface="Aptos" pitchFamily="34" charset="-122"/>
                <a:cs typeface="Aptos" pitchFamily="34" charset="-120"/>
              </a:rPr>
              <a:t>⚠  AG failover may require CDC re-enablement on the new primary</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Recipe: SQL Server → GCP via Enterprise Log-Based CDC</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Shape 3"/>
          <p:cNvSpPr/>
          <p:nvPr/>
        </p:nvSpPr>
        <p:spPr>
          <a:xfrm>
            <a:off x="256032" y="850392"/>
            <a:ext cx="8631936" cy="237744"/>
          </a:xfrm>
          <a:prstGeom prst="rect">
            <a:avLst/>
          </a:prstGeom>
          <a:solidFill>
            <a:srgbClr val="EFF7F3"/>
          </a:solidFill>
          <a:ln w="12700">
            <a:solidFill>
              <a:srgbClr val="2E7D32"/>
            </a:solidFill>
            <a:prstDash val="solid"/>
          </a:ln>
        </p:spPr>
      </p:sp>
      <p:sp>
        <p:nvSpPr>
          <p:cNvPr id="6" name="Text 4"/>
          <p:cNvSpPr/>
          <p:nvPr/>
        </p:nvSpPr>
        <p:spPr>
          <a:xfrm>
            <a:off x="320040" y="850392"/>
            <a:ext cx="8503920" cy="237744"/>
          </a:xfrm>
          <a:prstGeom prst="rect">
            <a:avLst/>
          </a:prstGeom>
          <a:noFill/>
          <a:ln/>
        </p:spPr>
        <p:txBody>
          <a:bodyPr wrap="square" lIns="25400" tIns="25400" rIns="25400" bIns="25400" rtlCol="0" anchor="ctr"/>
          <a:lstStyle/>
          <a:p>
            <a:pPr indent="0" marL="0">
              <a:buNone/>
            </a:pPr>
            <a:r>
              <a:rPr lang="en-US" sz="1000" b="1" dirty="0">
                <a:solidFill>
                  <a:srgbClr val="2E7D32"/>
                </a:solidFill>
                <a:latin typeface="Aptos" pitchFamily="34" charset="0"/>
                <a:ea typeface="Aptos" pitchFamily="34" charset="-122"/>
                <a:cs typeface="Aptos" pitchFamily="34" charset="-120"/>
              </a:rPr>
              <a:t>Phase 2 path  •  IBM IIDR or Striim  •  Direct log reading  •  No SQL Server Agent dependency  •  Automated schema evolution</a:t>
            </a:r>
            <a:endParaRPr lang="en-US" sz="1000" dirty="0"/>
          </a:p>
        </p:txBody>
      </p:sp>
      <p:sp>
        <p:nvSpPr>
          <p:cNvPr id="7" name="Shape 5"/>
          <p:cNvSpPr/>
          <p:nvPr/>
        </p:nvSpPr>
        <p:spPr>
          <a:xfrm>
            <a:off x="256032" y="1161288"/>
            <a:ext cx="4151376" cy="566928"/>
          </a:xfrm>
          <a:prstGeom prst="rect">
            <a:avLst/>
          </a:prstGeom>
          <a:solidFill>
            <a:srgbClr val="E7ECF0"/>
          </a:solidFill>
          <a:ln w="12700">
            <a:solidFill>
              <a:srgbClr val="B6BBC0"/>
            </a:solidFill>
            <a:prstDash val="solid"/>
          </a:ln>
        </p:spPr>
      </p:sp>
      <p:sp>
        <p:nvSpPr>
          <p:cNvPr id="8" name="Shape 6"/>
          <p:cNvSpPr/>
          <p:nvPr/>
        </p:nvSpPr>
        <p:spPr>
          <a:xfrm>
            <a:off x="256032" y="1161288"/>
            <a:ext cx="310896" cy="566928"/>
          </a:xfrm>
          <a:prstGeom prst="rect">
            <a:avLst/>
          </a:prstGeom>
          <a:solidFill>
            <a:srgbClr val="2E7D32"/>
          </a:solidFill>
          <a:ln w="12700">
            <a:solidFill>
              <a:srgbClr val="2E7D32"/>
            </a:solidFill>
            <a:prstDash val="solid"/>
          </a:ln>
        </p:spPr>
      </p:sp>
      <p:sp>
        <p:nvSpPr>
          <p:cNvPr id="9" name="Text 7"/>
          <p:cNvSpPr/>
          <p:nvPr/>
        </p:nvSpPr>
        <p:spPr>
          <a:xfrm>
            <a:off x="256032" y="1161288"/>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a:t>
            </a:r>
            <a:endParaRPr lang="en-US" sz="1400" dirty="0"/>
          </a:p>
        </p:txBody>
      </p:sp>
      <p:sp>
        <p:nvSpPr>
          <p:cNvPr id="10" name="Text 8"/>
          <p:cNvSpPr/>
          <p:nvPr/>
        </p:nvSpPr>
        <p:spPr>
          <a:xfrm>
            <a:off x="640080" y="1207008"/>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Grant SQL Server permissions</a:t>
            </a:r>
            <a:endParaRPr lang="en-US" sz="1050" dirty="0"/>
          </a:p>
        </p:txBody>
      </p:sp>
      <p:sp>
        <p:nvSpPr>
          <p:cNvPr id="11" name="Text 9"/>
          <p:cNvSpPr/>
          <p:nvPr/>
        </p:nvSpPr>
        <p:spPr>
          <a:xfrm>
            <a:off x="640080" y="1417320"/>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GRANT VIEW SERVER STATE and VIEW DATABASE STATE to the CDC service account. No CDC tables, no SQL Agent changes. Takes ~5 minutes.</a:t>
            </a:r>
            <a:endParaRPr lang="en-US" sz="850" dirty="0"/>
          </a:p>
        </p:txBody>
      </p:sp>
      <p:sp>
        <p:nvSpPr>
          <p:cNvPr id="12" name="Shape 10"/>
          <p:cNvSpPr/>
          <p:nvPr/>
        </p:nvSpPr>
        <p:spPr>
          <a:xfrm>
            <a:off x="256032" y="1792224"/>
            <a:ext cx="4151376" cy="566928"/>
          </a:xfrm>
          <a:prstGeom prst="rect">
            <a:avLst/>
          </a:prstGeom>
          <a:solidFill>
            <a:srgbClr val="E7ECF0"/>
          </a:solidFill>
          <a:ln w="12700">
            <a:solidFill>
              <a:srgbClr val="B6BBC0"/>
            </a:solidFill>
            <a:prstDash val="solid"/>
          </a:ln>
        </p:spPr>
      </p:sp>
      <p:sp>
        <p:nvSpPr>
          <p:cNvPr id="13" name="Shape 11"/>
          <p:cNvSpPr/>
          <p:nvPr/>
        </p:nvSpPr>
        <p:spPr>
          <a:xfrm>
            <a:off x="256032" y="1792224"/>
            <a:ext cx="310896" cy="566928"/>
          </a:xfrm>
          <a:prstGeom prst="rect">
            <a:avLst/>
          </a:prstGeom>
          <a:solidFill>
            <a:srgbClr val="2E7D32"/>
          </a:solidFill>
          <a:ln w="12700">
            <a:solidFill>
              <a:srgbClr val="2E7D32"/>
            </a:solidFill>
            <a:prstDash val="solid"/>
          </a:ln>
        </p:spPr>
      </p:sp>
      <p:sp>
        <p:nvSpPr>
          <p:cNvPr id="14" name="Text 12"/>
          <p:cNvSpPr/>
          <p:nvPr/>
        </p:nvSpPr>
        <p:spPr>
          <a:xfrm>
            <a:off x="256032" y="1792224"/>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2</a:t>
            </a:r>
            <a:endParaRPr lang="en-US" sz="1400" dirty="0"/>
          </a:p>
        </p:txBody>
      </p:sp>
      <p:sp>
        <p:nvSpPr>
          <p:cNvPr id="15" name="Text 13"/>
          <p:cNvSpPr/>
          <p:nvPr/>
        </p:nvSpPr>
        <p:spPr>
          <a:xfrm>
            <a:off x="640080" y="1837944"/>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Deploy CDC engine</a:t>
            </a:r>
            <a:endParaRPr lang="en-US" sz="1050" dirty="0"/>
          </a:p>
        </p:txBody>
      </p:sp>
      <p:sp>
        <p:nvSpPr>
          <p:cNvPr id="16" name="Text 14"/>
          <p:cNvSpPr/>
          <p:nvPr/>
        </p:nvSpPr>
        <p:spPr>
          <a:xfrm>
            <a:off x="640080" y="2048256"/>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Striim Cloud: sign up at striim.io — no VM to manage. OR: provision GCP e2-standard-4 (Linux, 16 GB RAM), install IIDR or Striim package.</a:t>
            </a:r>
            <a:endParaRPr lang="en-US" sz="850" dirty="0"/>
          </a:p>
        </p:txBody>
      </p:sp>
      <p:sp>
        <p:nvSpPr>
          <p:cNvPr id="17" name="Shape 15"/>
          <p:cNvSpPr/>
          <p:nvPr/>
        </p:nvSpPr>
        <p:spPr>
          <a:xfrm>
            <a:off x="256032" y="2423160"/>
            <a:ext cx="4151376" cy="566928"/>
          </a:xfrm>
          <a:prstGeom prst="rect">
            <a:avLst/>
          </a:prstGeom>
          <a:solidFill>
            <a:srgbClr val="E7ECF0"/>
          </a:solidFill>
          <a:ln w="12700">
            <a:solidFill>
              <a:srgbClr val="B6BBC0"/>
            </a:solidFill>
            <a:prstDash val="solid"/>
          </a:ln>
        </p:spPr>
      </p:sp>
      <p:sp>
        <p:nvSpPr>
          <p:cNvPr id="18" name="Shape 16"/>
          <p:cNvSpPr/>
          <p:nvPr/>
        </p:nvSpPr>
        <p:spPr>
          <a:xfrm>
            <a:off x="256032" y="2423160"/>
            <a:ext cx="310896" cy="566928"/>
          </a:xfrm>
          <a:prstGeom prst="rect">
            <a:avLst/>
          </a:prstGeom>
          <a:solidFill>
            <a:srgbClr val="085CE5"/>
          </a:solidFill>
          <a:ln w="12700">
            <a:solidFill>
              <a:srgbClr val="085CE5"/>
            </a:solidFill>
            <a:prstDash val="solid"/>
          </a:ln>
        </p:spPr>
      </p:sp>
      <p:sp>
        <p:nvSpPr>
          <p:cNvPr id="19" name="Text 17"/>
          <p:cNvSpPr/>
          <p:nvPr/>
        </p:nvSpPr>
        <p:spPr>
          <a:xfrm>
            <a:off x="256032" y="2423160"/>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3</a:t>
            </a:r>
            <a:endParaRPr lang="en-US" sz="1400" dirty="0"/>
          </a:p>
        </p:txBody>
      </p:sp>
      <p:sp>
        <p:nvSpPr>
          <p:cNvPr id="20" name="Text 18"/>
          <p:cNvSpPr/>
          <p:nvPr/>
        </p:nvSpPr>
        <p:spPr>
          <a:xfrm>
            <a:off x="640080" y="2468880"/>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Set up network connectivity</a:t>
            </a:r>
            <a:endParaRPr lang="en-US" sz="1050" dirty="0"/>
          </a:p>
        </p:txBody>
      </p:sp>
      <p:sp>
        <p:nvSpPr>
          <p:cNvPr id="21" name="Text 19"/>
          <p:cNvSpPr/>
          <p:nvPr/>
        </p:nvSpPr>
        <p:spPr>
          <a:xfrm>
            <a:off x="640080" y="2679192"/>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GCP deployment: configure VPN tunnel or Cloud Interconnect from GCP VPC to on-prem network. Port 1433 must be reachable from CDC engine.</a:t>
            </a:r>
            <a:endParaRPr lang="en-US" sz="850" dirty="0"/>
          </a:p>
        </p:txBody>
      </p:sp>
      <p:sp>
        <p:nvSpPr>
          <p:cNvPr id="22" name="Shape 20"/>
          <p:cNvSpPr/>
          <p:nvPr/>
        </p:nvSpPr>
        <p:spPr>
          <a:xfrm>
            <a:off x="256032" y="3054096"/>
            <a:ext cx="4151376" cy="566928"/>
          </a:xfrm>
          <a:prstGeom prst="rect">
            <a:avLst/>
          </a:prstGeom>
          <a:solidFill>
            <a:srgbClr val="E7ECF0"/>
          </a:solidFill>
          <a:ln w="12700">
            <a:solidFill>
              <a:srgbClr val="B6BBC0"/>
            </a:solidFill>
            <a:prstDash val="solid"/>
          </a:ln>
        </p:spPr>
      </p:sp>
      <p:sp>
        <p:nvSpPr>
          <p:cNvPr id="23" name="Shape 21"/>
          <p:cNvSpPr/>
          <p:nvPr/>
        </p:nvSpPr>
        <p:spPr>
          <a:xfrm>
            <a:off x="256032" y="3054096"/>
            <a:ext cx="310896" cy="566928"/>
          </a:xfrm>
          <a:prstGeom prst="rect">
            <a:avLst/>
          </a:prstGeom>
          <a:solidFill>
            <a:srgbClr val="2E7D32"/>
          </a:solidFill>
          <a:ln w="12700">
            <a:solidFill>
              <a:srgbClr val="2E7D32"/>
            </a:solidFill>
            <a:prstDash val="solid"/>
          </a:ln>
        </p:spPr>
      </p:sp>
      <p:sp>
        <p:nvSpPr>
          <p:cNvPr id="24" name="Text 22"/>
          <p:cNvSpPr/>
          <p:nvPr/>
        </p:nvSpPr>
        <p:spPr>
          <a:xfrm>
            <a:off x="256032" y="3054096"/>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4</a:t>
            </a:r>
            <a:endParaRPr lang="en-US" sz="1400" dirty="0"/>
          </a:p>
        </p:txBody>
      </p:sp>
      <p:sp>
        <p:nvSpPr>
          <p:cNvPr id="25" name="Text 23"/>
          <p:cNvSpPr/>
          <p:nvPr/>
        </p:nvSpPr>
        <p:spPr>
          <a:xfrm>
            <a:off x="640080" y="3099816"/>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Configure SQL Server source</a:t>
            </a:r>
            <a:endParaRPr lang="en-US" sz="1050" dirty="0"/>
          </a:p>
        </p:txBody>
      </p:sp>
      <p:sp>
        <p:nvSpPr>
          <p:cNvPr id="26" name="Text 24"/>
          <p:cNvSpPr/>
          <p:nvPr/>
        </p:nvSpPr>
        <p:spPr>
          <a:xfrm>
            <a:off x="640080" y="3310128"/>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In tool's UI/console: enter SQL Server hostname, port 1433, credentials. Tool auto-discovers schemas and tables. Select tables to replicate.</a:t>
            </a:r>
            <a:endParaRPr lang="en-US" sz="850" dirty="0"/>
          </a:p>
        </p:txBody>
      </p:sp>
      <p:sp>
        <p:nvSpPr>
          <p:cNvPr id="27" name="Shape 25"/>
          <p:cNvSpPr/>
          <p:nvPr/>
        </p:nvSpPr>
        <p:spPr>
          <a:xfrm>
            <a:off x="4517136" y="1161288"/>
            <a:ext cx="4151376" cy="566928"/>
          </a:xfrm>
          <a:prstGeom prst="rect">
            <a:avLst/>
          </a:prstGeom>
          <a:solidFill>
            <a:srgbClr val="E7ECF0"/>
          </a:solidFill>
          <a:ln w="12700">
            <a:solidFill>
              <a:srgbClr val="B6BBC0"/>
            </a:solidFill>
            <a:prstDash val="solid"/>
          </a:ln>
        </p:spPr>
      </p:sp>
      <p:sp>
        <p:nvSpPr>
          <p:cNvPr id="28" name="Shape 26"/>
          <p:cNvSpPr/>
          <p:nvPr/>
        </p:nvSpPr>
        <p:spPr>
          <a:xfrm>
            <a:off x="4517136" y="1161288"/>
            <a:ext cx="310896" cy="566928"/>
          </a:xfrm>
          <a:prstGeom prst="rect">
            <a:avLst/>
          </a:prstGeom>
          <a:solidFill>
            <a:srgbClr val="2E7D32"/>
          </a:solidFill>
          <a:ln w="12700">
            <a:solidFill>
              <a:srgbClr val="2E7D32"/>
            </a:solidFill>
            <a:prstDash val="solid"/>
          </a:ln>
        </p:spPr>
      </p:sp>
      <p:sp>
        <p:nvSpPr>
          <p:cNvPr id="29" name="Text 27"/>
          <p:cNvSpPr/>
          <p:nvPr/>
        </p:nvSpPr>
        <p:spPr>
          <a:xfrm>
            <a:off x="4517136" y="1161288"/>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5</a:t>
            </a:r>
            <a:endParaRPr lang="en-US" sz="1400" dirty="0"/>
          </a:p>
        </p:txBody>
      </p:sp>
      <p:sp>
        <p:nvSpPr>
          <p:cNvPr id="30" name="Text 28"/>
          <p:cNvSpPr/>
          <p:nvPr/>
        </p:nvSpPr>
        <p:spPr>
          <a:xfrm>
            <a:off x="4901184" y="1207008"/>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Configure BigQuery target</a:t>
            </a:r>
            <a:endParaRPr lang="en-US" sz="1050" dirty="0"/>
          </a:p>
        </p:txBody>
      </p:sp>
      <p:sp>
        <p:nvSpPr>
          <p:cNvPr id="31" name="Text 29"/>
          <p:cNvSpPr/>
          <p:nvPr/>
        </p:nvSpPr>
        <p:spPr>
          <a:xfrm>
            <a:off x="4901184" y="1417320"/>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Enter GCP project ID, BigQuery dataset, GCP service account key. Striim has native BigQuery Writer; IIDR uses JDBC or GCS landing zone.</a:t>
            </a:r>
            <a:endParaRPr lang="en-US" sz="850" dirty="0"/>
          </a:p>
        </p:txBody>
      </p:sp>
      <p:sp>
        <p:nvSpPr>
          <p:cNvPr id="32" name="Shape 30"/>
          <p:cNvSpPr/>
          <p:nvPr/>
        </p:nvSpPr>
        <p:spPr>
          <a:xfrm>
            <a:off x="4517136" y="1792224"/>
            <a:ext cx="4151376" cy="566928"/>
          </a:xfrm>
          <a:prstGeom prst="rect">
            <a:avLst/>
          </a:prstGeom>
          <a:solidFill>
            <a:srgbClr val="E7ECF0"/>
          </a:solidFill>
          <a:ln w="12700">
            <a:solidFill>
              <a:srgbClr val="B6BBC0"/>
            </a:solidFill>
            <a:prstDash val="solid"/>
          </a:ln>
        </p:spPr>
      </p:sp>
      <p:sp>
        <p:nvSpPr>
          <p:cNvPr id="33" name="Shape 31"/>
          <p:cNvSpPr/>
          <p:nvPr/>
        </p:nvSpPr>
        <p:spPr>
          <a:xfrm>
            <a:off x="4517136" y="1792224"/>
            <a:ext cx="310896" cy="566928"/>
          </a:xfrm>
          <a:prstGeom prst="rect">
            <a:avLst/>
          </a:prstGeom>
          <a:solidFill>
            <a:srgbClr val="2E7D32"/>
          </a:solidFill>
          <a:ln w="12700">
            <a:solidFill>
              <a:srgbClr val="2E7D32"/>
            </a:solidFill>
            <a:prstDash val="solid"/>
          </a:ln>
        </p:spPr>
      </p:sp>
      <p:sp>
        <p:nvSpPr>
          <p:cNvPr id="34" name="Text 32"/>
          <p:cNvSpPr/>
          <p:nvPr/>
        </p:nvSpPr>
        <p:spPr>
          <a:xfrm>
            <a:off x="4517136" y="1792224"/>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6</a:t>
            </a:r>
            <a:endParaRPr lang="en-US" sz="1400" dirty="0"/>
          </a:p>
        </p:txBody>
      </p:sp>
      <p:sp>
        <p:nvSpPr>
          <p:cNvPr id="35" name="Text 33"/>
          <p:cNvSpPr/>
          <p:nvPr/>
        </p:nvSpPr>
        <p:spPr>
          <a:xfrm>
            <a:off x="4901184" y="1837944"/>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Start replication</a:t>
            </a:r>
            <a:endParaRPr lang="en-US" sz="1050" dirty="0"/>
          </a:p>
        </p:txBody>
      </p:sp>
      <p:sp>
        <p:nvSpPr>
          <p:cNvPr id="36" name="Text 34"/>
          <p:cNvSpPr/>
          <p:nvPr/>
        </p:nvSpPr>
        <p:spPr>
          <a:xfrm>
            <a:off x="4901184" y="2048256"/>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Click Start. Tool runs initial full snapshot (reads existing rows once), then automatically switches to continuous incremental CDC from the log.</a:t>
            </a:r>
            <a:endParaRPr lang="en-US" sz="850" dirty="0"/>
          </a:p>
        </p:txBody>
      </p:sp>
      <p:sp>
        <p:nvSpPr>
          <p:cNvPr id="37" name="Shape 35"/>
          <p:cNvSpPr/>
          <p:nvPr/>
        </p:nvSpPr>
        <p:spPr>
          <a:xfrm>
            <a:off x="4517136" y="2423160"/>
            <a:ext cx="4151376" cy="566928"/>
          </a:xfrm>
          <a:prstGeom prst="rect">
            <a:avLst/>
          </a:prstGeom>
          <a:solidFill>
            <a:srgbClr val="E7ECF0"/>
          </a:solidFill>
          <a:ln w="12700">
            <a:solidFill>
              <a:srgbClr val="B6BBC0"/>
            </a:solidFill>
            <a:prstDash val="solid"/>
          </a:ln>
        </p:spPr>
      </p:sp>
      <p:sp>
        <p:nvSpPr>
          <p:cNvPr id="38" name="Shape 36"/>
          <p:cNvSpPr/>
          <p:nvPr/>
        </p:nvSpPr>
        <p:spPr>
          <a:xfrm>
            <a:off x="4517136" y="2423160"/>
            <a:ext cx="310896" cy="566928"/>
          </a:xfrm>
          <a:prstGeom prst="rect">
            <a:avLst/>
          </a:prstGeom>
          <a:solidFill>
            <a:srgbClr val="2E7D32"/>
          </a:solidFill>
          <a:ln w="12700">
            <a:solidFill>
              <a:srgbClr val="2E7D32"/>
            </a:solidFill>
            <a:prstDash val="solid"/>
          </a:ln>
        </p:spPr>
      </p:sp>
      <p:sp>
        <p:nvSpPr>
          <p:cNvPr id="39" name="Text 37"/>
          <p:cNvSpPr/>
          <p:nvPr/>
        </p:nvSpPr>
        <p:spPr>
          <a:xfrm>
            <a:off x="4517136" y="2423160"/>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7</a:t>
            </a:r>
            <a:endParaRPr lang="en-US" sz="1400" dirty="0"/>
          </a:p>
        </p:txBody>
      </p:sp>
      <p:sp>
        <p:nvSpPr>
          <p:cNvPr id="40" name="Text 38"/>
          <p:cNvSpPr/>
          <p:nvPr/>
        </p:nvSpPr>
        <p:spPr>
          <a:xfrm>
            <a:off x="4901184" y="2468880"/>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Validate accuracy</a:t>
            </a:r>
            <a:endParaRPr lang="en-US" sz="1050" dirty="0"/>
          </a:p>
        </p:txBody>
      </p:sp>
      <p:sp>
        <p:nvSpPr>
          <p:cNvPr id="41" name="Text 39"/>
          <p:cNvSpPr/>
          <p:nvPr/>
        </p:nvSpPr>
        <p:spPr>
          <a:xfrm>
            <a:off x="4901184" y="2679192"/>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Verify row counts and sample data source vs. BigQuery. Check replication lag metrics in tool's monitoring dashboard.</a:t>
            </a:r>
            <a:endParaRPr lang="en-US" sz="850" dirty="0"/>
          </a:p>
        </p:txBody>
      </p:sp>
      <p:sp>
        <p:nvSpPr>
          <p:cNvPr id="42" name="Shape 40"/>
          <p:cNvSpPr/>
          <p:nvPr/>
        </p:nvSpPr>
        <p:spPr>
          <a:xfrm>
            <a:off x="4517136" y="3054096"/>
            <a:ext cx="4151376" cy="566928"/>
          </a:xfrm>
          <a:prstGeom prst="rect">
            <a:avLst/>
          </a:prstGeom>
          <a:solidFill>
            <a:srgbClr val="E7ECF0"/>
          </a:solidFill>
          <a:ln w="12700">
            <a:solidFill>
              <a:srgbClr val="B6BBC0"/>
            </a:solidFill>
            <a:prstDash val="solid"/>
          </a:ln>
        </p:spPr>
      </p:sp>
      <p:sp>
        <p:nvSpPr>
          <p:cNvPr id="43" name="Shape 41"/>
          <p:cNvSpPr/>
          <p:nvPr/>
        </p:nvSpPr>
        <p:spPr>
          <a:xfrm>
            <a:off x="4517136" y="3054096"/>
            <a:ext cx="310896" cy="566928"/>
          </a:xfrm>
          <a:prstGeom prst="rect">
            <a:avLst/>
          </a:prstGeom>
          <a:solidFill>
            <a:srgbClr val="2E7D32"/>
          </a:solidFill>
          <a:ln w="12700">
            <a:solidFill>
              <a:srgbClr val="2E7D32"/>
            </a:solidFill>
            <a:prstDash val="solid"/>
          </a:ln>
        </p:spPr>
      </p:sp>
      <p:sp>
        <p:nvSpPr>
          <p:cNvPr id="44" name="Text 42"/>
          <p:cNvSpPr/>
          <p:nvPr/>
        </p:nvSpPr>
        <p:spPr>
          <a:xfrm>
            <a:off x="4517136" y="3054096"/>
            <a:ext cx="3108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8</a:t>
            </a:r>
            <a:endParaRPr lang="en-US" sz="1400" dirty="0"/>
          </a:p>
        </p:txBody>
      </p:sp>
      <p:sp>
        <p:nvSpPr>
          <p:cNvPr id="45" name="Text 43"/>
          <p:cNvSpPr/>
          <p:nvPr/>
        </p:nvSpPr>
        <p:spPr>
          <a:xfrm>
            <a:off x="4901184" y="3099816"/>
            <a:ext cx="3694176" cy="201168"/>
          </a:xfrm>
          <a:prstGeom prst="rect">
            <a:avLst/>
          </a:prstGeom>
          <a:noFill/>
          <a:ln/>
        </p:spPr>
        <p:txBody>
          <a:bodyPr wrap="square" lIns="0" tIns="0" rIns="0" bIns="0" rtlCol="0" anchor="ctr"/>
          <a:lstStyle/>
          <a:p>
            <a:pPr indent="0" marL="0">
              <a:buNone/>
            </a:pPr>
            <a:r>
              <a:rPr lang="en-US" sz="1050" b="1" dirty="0">
                <a:solidFill>
                  <a:srgbClr val="06185F"/>
                </a:solidFill>
                <a:latin typeface="Aptos Display" pitchFamily="34" charset="0"/>
                <a:ea typeface="Aptos Display" pitchFamily="34" charset="-122"/>
                <a:cs typeface="Aptos Display" pitchFamily="34" charset="-120"/>
              </a:rPr>
              <a:t>Ongoing — fully automated</a:t>
            </a:r>
            <a:endParaRPr lang="en-US" sz="1050" dirty="0"/>
          </a:p>
        </p:txBody>
      </p:sp>
      <p:sp>
        <p:nvSpPr>
          <p:cNvPr id="46" name="Text 44"/>
          <p:cNvSpPr/>
          <p:nvPr/>
        </p:nvSpPr>
        <p:spPr>
          <a:xfrm>
            <a:off x="4901184" y="3310128"/>
            <a:ext cx="3694176" cy="274320"/>
          </a:xfrm>
          <a:prstGeom prst="rect">
            <a:avLst/>
          </a:prstGeom>
          <a:noFill/>
          <a:ln/>
        </p:spPr>
        <p:txBody>
          <a:bodyPr wrap="square" lIns="0" tIns="0" rIns="0" bIns="0" rtlCol="0" anchor="ctr"/>
          <a:lstStyle/>
          <a:p>
            <a:pPr indent="0" marL="0">
              <a:buNone/>
            </a:pPr>
            <a:r>
              <a:rPr lang="en-US" sz="850" dirty="0">
                <a:solidFill>
                  <a:srgbClr val="575A5D"/>
                </a:solidFill>
                <a:latin typeface="Aptos" pitchFamily="34" charset="0"/>
                <a:ea typeface="Aptos" pitchFamily="34" charset="-122"/>
                <a:cs typeface="Aptos" pitchFamily="34" charset="-120"/>
              </a:rPr>
              <a:t>No DBA involvement for schema changes, AG failover, or routine operation. Alert only on replication lag or connectivity issues.</a:t>
            </a:r>
            <a:endParaRPr lang="en-US" sz="850" dirty="0"/>
          </a:p>
        </p:txBody>
      </p:sp>
      <p:sp>
        <p:nvSpPr>
          <p:cNvPr id="47" name="Shape 45"/>
          <p:cNvSpPr/>
          <p:nvPr/>
        </p:nvSpPr>
        <p:spPr>
          <a:xfrm>
            <a:off x="256032" y="4572000"/>
            <a:ext cx="2804160" cy="402336"/>
          </a:xfrm>
          <a:prstGeom prst="rect">
            <a:avLst/>
          </a:prstGeom>
          <a:solidFill>
            <a:srgbClr val="EFF7F3"/>
          </a:solidFill>
          <a:ln w="12700">
            <a:solidFill>
              <a:srgbClr val="2E7D32"/>
            </a:solidFill>
            <a:prstDash val="solid"/>
          </a:ln>
        </p:spPr>
      </p:sp>
      <p:sp>
        <p:nvSpPr>
          <p:cNvPr id="48" name="Text 46"/>
          <p:cNvSpPr/>
          <p:nvPr/>
        </p:nvSpPr>
        <p:spPr>
          <a:xfrm>
            <a:off x="310896" y="4572000"/>
            <a:ext cx="2694432" cy="402336"/>
          </a:xfrm>
          <a:prstGeom prst="rect">
            <a:avLst/>
          </a:prstGeom>
          <a:noFill/>
          <a:ln/>
        </p:spPr>
        <p:txBody>
          <a:bodyPr wrap="square" lIns="38100" tIns="38100" rIns="38100" bIns="38100" rtlCol="0" anchor="ctr"/>
          <a:lstStyle/>
          <a:p>
            <a:pPr indent="0" marL="0">
              <a:buNone/>
            </a:pPr>
            <a:r>
              <a:rPr lang="en-US" sz="1000" b="1" dirty="0">
                <a:solidFill>
                  <a:srgbClr val="2E7D32"/>
                </a:solidFill>
                <a:latin typeface="Aptos" pitchFamily="34" charset="0"/>
                <a:ea typeface="Aptos" pitchFamily="34" charset="-122"/>
                <a:cs typeface="Aptos" pitchFamily="34" charset="-120"/>
              </a:rPr>
              <a:t>✓  No SQL Server Agent — direct log read</a:t>
            </a:r>
            <a:endParaRPr lang="en-US" sz="1000" dirty="0"/>
          </a:p>
        </p:txBody>
      </p:sp>
      <p:sp>
        <p:nvSpPr>
          <p:cNvPr id="49" name="Shape 47"/>
          <p:cNvSpPr/>
          <p:nvPr/>
        </p:nvSpPr>
        <p:spPr>
          <a:xfrm>
            <a:off x="3169920" y="4572000"/>
            <a:ext cx="2804160" cy="402336"/>
          </a:xfrm>
          <a:prstGeom prst="rect">
            <a:avLst/>
          </a:prstGeom>
          <a:solidFill>
            <a:srgbClr val="EFF7F3"/>
          </a:solidFill>
          <a:ln w="12700">
            <a:solidFill>
              <a:srgbClr val="2E7D32"/>
            </a:solidFill>
            <a:prstDash val="solid"/>
          </a:ln>
        </p:spPr>
      </p:sp>
      <p:sp>
        <p:nvSpPr>
          <p:cNvPr id="50" name="Text 48"/>
          <p:cNvSpPr/>
          <p:nvPr/>
        </p:nvSpPr>
        <p:spPr>
          <a:xfrm>
            <a:off x="3224784" y="4572000"/>
            <a:ext cx="2694432" cy="402336"/>
          </a:xfrm>
          <a:prstGeom prst="rect">
            <a:avLst/>
          </a:prstGeom>
          <a:noFill/>
          <a:ln/>
        </p:spPr>
        <p:txBody>
          <a:bodyPr wrap="square" lIns="38100" tIns="38100" rIns="38100" bIns="38100" rtlCol="0" anchor="ctr"/>
          <a:lstStyle/>
          <a:p>
            <a:pPr indent="0" marL="0">
              <a:buNone/>
            </a:pPr>
            <a:r>
              <a:rPr lang="en-US" sz="1000" b="1" dirty="0">
                <a:solidFill>
                  <a:srgbClr val="2E7D32"/>
                </a:solidFill>
                <a:latin typeface="Aptos" pitchFamily="34" charset="0"/>
                <a:ea typeface="Aptos" pitchFamily="34" charset="-122"/>
                <a:cs typeface="Aptos" pitchFamily="34" charset="-120"/>
              </a:rPr>
              <a:t>✓  Schema changes automated — no runbook</a:t>
            </a:r>
            <a:endParaRPr lang="en-US" sz="1000" dirty="0"/>
          </a:p>
        </p:txBody>
      </p:sp>
      <p:sp>
        <p:nvSpPr>
          <p:cNvPr id="51" name="Shape 49"/>
          <p:cNvSpPr/>
          <p:nvPr/>
        </p:nvSpPr>
        <p:spPr>
          <a:xfrm>
            <a:off x="6083808" y="4572000"/>
            <a:ext cx="2804160" cy="402336"/>
          </a:xfrm>
          <a:prstGeom prst="rect">
            <a:avLst/>
          </a:prstGeom>
          <a:solidFill>
            <a:srgbClr val="EFF7F3"/>
          </a:solidFill>
          <a:ln w="12700">
            <a:solidFill>
              <a:srgbClr val="2E7D32"/>
            </a:solidFill>
            <a:prstDash val="solid"/>
          </a:ln>
        </p:spPr>
      </p:sp>
      <p:sp>
        <p:nvSpPr>
          <p:cNvPr id="52" name="Text 50"/>
          <p:cNvSpPr/>
          <p:nvPr/>
        </p:nvSpPr>
        <p:spPr>
          <a:xfrm>
            <a:off x="6138672" y="4572000"/>
            <a:ext cx="2694432" cy="402336"/>
          </a:xfrm>
          <a:prstGeom prst="rect">
            <a:avLst/>
          </a:prstGeom>
          <a:noFill/>
          <a:ln/>
        </p:spPr>
        <p:txBody>
          <a:bodyPr wrap="square" lIns="38100" tIns="38100" rIns="38100" bIns="38100" rtlCol="0" anchor="ctr"/>
          <a:lstStyle/>
          <a:p>
            <a:pPr indent="0" marL="0">
              <a:buNone/>
            </a:pPr>
            <a:r>
              <a:rPr lang="en-US" sz="1000" b="1" dirty="0">
                <a:solidFill>
                  <a:srgbClr val="2E7D32"/>
                </a:solidFill>
                <a:latin typeface="Aptos" pitchFamily="34" charset="0"/>
                <a:ea typeface="Aptos" pitchFamily="34" charset="-122"/>
                <a:cs typeface="Aptos" pitchFamily="34" charset="-120"/>
              </a:rPr>
              <a:t>✓  AG failover transparent — no re-enablement</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146304"/>
            <a:ext cx="3200400" cy="36576"/>
          </a:xfrm>
          <a:prstGeom prst="rect">
            <a:avLst/>
          </a:prstGeom>
          <a:solidFill>
            <a:srgbClr val="085CE5"/>
          </a:solidFill>
          <a:ln w="12700">
            <a:solidFill>
              <a:srgbClr val="085CE5"/>
            </a:solidFill>
            <a:prstDash val="solid"/>
          </a:ln>
        </p:spPr>
      </p:sp>
      <p:sp>
        <p:nvSpPr>
          <p:cNvPr id="3" name="Text 1"/>
          <p:cNvSpPr/>
          <p:nvPr/>
        </p:nvSpPr>
        <p:spPr>
          <a:xfrm>
            <a:off x="256032" y="228600"/>
            <a:ext cx="8631936" cy="548640"/>
          </a:xfrm>
          <a:prstGeom prst="rect">
            <a:avLst/>
          </a:prstGeom>
          <a:noFill/>
          <a:ln/>
        </p:spPr>
        <p:txBody>
          <a:bodyPr wrap="square" lIns="0" tIns="0" rIns="0" bIns="0" rtlCol="0" anchor="ctr"/>
          <a:lstStyle/>
          <a:p>
            <a:pPr indent="0" marL="0">
              <a:buNone/>
            </a:pPr>
            <a:r>
              <a:rPr lang="en-US" sz="2600" b="1" dirty="0">
                <a:solidFill>
                  <a:srgbClr val="06185F"/>
                </a:solidFill>
                <a:latin typeface="Aptos Display" pitchFamily="34" charset="0"/>
                <a:ea typeface="Aptos Display" pitchFamily="34" charset="-122"/>
                <a:cs typeface="Aptos Display" pitchFamily="34" charset="-120"/>
              </a:rPr>
              <a:t>Phased Implementation Roadmap</a:t>
            </a:r>
            <a:endParaRPr lang="en-US" sz="2600" dirty="0"/>
          </a:p>
        </p:txBody>
      </p:sp>
      <p:sp>
        <p:nvSpPr>
          <p:cNvPr id="4" name="Text 2"/>
          <p:cNvSpPr/>
          <p:nvPr/>
        </p:nvSpPr>
        <p:spPr>
          <a:xfrm>
            <a:off x="0" y="4924044"/>
            <a:ext cx="9144000" cy="201168"/>
          </a:xfrm>
          <a:prstGeom prst="rect">
            <a:avLst/>
          </a:prstGeom>
          <a:noFill/>
          <a:ln/>
        </p:spPr>
        <p:txBody>
          <a:bodyPr wrap="square" lIns="0" tIns="0" rIns="0" bIns="0" rtlCol="0" anchor="ctr"/>
          <a:lstStyle/>
          <a:p>
            <a:pPr algn="ctr" indent="0" marL="0">
              <a:buNone/>
            </a:pPr>
            <a:r>
              <a:rPr lang="en-US" sz="850" dirty="0">
                <a:solidFill>
                  <a:srgbClr val="B6BBC0"/>
                </a:solidFill>
                <a:latin typeface="Aptos" pitchFamily="34" charset="0"/>
                <a:ea typeface="Aptos" pitchFamily="34" charset="-122"/>
                <a:cs typeface="Aptos" pitchFamily="34" charset="-120"/>
              </a:rPr>
              <a:t>Jack Henry™  |  Client Confidential</a:t>
            </a:r>
            <a:endParaRPr lang="en-US" sz="850" dirty="0"/>
          </a:p>
        </p:txBody>
      </p:sp>
      <p:sp>
        <p:nvSpPr>
          <p:cNvPr id="5" name="Shape 3"/>
          <p:cNvSpPr/>
          <p:nvPr/>
        </p:nvSpPr>
        <p:spPr>
          <a:xfrm>
            <a:off x="256032" y="960120"/>
            <a:ext cx="3977640" cy="3840480"/>
          </a:xfrm>
          <a:prstGeom prst="rect">
            <a:avLst/>
          </a:prstGeom>
          <a:solidFill>
            <a:srgbClr val="F3E5F5"/>
          </a:solidFill>
          <a:ln w="19050">
            <a:solidFill>
              <a:srgbClr val="6A1B9A"/>
            </a:solidFill>
            <a:prstDash val="solid"/>
          </a:ln>
        </p:spPr>
      </p:sp>
      <p:sp>
        <p:nvSpPr>
          <p:cNvPr id="6" name="Shape 4"/>
          <p:cNvSpPr/>
          <p:nvPr/>
        </p:nvSpPr>
        <p:spPr>
          <a:xfrm>
            <a:off x="256032" y="960120"/>
            <a:ext cx="3977640" cy="402336"/>
          </a:xfrm>
          <a:prstGeom prst="rect">
            <a:avLst/>
          </a:prstGeom>
          <a:solidFill>
            <a:srgbClr val="6A1B9A"/>
          </a:solidFill>
          <a:ln w="12700">
            <a:solidFill>
              <a:srgbClr val="6A1B9A"/>
            </a:solidFill>
            <a:prstDash val="solid"/>
          </a:ln>
        </p:spPr>
      </p:sp>
      <p:sp>
        <p:nvSpPr>
          <p:cNvPr id="7" name="Text 5"/>
          <p:cNvSpPr/>
          <p:nvPr/>
        </p:nvSpPr>
        <p:spPr>
          <a:xfrm>
            <a:off x="301752" y="960120"/>
            <a:ext cx="3877056" cy="402336"/>
          </a:xfrm>
          <a:prstGeom prst="rect">
            <a:avLst/>
          </a:prstGeom>
          <a:noFill/>
          <a:ln/>
        </p:spPr>
        <p:txBody>
          <a:bodyPr wrap="square" lIns="50800" tIns="50800" rIns="50800" bIns="50800" rtlCol="0" anchor="ct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Phase 1 — Near-Term</a:t>
            </a:r>
            <a:endParaRPr lang="en-US" sz="1400" dirty="0"/>
          </a:p>
        </p:txBody>
      </p:sp>
      <p:sp>
        <p:nvSpPr>
          <p:cNvPr id="8" name="Text 6"/>
          <p:cNvSpPr/>
          <p:nvPr/>
        </p:nvSpPr>
        <p:spPr>
          <a:xfrm>
            <a:off x="301752" y="1408176"/>
            <a:ext cx="3877056" cy="320040"/>
          </a:xfrm>
          <a:prstGeom prst="rect">
            <a:avLst/>
          </a:prstGeom>
          <a:noFill/>
          <a:ln/>
        </p:spPr>
        <p:txBody>
          <a:bodyPr wrap="square" lIns="0" tIns="0" rIns="0" bIns="0" rtlCol="0" anchor="ctr"/>
          <a:lstStyle/>
          <a:p>
            <a:pPr indent="0" marL="0">
              <a:buNone/>
            </a:pPr>
            <a:r>
              <a:rPr lang="en-US" sz="1200" b="1" dirty="0">
                <a:solidFill>
                  <a:srgbClr val="6A1B9A"/>
                </a:solidFill>
                <a:latin typeface="Aptos" pitchFamily="34" charset="0"/>
                <a:ea typeface="Aptos" pitchFamily="34" charset="-122"/>
                <a:cs typeface="Aptos" pitchFamily="34" charset="-120"/>
              </a:rPr>
              <a:t>Native SQL Server CDC + Debezium</a:t>
            </a:r>
            <a:endParaRPr lang="en-US" sz="1200" dirty="0"/>
          </a:p>
        </p:txBody>
      </p:sp>
      <p:sp>
        <p:nvSpPr>
          <p:cNvPr id="9" name="Shape 7"/>
          <p:cNvSpPr/>
          <p:nvPr/>
        </p:nvSpPr>
        <p:spPr>
          <a:xfrm>
            <a:off x="384048" y="1828800"/>
            <a:ext cx="54864" cy="237744"/>
          </a:xfrm>
          <a:prstGeom prst="rect">
            <a:avLst/>
          </a:prstGeom>
          <a:solidFill>
            <a:srgbClr val="6A1B9A"/>
          </a:solidFill>
          <a:ln w="12700">
            <a:solidFill>
              <a:srgbClr val="6A1B9A"/>
            </a:solidFill>
            <a:prstDash val="solid"/>
          </a:ln>
        </p:spPr>
      </p:sp>
      <p:sp>
        <p:nvSpPr>
          <p:cNvPr id="10" name="Text 8"/>
          <p:cNvSpPr/>
          <p:nvPr/>
        </p:nvSpPr>
        <p:spPr>
          <a:xfrm>
            <a:off x="530352" y="1783080"/>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Enable CDC on target SQL Server databases</a:t>
            </a:r>
            <a:endParaRPr lang="en-US" sz="1050" dirty="0"/>
          </a:p>
        </p:txBody>
      </p:sp>
      <p:sp>
        <p:nvSpPr>
          <p:cNvPr id="11" name="Shape 9"/>
          <p:cNvSpPr/>
          <p:nvPr/>
        </p:nvSpPr>
        <p:spPr>
          <a:xfrm>
            <a:off x="384048" y="2167128"/>
            <a:ext cx="54864" cy="237744"/>
          </a:xfrm>
          <a:prstGeom prst="rect">
            <a:avLst/>
          </a:prstGeom>
          <a:solidFill>
            <a:srgbClr val="6A1B9A"/>
          </a:solidFill>
          <a:ln w="12700">
            <a:solidFill>
              <a:srgbClr val="6A1B9A"/>
            </a:solidFill>
            <a:prstDash val="solid"/>
          </a:ln>
        </p:spPr>
      </p:sp>
      <p:sp>
        <p:nvSpPr>
          <p:cNvPr id="12" name="Text 10"/>
          <p:cNvSpPr/>
          <p:nvPr/>
        </p:nvSpPr>
        <p:spPr>
          <a:xfrm>
            <a:off x="530352" y="2121408"/>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Deploy Debezium via Kafka Connect</a:t>
            </a:r>
            <a:endParaRPr lang="en-US" sz="1050" dirty="0"/>
          </a:p>
        </p:txBody>
      </p:sp>
      <p:sp>
        <p:nvSpPr>
          <p:cNvPr id="13" name="Shape 11"/>
          <p:cNvSpPr/>
          <p:nvPr/>
        </p:nvSpPr>
        <p:spPr>
          <a:xfrm>
            <a:off x="384048" y="2505456"/>
            <a:ext cx="54864" cy="237744"/>
          </a:xfrm>
          <a:prstGeom prst="rect">
            <a:avLst/>
          </a:prstGeom>
          <a:solidFill>
            <a:srgbClr val="6A1B9A"/>
          </a:solidFill>
          <a:ln w="12700">
            <a:solidFill>
              <a:srgbClr val="6A1B9A"/>
            </a:solidFill>
            <a:prstDash val="solid"/>
          </a:ln>
        </p:spPr>
      </p:sp>
      <p:sp>
        <p:nvSpPr>
          <p:cNvPr id="14" name="Text 12"/>
          <p:cNvSpPr/>
          <p:nvPr/>
        </p:nvSpPr>
        <p:spPr>
          <a:xfrm>
            <a:off x="530352" y="2459736"/>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Establish Kafka topics per source table</a:t>
            </a:r>
            <a:endParaRPr lang="en-US" sz="1050" dirty="0"/>
          </a:p>
        </p:txBody>
      </p:sp>
      <p:sp>
        <p:nvSpPr>
          <p:cNvPr id="15" name="Shape 13"/>
          <p:cNvSpPr/>
          <p:nvPr/>
        </p:nvSpPr>
        <p:spPr>
          <a:xfrm>
            <a:off x="384048" y="2843784"/>
            <a:ext cx="54864" cy="237744"/>
          </a:xfrm>
          <a:prstGeom prst="rect">
            <a:avLst/>
          </a:prstGeom>
          <a:solidFill>
            <a:srgbClr val="6A1B9A"/>
          </a:solidFill>
          <a:ln w="12700">
            <a:solidFill>
              <a:srgbClr val="6A1B9A"/>
            </a:solidFill>
            <a:prstDash val="solid"/>
          </a:ln>
        </p:spPr>
      </p:sp>
      <p:sp>
        <p:nvSpPr>
          <p:cNvPr id="16" name="Text 14"/>
          <p:cNvSpPr/>
          <p:nvPr/>
        </p:nvSpPr>
        <p:spPr>
          <a:xfrm>
            <a:off x="530352" y="2798064"/>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Build initial consumer pipelines</a:t>
            </a:r>
            <a:endParaRPr lang="en-US" sz="1050" dirty="0"/>
          </a:p>
        </p:txBody>
      </p:sp>
      <p:sp>
        <p:nvSpPr>
          <p:cNvPr id="17" name="Shape 15"/>
          <p:cNvSpPr/>
          <p:nvPr/>
        </p:nvSpPr>
        <p:spPr>
          <a:xfrm>
            <a:off x="384048" y="3182112"/>
            <a:ext cx="54864" cy="237744"/>
          </a:xfrm>
          <a:prstGeom prst="rect">
            <a:avLst/>
          </a:prstGeom>
          <a:solidFill>
            <a:srgbClr val="6A1B9A"/>
          </a:solidFill>
          <a:ln w="12700">
            <a:solidFill>
              <a:srgbClr val="6A1B9A"/>
            </a:solidFill>
            <a:prstDash val="solid"/>
          </a:ln>
        </p:spPr>
      </p:sp>
      <p:sp>
        <p:nvSpPr>
          <p:cNvPr id="18" name="Text 16"/>
          <p:cNvSpPr/>
          <p:nvPr/>
        </p:nvSpPr>
        <p:spPr>
          <a:xfrm>
            <a:off x="530352" y="3136392"/>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Document schema change runbook</a:t>
            </a:r>
            <a:endParaRPr lang="en-US" sz="1050" dirty="0"/>
          </a:p>
        </p:txBody>
      </p:sp>
      <p:sp>
        <p:nvSpPr>
          <p:cNvPr id="19" name="Shape 17"/>
          <p:cNvSpPr/>
          <p:nvPr/>
        </p:nvSpPr>
        <p:spPr>
          <a:xfrm>
            <a:off x="384048" y="3520440"/>
            <a:ext cx="54864" cy="237744"/>
          </a:xfrm>
          <a:prstGeom prst="rect">
            <a:avLst/>
          </a:prstGeom>
          <a:solidFill>
            <a:srgbClr val="6A1B9A"/>
          </a:solidFill>
          <a:ln w="12700">
            <a:solidFill>
              <a:srgbClr val="6A1B9A"/>
            </a:solidFill>
            <a:prstDash val="solid"/>
          </a:ln>
        </p:spPr>
      </p:sp>
      <p:sp>
        <p:nvSpPr>
          <p:cNvPr id="20" name="Text 18"/>
          <p:cNvSpPr/>
          <p:nvPr/>
        </p:nvSpPr>
        <p:spPr>
          <a:xfrm>
            <a:off x="530352" y="3474720"/>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Monitor Agent jobs and CDC lag metrics</a:t>
            </a:r>
            <a:endParaRPr lang="en-US" sz="1050" dirty="0"/>
          </a:p>
        </p:txBody>
      </p:sp>
      <p:sp>
        <p:nvSpPr>
          <p:cNvPr id="21" name="Shape 19"/>
          <p:cNvSpPr/>
          <p:nvPr/>
        </p:nvSpPr>
        <p:spPr>
          <a:xfrm>
            <a:off x="384048" y="3858768"/>
            <a:ext cx="54864" cy="237744"/>
          </a:xfrm>
          <a:prstGeom prst="rect">
            <a:avLst/>
          </a:prstGeom>
          <a:solidFill>
            <a:srgbClr val="6A1B9A"/>
          </a:solidFill>
          <a:ln w="12700">
            <a:solidFill>
              <a:srgbClr val="6A1B9A"/>
            </a:solidFill>
            <a:prstDash val="solid"/>
          </a:ln>
        </p:spPr>
      </p:sp>
      <p:sp>
        <p:nvSpPr>
          <p:cNvPr id="22" name="Text 20"/>
          <p:cNvSpPr/>
          <p:nvPr/>
        </p:nvSpPr>
        <p:spPr>
          <a:xfrm>
            <a:off x="530352" y="3813048"/>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Inventory data type coverage on all tracked tables</a:t>
            </a:r>
            <a:endParaRPr lang="en-US" sz="1050" dirty="0"/>
          </a:p>
        </p:txBody>
      </p:sp>
      <p:sp>
        <p:nvSpPr>
          <p:cNvPr id="23" name="Shape 21"/>
          <p:cNvSpPr/>
          <p:nvPr/>
        </p:nvSpPr>
        <p:spPr>
          <a:xfrm>
            <a:off x="384048" y="4197096"/>
            <a:ext cx="54864" cy="237744"/>
          </a:xfrm>
          <a:prstGeom prst="rect">
            <a:avLst/>
          </a:prstGeom>
          <a:solidFill>
            <a:srgbClr val="6A1B9A"/>
          </a:solidFill>
          <a:ln w="12700">
            <a:solidFill>
              <a:srgbClr val="6A1B9A"/>
            </a:solidFill>
            <a:prstDash val="solid"/>
          </a:ln>
        </p:spPr>
      </p:sp>
      <p:sp>
        <p:nvSpPr>
          <p:cNvPr id="24" name="Text 22"/>
          <p:cNvSpPr/>
          <p:nvPr/>
        </p:nvSpPr>
        <p:spPr>
          <a:xfrm>
            <a:off x="530352" y="4151376"/>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Set CDC cleanup retention to 7+ days</a:t>
            </a:r>
            <a:endParaRPr lang="en-US" sz="1050" dirty="0"/>
          </a:p>
        </p:txBody>
      </p:sp>
      <p:sp>
        <p:nvSpPr>
          <p:cNvPr id="25" name="Shape 23"/>
          <p:cNvSpPr/>
          <p:nvPr/>
        </p:nvSpPr>
        <p:spPr>
          <a:xfrm>
            <a:off x="4325112" y="2880360"/>
            <a:ext cx="530352" cy="0"/>
          </a:xfrm>
          <a:prstGeom prst="line">
            <a:avLst/>
          </a:prstGeom>
          <a:noFill/>
          <a:ln w="38100">
            <a:solidFill>
              <a:srgbClr val="085CE5"/>
            </a:solidFill>
            <a:prstDash val="solid"/>
            <a:tailEnd type="arrow"/>
          </a:ln>
        </p:spPr>
      </p:sp>
      <p:sp>
        <p:nvSpPr>
          <p:cNvPr id="26" name="Text 24"/>
          <p:cNvSpPr/>
          <p:nvPr/>
        </p:nvSpPr>
        <p:spPr>
          <a:xfrm>
            <a:off x="4233672" y="2148840"/>
            <a:ext cx="658368" cy="1371600"/>
          </a:xfrm>
          <a:prstGeom prst="rect">
            <a:avLst/>
          </a:prstGeom>
          <a:noFill/>
          <a:ln/>
        </p:spPr>
        <p:txBody>
          <a:bodyPr wrap="square" lIns="0" tIns="0" rIns="0" bIns="0" rtlCol="0" anchor="ctr"/>
          <a:lstStyle/>
          <a:p>
            <a:pPr algn="ctr" indent="0" marL="0">
              <a:buNone/>
            </a:pPr>
            <a:r>
              <a:rPr lang="en-US" sz="750" i="1" dirty="0">
                <a:solidFill>
                  <a:srgbClr val="B6BBC0"/>
                </a:solidFill>
                <a:latin typeface="Aptos" pitchFamily="34" charset="0"/>
                <a:ea typeface="Aptos" pitchFamily="34" charset="-122"/>
                <a:cs typeface="Aptos" pitchFamily="34" charset="-120"/>
              </a:rPr>
              <a:t>Trigger:</a:t>
            </a:r>
            <a:endParaRPr lang="en-US" sz="750" dirty="0"/>
          </a:p>
          <a:p>
            <a:pPr algn="ctr" indent="0" marL="0">
              <a:buNone/>
            </a:pPr>
            <a:r>
              <a:rPr lang="en-US" sz="750" i="1" dirty="0">
                <a:solidFill>
                  <a:srgbClr val="B6BBC0"/>
                </a:solidFill>
                <a:latin typeface="Aptos" pitchFamily="34" charset="0"/>
                <a:ea typeface="Aptos" pitchFamily="34" charset="-122"/>
                <a:cs typeface="Aptos" pitchFamily="34" charset="-120"/>
              </a:rPr>
              <a:t>schema change</a:t>
            </a:r>
            <a:endParaRPr lang="en-US" sz="750" dirty="0"/>
          </a:p>
          <a:p>
            <a:pPr algn="ctr" indent="0" marL="0">
              <a:buNone/>
            </a:pPr>
            <a:r>
              <a:rPr lang="en-US" sz="750" i="1" dirty="0">
                <a:solidFill>
                  <a:srgbClr val="B6BBC0"/>
                </a:solidFill>
                <a:latin typeface="Aptos" pitchFamily="34" charset="0"/>
                <a:ea typeface="Aptos" pitchFamily="34" charset="-122"/>
                <a:cs typeface="Aptos" pitchFamily="34" charset="-120"/>
              </a:rPr>
              <a:t>friction, new</a:t>
            </a:r>
            <a:endParaRPr lang="en-US" sz="750" dirty="0"/>
          </a:p>
          <a:p>
            <a:pPr algn="ctr" indent="0" marL="0">
              <a:buNone/>
            </a:pPr>
            <a:r>
              <a:rPr lang="en-US" sz="750" i="1" dirty="0">
                <a:solidFill>
                  <a:srgbClr val="B6BBC0"/>
                </a:solidFill>
                <a:latin typeface="Aptos" pitchFamily="34" charset="0"/>
                <a:ea typeface="Aptos" pitchFamily="34" charset="-122"/>
                <a:cs typeface="Aptos" pitchFamily="34" charset="-120"/>
              </a:rPr>
              <a:t>sources, or</a:t>
            </a:r>
            <a:endParaRPr lang="en-US" sz="750" dirty="0"/>
          </a:p>
          <a:p>
            <a:pPr algn="ctr" indent="0" marL="0">
              <a:buNone/>
            </a:pPr>
            <a:r>
              <a:rPr lang="en-US" sz="750" i="1" dirty="0">
                <a:solidFill>
                  <a:srgbClr val="B6BBC0"/>
                </a:solidFill>
                <a:latin typeface="Aptos" pitchFamily="34" charset="0"/>
                <a:ea typeface="Aptos" pitchFamily="34" charset="-122"/>
                <a:cs typeface="Aptos" pitchFamily="34" charset="-120"/>
              </a:rPr>
              <a:t>sub-sec latency</a:t>
            </a:r>
            <a:endParaRPr lang="en-US" sz="750" dirty="0"/>
          </a:p>
        </p:txBody>
      </p:sp>
      <p:sp>
        <p:nvSpPr>
          <p:cNvPr id="27" name="Shape 25"/>
          <p:cNvSpPr/>
          <p:nvPr/>
        </p:nvSpPr>
        <p:spPr>
          <a:xfrm>
            <a:off x="4956048" y="960120"/>
            <a:ext cx="3977640" cy="3840480"/>
          </a:xfrm>
          <a:prstGeom prst="rect">
            <a:avLst/>
          </a:prstGeom>
          <a:solidFill>
            <a:srgbClr val="76DCFD"/>
          </a:solidFill>
          <a:ln w="19050">
            <a:solidFill>
              <a:srgbClr val="085CE5"/>
            </a:solidFill>
            <a:prstDash val="solid"/>
          </a:ln>
        </p:spPr>
      </p:sp>
      <p:sp>
        <p:nvSpPr>
          <p:cNvPr id="28" name="Shape 26"/>
          <p:cNvSpPr/>
          <p:nvPr/>
        </p:nvSpPr>
        <p:spPr>
          <a:xfrm>
            <a:off x="4956048" y="960120"/>
            <a:ext cx="3977640" cy="402336"/>
          </a:xfrm>
          <a:prstGeom prst="rect">
            <a:avLst/>
          </a:prstGeom>
          <a:solidFill>
            <a:srgbClr val="085CE5"/>
          </a:solidFill>
          <a:ln w="12700">
            <a:solidFill>
              <a:srgbClr val="085CE5"/>
            </a:solidFill>
            <a:prstDash val="solid"/>
          </a:ln>
        </p:spPr>
      </p:sp>
      <p:sp>
        <p:nvSpPr>
          <p:cNvPr id="29" name="Text 27"/>
          <p:cNvSpPr/>
          <p:nvPr/>
        </p:nvSpPr>
        <p:spPr>
          <a:xfrm>
            <a:off x="5001768" y="960120"/>
            <a:ext cx="3877056" cy="402336"/>
          </a:xfrm>
          <a:prstGeom prst="rect">
            <a:avLst/>
          </a:prstGeom>
          <a:noFill/>
          <a:ln/>
        </p:spPr>
        <p:txBody>
          <a:bodyPr wrap="square" lIns="50800" tIns="50800" rIns="50800" bIns="50800" rtlCol="0" anchor="ct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Phase 2 — Enterprise CDC</a:t>
            </a:r>
            <a:endParaRPr lang="en-US" sz="1400" dirty="0"/>
          </a:p>
        </p:txBody>
      </p:sp>
      <p:sp>
        <p:nvSpPr>
          <p:cNvPr id="30" name="Text 28"/>
          <p:cNvSpPr/>
          <p:nvPr/>
        </p:nvSpPr>
        <p:spPr>
          <a:xfrm>
            <a:off x="5001768" y="1408176"/>
            <a:ext cx="3877056" cy="320040"/>
          </a:xfrm>
          <a:prstGeom prst="rect">
            <a:avLst/>
          </a:prstGeom>
          <a:noFill/>
          <a:ln/>
        </p:spPr>
        <p:txBody>
          <a:bodyPr wrap="square" lIns="0" tIns="0" rIns="0" bIns="0" rtlCol="0" anchor="ctr"/>
          <a:lstStyle/>
          <a:p>
            <a:pPr indent="0" marL="0">
              <a:buNone/>
            </a:pPr>
            <a:r>
              <a:rPr lang="en-US" sz="1200" b="1" dirty="0">
                <a:solidFill>
                  <a:srgbClr val="085CE5"/>
                </a:solidFill>
                <a:latin typeface="Aptos" pitchFamily="34" charset="0"/>
                <a:ea typeface="Aptos" pitchFamily="34" charset="-122"/>
                <a:cs typeface="Aptos" pitchFamily="34" charset="-120"/>
              </a:rPr>
              <a:t>IBM IIDR  or  Striim</a:t>
            </a:r>
            <a:endParaRPr lang="en-US" sz="1200" dirty="0"/>
          </a:p>
        </p:txBody>
      </p:sp>
      <p:sp>
        <p:nvSpPr>
          <p:cNvPr id="31" name="Shape 29"/>
          <p:cNvSpPr/>
          <p:nvPr/>
        </p:nvSpPr>
        <p:spPr>
          <a:xfrm>
            <a:off x="5084064" y="1828800"/>
            <a:ext cx="54864" cy="237744"/>
          </a:xfrm>
          <a:prstGeom prst="rect">
            <a:avLst/>
          </a:prstGeom>
          <a:solidFill>
            <a:srgbClr val="085CE5"/>
          </a:solidFill>
          <a:ln w="12700">
            <a:solidFill>
              <a:srgbClr val="085CE5"/>
            </a:solidFill>
            <a:prstDash val="solid"/>
          </a:ln>
        </p:spPr>
      </p:sp>
      <p:sp>
        <p:nvSpPr>
          <p:cNvPr id="32" name="Text 30"/>
          <p:cNvSpPr/>
          <p:nvPr/>
        </p:nvSpPr>
        <p:spPr>
          <a:xfrm>
            <a:off x="5230368" y="1783080"/>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Vendor evaluation / POC (IIDR vs. Striim)</a:t>
            </a:r>
            <a:endParaRPr lang="en-US" sz="1050" dirty="0"/>
          </a:p>
        </p:txBody>
      </p:sp>
      <p:sp>
        <p:nvSpPr>
          <p:cNvPr id="33" name="Shape 31"/>
          <p:cNvSpPr/>
          <p:nvPr/>
        </p:nvSpPr>
        <p:spPr>
          <a:xfrm>
            <a:off x="5084064" y="2167128"/>
            <a:ext cx="54864" cy="237744"/>
          </a:xfrm>
          <a:prstGeom prst="rect">
            <a:avLst/>
          </a:prstGeom>
          <a:solidFill>
            <a:srgbClr val="085CE5"/>
          </a:solidFill>
          <a:ln w="12700">
            <a:solidFill>
              <a:srgbClr val="085CE5"/>
            </a:solidFill>
            <a:prstDash val="solid"/>
          </a:ln>
        </p:spPr>
      </p:sp>
      <p:sp>
        <p:nvSpPr>
          <p:cNvPr id="34" name="Text 32"/>
          <p:cNvSpPr/>
          <p:nvPr/>
        </p:nvSpPr>
        <p:spPr>
          <a:xfrm>
            <a:off x="5230368" y="2121408"/>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Deploy direct log reader — remove CDC tables</a:t>
            </a:r>
            <a:endParaRPr lang="en-US" sz="1050" dirty="0"/>
          </a:p>
        </p:txBody>
      </p:sp>
      <p:sp>
        <p:nvSpPr>
          <p:cNvPr id="35" name="Shape 33"/>
          <p:cNvSpPr/>
          <p:nvPr/>
        </p:nvSpPr>
        <p:spPr>
          <a:xfrm>
            <a:off x="5084064" y="2505456"/>
            <a:ext cx="54864" cy="237744"/>
          </a:xfrm>
          <a:prstGeom prst="rect">
            <a:avLst/>
          </a:prstGeom>
          <a:solidFill>
            <a:srgbClr val="085CE5"/>
          </a:solidFill>
          <a:ln w="12700">
            <a:solidFill>
              <a:srgbClr val="085CE5"/>
            </a:solidFill>
            <a:prstDash val="solid"/>
          </a:ln>
        </p:spPr>
      </p:sp>
      <p:sp>
        <p:nvSpPr>
          <p:cNvPr id="36" name="Text 34"/>
          <p:cNvSpPr/>
          <p:nvPr/>
        </p:nvSpPr>
        <p:spPr>
          <a:xfrm>
            <a:off x="5230368" y="2459736"/>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Validate automated schema evolution in non-prod</a:t>
            </a:r>
            <a:endParaRPr lang="en-US" sz="1050" dirty="0"/>
          </a:p>
        </p:txBody>
      </p:sp>
      <p:sp>
        <p:nvSpPr>
          <p:cNvPr id="37" name="Shape 35"/>
          <p:cNvSpPr/>
          <p:nvPr/>
        </p:nvSpPr>
        <p:spPr>
          <a:xfrm>
            <a:off x="5084064" y="2843784"/>
            <a:ext cx="54864" cy="237744"/>
          </a:xfrm>
          <a:prstGeom prst="rect">
            <a:avLst/>
          </a:prstGeom>
          <a:solidFill>
            <a:srgbClr val="085CE5"/>
          </a:solidFill>
          <a:ln w="12700">
            <a:solidFill>
              <a:srgbClr val="085CE5"/>
            </a:solidFill>
            <a:prstDash val="solid"/>
          </a:ln>
        </p:spPr>
      </p:sp>
      <p:sp>
        <p:nvSpPr>
          <p:cNvPr id="38" name="Text 36"/>
          <p:cNvSpPr/>
          <p:nvPr/>
        </p:nvSpPr>
        <p:spPr>
          <a:xfrm>
            <a:off x="5230368" y="2798064"/>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Expand source coverage (Oracle, Db2, PostgreSQL)</a:t>
            </a:r>
            <a:endParaRPr lang="en-US" sz="1050" dirty="0"/>
          </a:p>
        </p:txBody>
      </p:sp>
      <p:sp>
        <p:nvSpPr>
          <p:cNvPr id="39" name="Shape 37"/>
          <p:cNvSpPr/>
          <p:nvPr/>
        </p:nvSpPr>
        <p:spPr>
          <a:xfrm>
            <a:off x="5084064" y="3182112"/>
            <a:ext cx="54864" cy="237744"/>
          </a:xfrm>
          <a:prstGeom prst="rect">
            <a:avLst/>
          </a:prstGeom>
          <a:solidFill>
            <a:srgbClr val="085CE5"/>
          </a:solidFill>
          <a:ln w="12700">
            <a:solidFill>
              <a:srgbClr val="085CE5"/>
            </a:solidFill>
            <a:prstDash val="solid"/>
          </a:ln>
        </p:spPr>
      </p:sp>
      <p:sp>
        <p:nvSpPr>
          <p:cNvPr id="40" name="Text 38"/>
          <p:cNvSpPr/>
          <p:nvPr/>
        </p:nvSpPr>
        <p:spPr>
          <a:xfrm>
            <a:off x="5230368" y="3136392"/>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Validate AG failover continuity in staging</a:t>
            </a:r>
            <a:endParaRPr lang="en-US" sz="1050" dirty="0"/>
          </a:p>
        </p:txBody>
      </p:sp>
      <p:sp>
        <p:nvSpPr>
          <p:cNvPr id="41" name="Shape 39"/>
          <p:cNvSpPr/>
          <p:nvPr/>
        </p:nvSpPr>
        <p:spPr>
          <a:xfrm>
            <a:off x="5084064" y="3520440"/>
            <a:ext cx="54864" cy="237744"/>
          </a:xfrm>
          <a:prstGeom prst="rect">
            <a:avLst/>
          </a:prstGeom>
          <a:solidFill>
            <a:srgbClr val="085CE5"/>
          </a:solidFill>
          <a:ln w="12700">
            <a:solidFill>
              <a:srgbClr val="085CE5"/>
            </a:solidFill>
            <a:prstDash val="solid"/>
          </a:ln>
        </p:spPr>
      </p:sp>
      <p:sp>
        <p:nvSpPr>
          <p:cNvPr id="42" name="Text 40"/>
          <p:cNvSpPr/>
          <p:nvPr/>
        </p:nvSpPr>
        <p:spPr>
          <a:xfrm>
            <a:off x="5230368" y="3474720"/>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Migrate consumers to enterprise CDC event schema</a:t>
            </a:r>
            <a:endParaRPr lang="en-US" sz="1050" dirty="0"/>
          </a:p>
        </p:txBody>
      </p:sp>
      <p:sp>
        <p:nvSpPr>
          <p:cNvPr id="43" name="Shape 41"/>
          <p:cNvSpPr/>
          <p:nvPr/>
        </p:nvSpPr>
        <p:spPr>
          <a:xfrm>
            <a:off x="5084064" y="3858768"/>
            <a:ext cx="54864" cy="237744"/>
          </a:xfrm>
          <a:prstGeom prst="rect">
            <a:avLst/>
          </a:prstGeom>
          <a:solidFill>
            <a:srgbClr val="085CE5"/>
          </a:solidFill>
          <a:ln w="12700">
            <a:solidFill>
              <a:srgbClr val="085CE5"/>
            </a:solidFill>
            <a:prstDash val="solid"/>
          </a:ln>
        </p:spPr>
      </p:sp>
      <p:sp>
        <p:nvSpPr>
          <p:cNvPr id="44" name="Text 42"/>
          <p:cNvSpPr/>
          <p:nvPr/>
        </p:nvSpPr>
        <p:spPr>
          <a:xfrm>
            <a:off x="5230368" y="3813048"/>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Decommission Debezium connectors per source</a:t>
            </a:r>
            <a:endParaRPr lang="en-US" sz="1050" dirty="0"/>
          </a:p>
        </p:txBody>
      </p:sp>
      <p:sp>
        <p:nvSpPr>
          <p:cNvPr id="45" name="Shape 43"/>
          <p:cNvSpPr/>
          <p:nvPr/>
        </p:nvSpPr>
        <p:spPr>
          <a:xfrm>
            <a:off x="5084064" y="4197096"/>
            <a:ext cx="54864" cy="237744"/>
          </a:xfrm>
          <a:prstGeom prst="rect">
            <a:avLst/>
          </a:prstGeom>
          <a:solidFill>
            <a:srgbClr val="085CE5"/>
          </a:solidFill>
          <a:ln w="12700">
            <a:solidFill>
              <a:srgbClr val="085CE5"/>
            </a:solidFill>
            <a:prstDash val="solid"/>
          </a:ln>
        </p:spPr>
      </p:sp>
      <p:sp>
        <p:nvSpPr>
          <p:cNvPr id="46" name="Text 44"/>
          <p:cNvSpPr/>
          <p:nvPr/>
        </p:nvSpPr>
        <p:spPr>
          <a:xfrm>
            <a:off x="5230368" y="4151376"/>
            <a:ext cx="3566160" cy="329184"/>
          </a:xfrm>
          <a:prstGeom prst="rect">
            <a:avLst/>
          </a:prstGeom>
          <a:noFill/>
          <a:ln/>
        </p:spPr>
        <p:txBody>
          <a:bodyPr wrap="square" lIns="0" tIns="0" rIns="0" bIns="0" rtlCol="0" anchor="ctr"/>
          <a:lstStyle/>
          <a:p>
            <a:pPr indent="0" marL="0">
              <a:buNone/>
            </a:pPr>
            <a:r>
              <a:rPr lang="en-US" sz="1050" dirty="0">
                <a:solidFill>
                  <a:srgbClr val="06185F"/>
                </a:solidFill>
                <a:latin typeface="Aptos" pitchFamily="34" charset="0"/>
                <a:ea typeface="Aptos" pitchFamily="34" charset="-122"/>
                <a:cs typeface="Aptos" pitchFamily="34" charset="-120"/>
              </a:rPr>
              <a:t>Establish enterprise support contract and SLA</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6185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85CE5"/>
          </a:solidFill>
          <a:ln w="12700">
            <a:solidFill>
              <a:srgbClr val="085CE5"/>
            </a:solidFill>
            <a:prstDash val="solid"/>
          </a:ln>
        </p:spPr>
      </p:sp>
      <p:sp>
        <p:nvSpPr>
          <p:cNvPr id="3" name="Shape 1"/>
          <p:cNvSpPr/>
          <p:nvPr/>
        </p:nvSpPr>
        <p:spPr>
          <a:xfrm>
            <a:off x="0" y="4549140"/>
            <a:ext cx="9144000" cy="594360"/>
          </a:xfrm>
          <a:prstGeom prst="rect">
            <a:avLst/>
          </a:prstGeom>
          <a:solidFill>
            <a:srgbClr val="06185F"/>
          </a:solidFill>
          <a:ln w="12700">
            <a:solidFill>
              <a:srgbClr val="06185F"/>
            </a:solidFill>
            <a:prstDash val="solid"/>
          </a:ln>
        </p:spPr>
      </p:sp>
      <p:sp>
        <p:nvSpPr>
          <p:cNvPr id="4" name="Text 2"/>
          <p:cNvSpPr/>
          <p:nvPr/>
        </p:nvSpPr>
        <p:spPr>
          <a:xfrm>
            <a:off x="274320" y="164592"/>
            <a:ext cx="8595360" cy="548640"/>
          </a:xfrm>
          <a:prstGeom prst="rect">
            <a:avLst/>
          </a:prstGeom>
          <a:noFill/>
          <a:ln/>
        </p:spPr>
        <p:txBody>
          <a:bodyPr wrap="square" lIns="0" tIns="0" rIns="0" bIns="0" rtlCol="0" anchor="ct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Summary &amp; Recommendation</a:t>
            </a:r>
            <a:endParaRPr lang="en-US" sz="2800" dirty="0"/>
          </a:p>
        </p:txBody>
      </p:sp>
      <p:sp>
        <p:nvSpPr>
          <p:cNvPr id="5" name="Shape 3"/>
          <p:cNvSpPr/>
          <p:nvPr/>
        </p:nvSpPr>
        <p:spPr>
          <a:xfrm>
            <a:off x="256032" y="905256"/>
            <a:ext cx="402336" cy="402336"/>
          </a:xfrm>
          <a:prstGeom prst="ellipse">
            <a:avLst/>
          </a:prstGeom>
          <a:solidFill>
            <a:srgbClr val="085CE5"/>
          </a:solidFill>
          <a:ln w="12700">
            <a:solidFill>
              <a:srgbClr val="085CE5"/>
            </a:solidFill>
            <a:prstDash val="solid"/>
          </a:ln>
        </p:spPr>
      </p:sp>
      <p:sp>
        <p:nvSpPr>
          <p:cNvPr id="6" name="Text 4"/>
          <p:cNvSpPr/>
          <p:nvPr/>
        </p:nvSpPr>
        <p:spPr>
          <a:xfrm>
            <a:off x="256032" y="9052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a:t>
            </a:r>
            <a:endParaRPr lang="en-US" sz="1400" dirty="0"/>
          </a:p>
        </p:txBody>
      </p:sp>
      <p:sp>
        <p:nvSpPr>
          <p:cNvPr id="7" name="Text 5"/>
          <p:cNvSpPr/>
          <p:nvPr/>
        </p:nvSpPr>
        <p:spPr>
          <a:xfrm>
            <a:off x="804672" y="868680"/>
            <a:ext cx="8083296" cy="274320"/>
          </a:xfrm>
          <a:prstGeom prst="rect">
            <a:avLst/>
          </a:prstGeom>
          <a:noFill/>
          <a:ln/>
        </p:spPr>
        <p:txBody>
          <a:bodyPr wrap="square" lIns="0" tIns="0" rIns="0" bIns="0" rtlCol="0" anchor="ct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Log-based CDC is operationally negligible on source systems.</a:t>
            </a:r>
            <a:endParaRPr lang="en-US" sz="1250" dirty="0"/>
          </a:p>
        </p:txBody>
      </p:sp>
      <p:sp>
        <p:nvSpPr>
          <p:cNvPr id="8" name="Text 6"/>
          <p:cNvSpPr/>
          <p:nvPr/>
        </p:nvSpPr>
        <p:spPr>
          <a:xfrm>
            <a:off x="804672" y="1143000"/>
            <a:ext cx="8083296" cy="347472"/>
          </a:xfrm>
          <a:prstGeom prst="rect">
            <a:avLst/>
          </a:prstGeom>
          <a:noFill/>
          <a:ln/>
        </p:spPr>
        <p:txBody>
          <a:bodyPr wrap="square" lIns="0" tIns="0" rIns="0" bIns="0" rtlCol="0" anchor="ctr"/>
          <a:lstStyle/>
          <a:p>
            <a:pPr indent="0" marL="0">
              <a:buNone/>
            </a:pPr>
            <a:r>
              <a:rPr lang="en-US" sz="1050" dirty="0">
                <a:solidFill>
                  <a:srgbClr val="B6BBC0"/>
                </a:solidFill>
                <a:latin typeface="Aptos" pitchFamily="34" charset="0"/>
                <a:ea typeface="Aptos" pitchFamily="34" charset="-122"/>
                <a:cs typeface="Aptos" pitchFamily="34" charset="-120"/>
              </a:rPr>
              <a:t>It reads the transaction log SQL Server writes regardless. Zero additional write load. No application changes. No source schema changes.</a:t>
            </a:r>
            <a:endParaRPr lang="en-US" sz="1050" dirty="0"/>
          </a:p>
        </p:txBody>
      </p:sp>
      <p:sp>
        <p:nvSpPr>
          <p:cNvPr id="9" name="Shape 7"/>
          <p:cNvSpPr/>
          <p:nvPr/>
        </p:nvSpPr>
        <p:spPr>
          <a:xfrm>
            <a:off x="256032" y="1618488"/>
            <a:ext cx="402336" cy="402336"/>
          </a:xfrm>
          <a:prstGeom prst="ellipse">
            <a:avLst/>
          </a:prstGeom>
          <a:solidFill>
            <a:srgbClr val="E65100"/>
          </a:solidFill>
          <a:ln w="12700">
            <a:solidFill>
              <a:srgbClr val="E65100"/>
            </a:solidFill>
            <a:prstDash val="solid"/>
          </a:ln>
        </p:spPr>
      </p:sp>
      <p:sp>
        <p:nvSpPr>
          <p:cNvPr id="10" name="Text 8"/>
          <p:cNvSpPr/>
          <p:nvPr/>
        </p:nvSpPr>
        <p:spPr>
          <a:xfrm>
            <a:off x="256032" y="16184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2</a:t>
            </a:r>
            <a:endParaRPr lang="en-US" sz="1400" dirty="0"/>
          </a:p>
        </p:txBody>
      </p:sp>
      <p:sp>
        <p:nvSpPr>
          <p:cNvPr id="11" name="Text 9"/>
          <p:cNvSpPr/>
          <p:nvPr/>
        </p:nvSpPr>
        <p:spPr>
          <a:xfrm>
            <a:off x="804672" y="1581912"/>
            <a:ext cx="8083296" cy="274320"/>
          </a:xfrm>
          <a:prstGeom prst="rect">
            <a:avLst/>
          </a:prstGeom>
          <a:noFill/>
          <a:ln/>
        </p:spPr>
        <p:txBody>
          <a:bodyPr wrap="square" lIns="0" tIns="0" rIns="0" bIns="0" rtlCol="0" anchor="ct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Native SQL Server CDC is functional but operationally fragile at scale.</a:t>
            </a:r>
            <a:endParaRPr lang="en-US" sz="1250" dirty="0"/>
          </a:p>
        </p:txBody>
      </p:sp>
      <p:sp>
        <p:nvSpPr>
          <p:cNvPr id="12" name="Text 10"/>
          <p:cNvSpPr/>
          <p:nvPr/>
        </p:nvSpPr>
        <p:spPr>
          <a:xfrm>
            <a:off x="804672" y="1856232"/>
            <a:ext cx="8083296" cy="347472"/>
          </a:xfrm>
          <a:prstGeom prst="rect">
            <a:avLst/>
          </a:prstGeom>
          <a:noFill/>
          <a:ln/>
        </p:spPr>
        <p:txBody>
          <a:bodyPr wrap="square" lIns="0" tIns="0" rIns="0" bIns="0" rtlCol="0" anchor="ctr"/>
          <a:lstStyle/>
          <a:p>
            <a:pPr indent="0" marL="0">
              <a:buNone/>
            </a:pPr>
            <a:r>
              <a:rPr lang="en-US" sz="1050" dirty="0">
                <a:solidFill>
                  <a:srgbClr val="B6BBC0"/>
                </a:solidFill>
                <a:latin typeface="Aptos" pitchFamily="34" charset="0"/>
                <a:ea typeface="Aptos" pitchFamily="34" charset="-122"/>
                <a:cs typeface="Aptos" pitchFamily="34" charset="-120"/>
              </a:rPr>
              <a:t>SQL Agent dependency, schema change handling, and AG failover complexity create recurring operational burden that grows with the estate.</a:t>
            </a:r>
            <a:endParaRPr lang="en-US" sz="1050" dirty="0"/>
          </a:p>
        </p:txBody>
      </p:sp>
      <p:sp>
        <p:nvSpPr>
          <p:cNvPr id="13" name="Shape 11"/>
          <p:cNvSpPr/>
          <p:nvPr/>
        </p:nvSpPr>
        <p:spPr>
          <a:xfrm>
            <a:off x="256032" y="2331720"/>
            <a:ext cx="402336" cy="402336"/>
          </a:xfrm>
          <a:prstGeom prst="ellipse">
            <a:avLst/>
          </a:prstGeom>
          <a:solidFill>
            <a:srgbClr val="6A1B9A"/>
          </a:solidFill>
          <a:ln w="12700">
            <a:solidFill>
              <a:srgbClr val="6A1B9A"/>
            </a:solidFill>
            <a:prstDash val="solid"/>
          </a:ln>
        </p:spPr>
      </p:sp>
      <p:sp>
        <p:nvSpPr>
          <p:cNvPr id="14" name="Text 12"/>
          <p:cNvSpPr/>
          <p:nvPr/>
        </p:nvSpPr>
        <p:spPr>
          <a:xfrm>
            <a:off x="256032" y="2331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3</a:t>
            </a:r>
            <a:endParaRPr lang="en-US" sz="1400" dirty="0"/>
          </a:p>
        </p:txBody>
      </p:sp>
      <p:sp>
        <p:nvSpPr>
          <p:cNvPr id="15" name="Text 13"/>
          <p:cNvSpPr/>
          <p:nvPr/>
        </p:nvSpPr>
        <p:spPr>
          <a:xfrm>
            <a:off x="804672" y="2295144"/>
            <a:ext cx="8083296" cy="274320"/>
          </a:xfrm>
          <a:prstGeom prst="rect">
            <a:avLst/>
          </a:prstGeom>
          <a:noFill/>
          <a:ln/>
        </p:spPr>
        <p:txBody>
          <a:bodyPr wrap="square" lIns="0" tIns="0" rIns="0" bIns="0" rtlCol="0" anchor="ct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Phase 1 with Debezium is the right near-term choice.</a:t>
            </a:r>
            <a:endParaRPr lang="en-US" sz="1250" dirty="0"/>
          </a:p>
        </p:txBody>
      </p:sp>
      <p:sp>
        <p:nvSpPr>
          <p:cNvPr id="16" name="Text 14"/>
          <p:cNvSpPr/>
          <p:nvPr/>
        </p:nvSpPr>
        <p:spPr>
          <a:xfrm>
            <a:off x="804672" y="2569464"/>
            <a:ext cx="8083296" cy="347472"/>
          </a:xfrm>
          <a:prstGeom prst="rect">
            <a:avLst/>
          </a:prstGeom>
          <a:noFill/>
          <a:ln/>
        </p:spPr>
        <p:txBody>
          <a:bodyPr wrap="square" lIns="0" tIns="0" rIns="0" bIns="0" rtlCol="0" anchor="ctr"/>
          <a:lstStyle/>
          <a:p>
            <a:pPr indent="0" marL="0">
              <a:buNone/>
            </a:pPr>
            <a:r>
              <a:rPr lang="en-US" sz="1050" dirty="0">
                <a:solidFill>
                  <a:srgbClr val="B6BBC0"/>
                </a:solidFill>
                <a:latin typeface="Aptos" pitchFamily="34" charset="0"/>
                <a:ea typeface="Aptos" pitchFamily="34" charset="-122"/>
                <a:cs typeface="Aptos" pitchFamily="34" charset="-120"/>
              </a:rPr>
              <a:t>Open source, Kafka-native, and delivers a real change stream. Plan explicitly for schema changes, LSN offset management, and CDC cleanup retention.</a:t>
            </a:r>
            <a:endParaRPr lang="en-US" sz="1050" dirty="0"/>
          </a:p>
        </p:txBody>
      </p:sp>
      <p:sp>
        <p:nvSpPr>
          <p:cNvPr id="17" name="Shape 15"/>
          <p:cNvSpPr/>
          <p:nvPr/>
        </p:nvSpPr>
        <p:spPr>
          <a:xfrm>
            <a:off x="256032" y="3044952"/>
            <a:ext cx="402336" cy="402336"/>
          </a:xfrm>
          <a:prstGeom prst="ellipse">
            <a:avLst/>
          </a:prstGeom>
          <a:solidFill>
            <a:srgbClr val="2E7D32"/>
          </a:solidFill>
          <a:ln w="12700">
            <a:solidFill>
              <a:srgbClr val="2E7D32"/>
            </a:solidFill>
            <a:prstDash val="solid"/>
          </a:ln>
        </p:spPr>
      </p:sp>
      <p:sp>
        <p:nvSpPr>
          <p:cNvPr id="18" name="Text 16"/>
          <p:cNvSpPr/>
          <p:nvPr/>
        </p:nvSpPr>
        <p:spPr>
          <a:xfrm>
            <a:off x="256032" y="30449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4</a:t>
            </a:r>
            <a:endParaRPr lang="en-US" sz="1400" dirty="0"/>
          </a:p>
        </p:txBody>
      </p:sp>
      <p:sp>
        <p:nvSpPr>
          <p:cNvPr id="19" name="Text 17"/>
          <p:cNvSpPr/>
          <p:nvPr/>
        </p:nvSpPr>
        <p:spPr>
          <a:xfrm>
            <a:off x="804672" y="3008376"/>
            <a:ext cx="8083296" cy="274320"/>
          </a:xfrm>
          <a:prstGeom prst="rect">
            <a:avLst/>
          </a:prstGeom>
          <a:noFill/>
          <a:ln/>
        </p:spPr>
        <p:txBody>
          <a:bodyPr wrap="square" lIns="0" tIns="0" rIns="0" bIns="0" rtlCol="0" anchor="ct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Phase 2 with IBM IIDR or Striim resolves the friction.</a:t>
            </a:r>
            <a:endParaRPr lang="en-US" sz="1250" dirty="0"/>
          </a:p>
        </p:txBody>
      </p:sp>
      <p:sp>
        <p:nvSpPr>
          <p:cNvPr id="20" name="Text 18"/>
          <p:cNvSpPr/>
          <p:nvPr/>
        </p:nvSpPr>
        <p:spPr>
          <a:xfrm>
            <a:off x="804672" y="3282696"/>
            <a:ext cx="8083296" cy="347472"/>
          </a:xfrm>
          <a:prstGeom prst="rect">
            <a:avLst/>
          </a:prstGeom>
          <a:noFill/>
          <a:ln/>
        </p:spPr>
        <p:txBody>
          <a:bodyPr wrap="square" lIns="0" tIns="0" rIns="0" bIns="0" rtlCol="0" anchor="ctr"/>
          <a:lstStyle/>
          <a:p>
            <a:pPr indent="0" marL="0">
              <a:buNone/>
            </a:pPr>
            <a:r>
              <a:rPr lang="en-US" sz="1050" dirty="0">
                <a:solidFill>
                  <a:srgbClr val="B6BBC0"/>
                </a:solidFill>
                <a:latin typeface="Aptos" pitchFamily="34" charset="0"/>
                <a:ea typeface="Aptos" pitchFamily="34" charset="-122"/>
                <a:cs typeface="Aptos" pitchFamily="34" charset="-120"/>
              </a:rPr>
              <a:t>Direct log reading, automated schema evolution, AG awareness, and enterprise support. IIDR for IBM/mainframe environments; Striim for cloud DW and streaming scenarios.</a:t>
            </a:r>
            <a:endParaRPr lang="en-US" sz="1050" dirty="0"/>
          </a:p>
        </p:txBody>
      </p:sp>
      <p:sp>
        <p:nvSpPr>
          <p:cNvPr id="21" name="Text 19"/>
          <p:cNvSpPr/>
          <p:nvPr/>
        </p:nvSpPr>
        <p:spPr>
          <a:xfrm>
            <a:off x="274320" y="4640580"/>
            <a:ext cx="8595360" cy="347472"/>
          </a:xfrm>
          <a:prstGeom prst="rect">
            <a:avLst/>
          </a:prstGeom>
          <a:noFill/>
          <a:ln/>
        </p:spPr>
        <p:txBody>
          <a:bodyPr wrap="square" lIns="0" tIns="0" rIns="0" bIns="0" rtlCol="0" anchor="ct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Questions &amp; Discussion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2026-03-18T16:53:17Z</dcterms:created>
  <dcterms:modified xsi:type="dcterms:W3CDTF">2026-03-18T16:53:17Z</dcterms:modified>
</cp:coreProperties>
</file>