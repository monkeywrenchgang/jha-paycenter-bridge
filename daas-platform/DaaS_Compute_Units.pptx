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DCUs Used</c:v>
                </c:pt>
              </c:strCache>
            </c:strRef>
          </c:tx>
          <c:spPr>
            <a:solidFill>
              <a:srgbClr val="0A6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BigQuery Queries</c:v>
                  </c:pt>
                  <c:pt idx="1">
                    <c:v>BigQuery Storage</c:v>
                  </c:pt>
                  <c:pt idx="2">
                    <c:v>Cloud Storage</c:v>
                  </c:pt>
                  <c:pt idx="3">
                    <c:v>Data Ingestion API</c:v>
                  </c:pt>
                  <c:pt idx="4">
                    <c:v>Analytics API</c:v>
                  </c:pt>
                  <c:pt idx="5">
                    <c:v>Portal Exports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400</c:v>
                </c:pt>
                <c:pt idx="2">
                  <c:v>300</c:v>
                </c:pt>
                <c:pt idx="3">
                  <c:v>900</c:v>
                </c:pt>
                <c:pt idx="4">
                  <c:v>450</c:v>
                </c:pt>
                <c:pt idx="5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C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C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This Month's DCU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DCU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6B9A"/>
              </a:solidFill>
              <a:effectLst/>
            </c:spPr>
          </c:dPt>
          <c:dPt>
            <c:idx val="1"/>
            <c:bubble3D val="0"/>
            <c:spPr>
              <a:solidFill>
                <a:srgbClr val="6A4C93"/>
              </a:solidFill>
              <a:effectLst/>
            </c:spPr>
          </c:dPt>
          <c:dPt>
            <c:idx val="2"/>
            <c:bubble3D val="0"/>
            <c:spPr>
              <a:solidFill>
                <a:srgbClr val="00796B"/>
              </a:solidFill>
              <a:effectLst/>
            </c:spPr>
          </c:dPt>
          <c:dPt>
            <c:idx val="3"/>
            <c:bubble3D val="0"/>
            <c:spPr>
              <a:solidFill>
                <a:srgbClr val="D6E4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BigQuery</c:v>
                </c:pt>
                <c:pt idx="1">
                  <c:v>APIs</c:v>
                </c:pt>
                <c:pt idx="2">
                  <c:v>Storage</c:v>
                </c:pt>
                <c:pt idx="3">
                  <c:v>Remaining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36</c:v>
                </c:pt>
                <c:pt idx="1">
                  <c:v>27</c:v>
                </c:pt>
                <c:pt idx="2">
                  <c:v>12</c:v>
                </c:pt>
                <c:pt idx="3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C7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EEF4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E1C2F"/>
          </a:solidFill>
          <a:ln w="12700">
            <a:solidFill>
              <a:srgbClr val="0E1C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6B9A">
              <a:alpha val="25000"/>
            </a:srgbClr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78040" y="13716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</a:rPr>
              <a:t>GCP PARTNER  ·  FINANCIAL INSTITUTIONS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 Compute Units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148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Credit-Based Model for Your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GCP Data Platform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02920" y="3108960"/>
            <a:ext cx="5029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273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8B3"/>
                </a:solidFill>
              </a:rPr>
              <a:t>Transparent metering · Isolated GCP projects · BigQuery, Storage &amp; APIs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298B3"/>
                </a:solidFill>
              </a:rPr>
              <a:t>CONFIDENTIAL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with Raw GCP Billing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Financial institutions need simplicity, predictability, and clear value — not a cloud invoice.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70432"/>
            <a:ext cx="2697480" cy="73152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316736"/>
            <a:ext cx="658368" cy="658368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0817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" y="206654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Opaque SKU-level pricing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" y="260604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GCP invoices list dozens of line items — compute, storage, egress, queries — each with different units, making it impossible for FI teams to forecast or understand usage.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117043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170432"/>
            <a:ext cx="2697480" cy="73152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1316736"/>
            <a:ext cx="658368" cy="658368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0817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92424" y="206654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Unpredictable monthly spend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92424" y="260604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Ad-hoc queries, bulk uploads, and API bursts cause erratic monthly bills. FI finance teams require stable, budgetable costs with clear allocation rules.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08192" y="117043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08192" y="1170432"/>
            <a:ext cx="2697480" cy="73152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32320" y="1316736"/>
            <a:ext cx="658368" cy="658368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0817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72784" y="206654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No service abstraction layer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72784" y="2606040"/>
            <a:ext cx="2359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GCP pricing doesn't map neatly to DaaS service value. BigQuery TB pricing has no relationship to the analytics insight it delivers to an FI's risk or compliance team.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DaaS Compute Units (DCUs)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A single, branded unit that abstracts all underlying GCP compute and service costs.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3657600" cy="3474720"/>
          </a:xfrm>
          <a:prstGeom prst="rect">
            <a:avLst/>
          </a:prstGeom>
          <a:solidFill>
            <a:srgbClr val="1B2A4A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00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89888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DCU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114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FFFFFF"/>
                </a:solidFill>
              </a:rPr>
              <a:t>DaaS Compute Unit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3364992"/>
            <a:ext cx="210312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= $0.10 of GCP compute value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298B3"/>
                </a:solidFill>
              </a:rPr>
              <a:t>Your branding. Your units.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298B3"/>
                </a:solidFill>
              </a:rPr>
              <a:t>No GCP pricing exposed to FI customers.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1728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Fully abstracted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81728" y="14904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FI teams never see GCP SKUs, TB pricing, or egress charges.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7568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81728" y="2029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Predictable monthly allocation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81728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Each FI receives a fixed DCU budget — easy to plan, easy to communicate.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9169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81728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Multi-service coverage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681728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One unit type covers BigQuery, Cloud Storage, your APIs, and the portal.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75818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81728" y="3712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Scalable &amp; tier-friendly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681728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0"/>
                </a:solidFill>
              </a:rPr>
              <a:t>Packages can be sized — starter, professional, enterprise — with top-up options.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DCU Allocation — 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Each FI customer receives a fixed monthly DCU budget loaded into their dedicated GCP project.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700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670048" cy="8229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Starter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DB8"/>
                </a:solidFill>
              </a:rPr>
              <a:t>2,500 DCUs / 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298B3"/>
                </a:solidFill>
              </a:rPr>
              <a:t>$250 /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6700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70432"/>
            <a:ext cx="2670048" cy="82296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Professional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6B9A"/>
                </a:solidFill>
              </a:rPr>
              <a:t>5,000 DCUs / 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298B3"/>
                </a:solidFill>
              </a:rPr>
              <a:t>$500 / 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700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70432"/>
            <a:ext cx="2670048" cy="822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600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15,000 DCUs / 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7220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298B3"/>
                </a:solidFill>
              </a:rPr>
              <a:t>$1,500 / 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2679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A896"/>
                </a:solidFill>
              </a:rPr>
              <a:t>HOW YOUR MONTHLY CREDIT FLOWS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80944"/>
            <a:ext cx="190195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" y="3054096"/>
            <a:ext cx="640080" cy="640080"/>
          </a:xfrm>
          <a:prstGeom prst="oval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145536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11480" y="37764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FI 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Subscription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" y="41879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$500 / month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240280" y="3621024"/>
            <a:ext cx="228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13432" y="34564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2496312" y="2980944"/>
            <a:ext cx="190195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127248" y="3054096"/>
            <a:ext cx="640080" cy="640080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145536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587752" y="37764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DCU Allocation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Loaded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2587752" y="41879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5,000 DCUs credited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to GCP project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416552" y="3621024"/>
            <a:ext cx="228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89704" y="34564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›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4672584" y="2980944"/>
            <a:ext cx="190195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303520" y="3054096"/>
            <a:ext cx="640080" cy="640080"/>
          </a:xfrm>
          <a:prstGeom prst="oval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45536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764024" y="37764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Consumed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4764024" y="41879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BigQuery ·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APIs · Portal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592824" y="3621024"/>
            <a:ext cx="228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665976" y="34564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›</a:t>
            </a:r>
            <a:endParaRPr lang="en-US" sz="2200" dirty="0"/>
          </a:p>
        </p:txBody>
      </p:sp>
      <p:sp>
        <p:nvSpPr>
          <p:cNvPr id="43" name="Shape 38"/>
          <p:cNvSpPr/>
          <p:nvPr/>
        </p:nvSpPr>
        <p:spPr>
          <a:xfrm>
            <a:off x="6848856" y="2980944"/>
            <a:ext cx="190195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479792" y="3054096"/>
            <a:ext cx="640080" cy="640080"/>
          </a:xfrm>
          <a:prstGeom prst="oval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3145536"/>
            <a:ext cx="457200" cy="45720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940296" y="377647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940296" y="418795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Dashboard shows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DCU balance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 Consumption Rates by 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Every action across your DaaS platform has a consistent, published DCU rate.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73152" cy="1664208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737360"/>
            <a:ext cx="512064" cy="512064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4712" y="134416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BigQuery Analytics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4712" y="167335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B9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50 DCUs per TB of data processed (on-demand queries)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24712" y="202082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B9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2 DCUs per GB stored / month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24712" y="23682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B9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0 DCUs for scheduled / flat-rate slots (included in tier)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27448" y="1234440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27448" y="1234440"/>
            <a:ext cx="73152" cy="16642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737360"/>
            <a:ext cx="512064" cy="512064"/>
          </a:xfrm>
          <a:prstGeom prst="oval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8196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34416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Cloud Storage (GCS)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532120" y="167335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96B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0.2 DCUs per GB stored / month (standard class)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532120" y="202082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96B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2 DCUs per GB egress transferred out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532120" y="23682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96B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Nearline / Coldline storage at 50% DCU rate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0040" y="3035808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3035808"/>
            <a:ext cx="73152" cy="166420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4632" y="3538728"/>
            <a:ext cx="512064" cy="512064"/>
          </a:xfrm>
          <a:prstGeom prst="oval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2102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24712" y="314553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Proprietary APIs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24712" y="3474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4C9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5 DCUs per 1,000 data ingestion API calls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24712" y="382219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4C9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3 DCUs per 1,000 analytics query API calls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24712" y="416966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4C93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2 DCUs per 1,000 compliance / reporting API calls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727448" y="3035808"/>
            <a:ext cx="416052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27448" y="3035808"/>
            <a:ext cx="73152" cy="16642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892040" y="3538728"/>
            <a:ext cx="512064" cy="512064"/>
          </a:xfrm>
          <a:prstGeom prst="oval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621024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32120" y="314553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DaaS Portal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532120" y="3474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Included — no DCUs charged for portal access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532120" y="382219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Report generation: 1 DCU per exported report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532120" y="416966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Scheduled data exports: 3 DCUs per scheduled job/month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★  All DCU rates are fixed for 12-month contract terms. Overage rates and top-up packs available on request.  ·  DaaS Compute Units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FI Monthly Usage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Professional tier — 5,000 DCUs / month. A mid-sized bank running analytics &amp; compliance workloads.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70432"/>
          <a:ext cx="50292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170432"/>
            <a:ext cx="32461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170432"/>
            <a:ext cx="3246120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316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Monthly Summary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0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Total Allocated: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6092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5,000 DCUs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1500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BigQuery Queries: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6092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6B9A"/>
                </a:solidFill>
              </a:rPr>
              <a:t>1,800 DCUs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0" y="2414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BigQuery Storage: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6092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6B9A"/>
                </a:solidFill>
              </a:rPr>
              <a:t>400 DCUs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Cloud Storage: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6092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796B"/>
                </a:solidFill>
              </a:rPr>
              <a:t>300 DCUs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0" y="3072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APIs (total):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60920" y="3072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A4C93"/>
                </a:solidFill>
              </a:rPr>
              <a:t>1,350 DCUs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Portal Exports: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6092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150 DCUs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15000" y="3694176"/>
            <a:ext cx="2926080" cy="182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Total Used: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36092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6B9A"/>
                </a:solidFill>
              </a:rPr>
              <a:t>4,000 DCUs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15000" y="4315968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0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1,000 DCUs remaining  (20% headroom)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Gets Its Own GCP Project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Complete data isolation, dedicated billing, and per-project DCU metering.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2670048" cy="342900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70432"/>
            <a:ext cx="267004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1316736"/>
            <a:ext cx="640080" cy="640080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99032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20574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 Alpha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" y="2404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98B3"/>
                </a:solidFill>
              </a:rPr>
              <a:t>gcp-daas-alpha-001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96112" y="2743200"/>
            <a:ext cx="1572768" cy="18288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" y="28346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Allocation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4632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5,000 DCUs / mo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" y="3401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Used this month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4632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3,200 DCUs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" y="4041648"/>
            <a:ext cx="2395728" cy="182880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" y="4041648"/>
            <a:ext cx="1533266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64% used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27832" y="1170432"/>
            <a:ext cx="2670048" cy="342900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27832" y="1170432"/>
            <a:ext cx="267004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42816" y="1316736"/>
            <a:ext cx="640080" cy="640080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99032"/>
            <a:ext cx="475488" cy="4754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19272" y="20574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Credit Union Beta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319272" y="2404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98B3"/>
                </a:solidFill>
              </a:rPr>
              <a:t>gcp-daas-beta-002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776472" y="2743200"/>
            <a:ext cx="1572768" cy="18288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64992" y="28346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Allocation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364992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2,500 DCUs / mo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364992" y="3401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Used this month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364992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1,100 DCUs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364992" y="4041648"/>
            <a:ext cx="2395728" cy="182880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364992" y="4041648"/>
            <a:ext cx="105412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64992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44% used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08192" y="1170432"/>
            <a:ext cx="2670048" cy="342900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08192" y="1170432"/>
            <a:ext cx="267004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23176" y="1316736"/>
            <a:ext cx="640080" cy="640080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399032"/>
            <a:ext cx="475488" cy="4754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199632" y="20574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FinTech Gamma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6199632" y="2404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298B3"/>
                </a:solidFill>
              </a:rPr>
              <a:t>gcp-daas-gamma-003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656832" y="2743200"/>
            <a:ext cx="1572768" cy="18288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245352" y="28346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Allocation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245352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15,000 DCUs / mo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245352" y="3401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Used this month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6245352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9,800 DCUs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245352" y="4041648"/>
            <a:ext cx="2395728" cy="182880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245352" y="4041648"/>
            <a:ext cx="1557223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245352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98B3"/>
                </a:solidFill>
              </a:rPr>
              <a:t>65% used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0" y="4645152"/>
            <a:ext cx="9144000" cy="251460"/>
          </a:xfrm>
          <a:prstGeom prst="rect">
            <a:avLst/>
          </a:prstGeom>
          <a:solidFill>
            <a:srgbClr val="0E1C2F"/>
          </a:solidFill>
          <a:ln w="12700">
            <a:solidFill>
              <a:srgbClr val="0E1C2F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65760" y="4645152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Data isolation per tenant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2560320" y="4645152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Dedicated IAM &amp; security policies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4754880" y="4645152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Per-project cost attribution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949440" y="4645152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GCP Audit Logging per FI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 Tier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Right-sized monthly allocations for every Financial Institution — from community banks to Tier 1 lenders.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7004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670048" cy="7315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075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DCUs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" y="208483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298B3"/>
                </a:solidFill>
              </a:rPr>
              <a:t>per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3408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$250 / 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651760"/>
            <a:ext cx="1572768" cy="182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0662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298B3"/>
                </a:solidFill>
              </a:rPr>
              <a:t>Community banks &amp; credit unions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0723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BigQuery: ~50GB stored, ~50 TB queries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337413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Cloud Storage: ~1 TB stored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36758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API calls: up to 500K / month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39776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Portal: unlimited access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Email support, monthly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60704"/>
            <a:ext cx="2670048" cy="3630168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03320" y="11887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188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★  MOST POPULAR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170432"/>
            <a:ext cx="2670048" cy="73152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3075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Professional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10128" y="1673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DCUs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10128" y="208483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per month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23408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$500 / month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49040" y="2651760"/>
            <a:ext cx="1572768" cy="18288"/>
          </a:xfrm>
          <a:prstGeom prst="rect">
            <a:avLst/>
          </a:prstGeom>
          <a:solidFill>
            <a:srgbClr val="3A8FC0"/>
          </a:solidFill>
          <a:ln w="12700">
            <a:solidFill>
              <a:srgbClr val="3A8F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70662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Regional banks &amp; mid-market FIs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30723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</a:rPr>
              <a:t>BigQuery: ~100GB stored, ~100 TB queries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64992" y="337413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</a:rPr>
              <a:t>Cloud Storage: ~2 TB stored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36758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</a:rPr>
              <a:t>API calls: up to 1M / month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64992" y="39776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</a:rPr>
              <a:t>Portal: unlimited + exports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4992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6EEF8"/>
                </a:solidFill>
              </a:rPr>
              <a:t>Priority support, weekly dashboard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1170432"/>
            <a:ext cx="267004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170432"/>
            <a:ext cx="2670048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130759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90488" y="1673352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DCUs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190488" y="208483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298B3"/>
                </a:solidFill>
              </a:rPr>
              <a:t>per month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0488" y="23408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$1,500 / month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29400" y="2651760"/>
            <a:ext cx="1572768" cy="1828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270662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298B3"/>
                </a:solidFill>
              </a:rPr>
              <a:t>Tier 1 banks &amp; national lenders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45352" y="307238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BigQuery: ~300GB stored, ~300 TB queries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45352" y="337413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Cloud Storage: ~6 TB stored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45352" y="36758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API calls: up to 3M / month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45352" y="397764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Portal: full feature access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45352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5C70"/>
                </a:solidFill>
              </a:rPr>
              <a:t>Dedicated CSM, real-time dashboard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7472" y="4718304"/>
            <a:ext cx="8449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298B3"/>
                </a:solidFill>
              </a:rPr>
              <a:t>➕  DCU top-up packs available: 500 DCUs for $55 · 1,000 DCUs for $100 · 5,000 DCUs for $450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84048" cy="384048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DCU Monitoring &amp; Transparency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7132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FI customers have full visibility into their DCU consumption — always in control of their budget.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16736"/>
            <a:ext cx="502920" cy="502920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0817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527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Real-time DCU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Live view of daily consumption, service breakdown, and remaining balance accessible from the DaaS portal.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" y="2231136"/>
            <a:ext cx="502920" cy="502920"/>
          </a:xfrm>
          <a:prstGeom prst="oval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2257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2167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Service-Level Breakdown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87552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Drill down into exactly which workloads — queries, API calls, or storage — are consuming DCUs.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7472" y="3145536"/>
            <a:ext cx="502920" cy="502920"/>
          </a:xfrm>
          <a:prstGeom prst="oval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3697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30815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Threshold Alerts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87552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Automatic email/webhook alerts at 75%, 90%, and 100% DCU consumption. No surprise overages.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47472" y="4059936"/>
            <a:ext cx="502920" cy="502920"/>
          </a:xfrm>
          <a:prstGeom prst="oval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5137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7552" y="3995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Monthly Statement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987552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C70"/>
                </a:solidFill>
              </a:rPr>
              <a:t>Clean PDF invoice showing DCU allocation, usage by service, overage (if any), and next month forecast.</a:t>
            </a:r>
            <a:endParaRPr lang="en-US" sz="10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212080" y="1170432"/>
          <a:ext cx="3657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8B3"/>
                </a:solidFill>
              </a:rPr>
              <a:t>DaaS Compute Units  ·  GCP DaaS Platform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DaaS Compute Units Work for FIs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8B3"/>
                </a:solidFill>
              </a:rPr>
              <a:t>Built for financial institutions who need predictability, control, and a clear return on their data platform investment.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61872"/>
            <a:ext cx="2670048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426464"/>
            <a:ext cx="438912" cy="438912"/>
          </a:xfrm>
          <a:prstGeom prst="oval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08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389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Certainty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" y="19385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Fixed DCU allocation means finance teams can forecast platform spend months in advance. No capacity planning surprises.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261872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61872"/>
            <a:ext cx="2670048" cy="64008"/>
          </a:xfrm>
          <a:prstGeom prst="rect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426464"/>
            <a:ext cx="438912" cy="438912"/>
          </a:xfrm>
          <a:prstGeom prst="oval">
            <a:avLst/>
          </a:prstGeom>
          <a:solidFill>
            <a:srgbClr val="0A6B9A"/>
          </a:solidFill>
          <a:ln w="12700">
            <a:solidFill>
              <a:srgbClr val="0A6B9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5087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389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Abstracted Complexity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19385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Your FI customers never need to understand GCP pricing. One unit, one bill — easy to approve and renew.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9632" y="1261872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99632" y="1261872"/>
            <a:ext cx="2670048" cy="6400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6792" y="1426464"/>
            <a:ext cx="438912" cy="438912"/>
          </a:xfrm>
          <a:prstGeom prst="oval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5087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85432" y="1389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Regulatory Compliance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36792" y="19385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Dedicated GCP projects support data residency, audit logging, and tenant isolation requirements for regulated FIs.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84048" y="2980944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4048" y="2980944"/>
            <a:ext cx="26700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21208" y="3145536"/>
            <a:ext cx="438912" cy="438912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2278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31089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Flexible Scaling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21208" y="3657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FIs can upgrade tiers, purchase top-up packs, or negotiate custom enterprise allocations as data volumes grow.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2980944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2980944"/>
            <a:ext cx="2670048" cy="640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29000" y="3145536"/>
            <a:ext cx="438912" cy="438912"/>
          </a:xfrm>
          <a:prstGeom prst="oval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22783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77640" y="31089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Demonstrable Value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29000" y="3657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DCU dashboards tie platform consumption to business outcomes — risk models run, reports generated, APIs called.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99632" y="2980944"/>
            <a:ext cx="2670048" cy="155448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99632" y="2980944"/>
            <a:ext cx="2670048" cy="64008"/>
          </a:xfrm>
          <a:prstGeom prst="rect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36792" y="3145536"/>
            <a:ext cx="438912" cy="438912"/>
          </a:xfrm>
          <a:prstGeom prst="oval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22783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85432" y="31089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Margin Control for You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36792" y="3657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The DCU model allows you to manage GCP partner discounts and set your markup independently of customer-facing pricing.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DaaS Compute Units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Your GCP DaaS Platform · Powered by Google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47088"/>
            <a:ext cx="4160520" cy="118872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47088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01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22860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Define Your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256032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Choose Starter, Professional, or Enterprise based on your FI's expected BigQuery, Storage, and API workload volumes.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847088"/>
            <a:ext cx="4160520" cy="118872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847088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901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28616" y="22860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 GCP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28616" y="256032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We provision a dedicated GCP project, configure IAM, enable billing alerts, and load your DCU allocation within 48 hours.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60520" cy="118872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36976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91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Activate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3950208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BigQuery datasets, Cloud Storage buckets, API keys, and portal access are provisioned and tested before your go-live date.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3236976"/>
            <a:ext cx="4160520" cy="1188720"/>
          </a:xfrm>
          <a:prstGeom prst="rect">
            <a:avLst/>
          </a:prstGeom>
          <a:solidFill>
            <a:srgbClr val="0E1C2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448" y="3236976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291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28616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 &amp; Optimise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28616" y="3950208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8B3"/>
                </a:solidFill>
              </a:rPr>
              <a:t>Your team accesses the real-time DCU dashboard. Monthly statements and forecasts help plan for the next allocation period.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Ready to pilot?  Contact your GCP DaaS account team to configure your first FI project.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DaaS Compute Units – GCP Credit Model</dc:title>
  <dc:subject>PptxGenJS Presentation</dc:subject>
  <dc:creator>PptxGenJS</dc:creator>
  <cp:lastModifiedBy>PptxGenJS</cp:lastModifiedBy>
  <cp:revision>1</cp:revision>
  <dcterms:created xsi:type="dcterms:W3CDTF">2026-03-18T17:04:05Z</dcterms:created>
  <dcterms:modified xsi:type="dcterms:W3CDTF">2026-03-18T17:04:05Z</dcterms:modified>
</cp:coreProperties>
</file>